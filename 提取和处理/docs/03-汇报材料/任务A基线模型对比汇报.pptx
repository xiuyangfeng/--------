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4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Arial" panose="020B0604020202090204"/>
              </a:rPr>
              <a:t>任务A基线模型性能对比汇报</a:t>
            </a:r>
            <a:endParaRPr sz="2400" b="1">
              <a:solidFill>
                <a:srgbClr val="1B365D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4142105" cy="252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55555"/>
                </a:solidFill>
                <a:latin typeface="Arial" panose="020B0604020202090204"/>
              </a:rPr>
              <a:t>数据口径：split_AG_v1，测试集1458 graphs，四组模型各3个seed</a:t>
            </a:r>
            <a:endParaRPr sz="1050">
              <a:solidFill>
                <a:srgbClr val="555555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400800" cy="6400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 panose="020B0604020202090204"/>
              </a:rPr>
              <a:t>显式几何特征对血流场重建性能的影响</a:t>
            </a:r>
            <a:endParaRPr sz="2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31180" y="2016760"/>
            <a:ext cx="6126480" cy="323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t>汇报目标：</a:t>
            </a:r>
          </a:p>
          <a:p>
            <a:pPr indent="457200"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rPr lang="en-US" sz="1600"/>
              <a:t>1.</a:t>
            </a:r>
            <a:r>
              <a:rPr sz="1600"/>
              <a:t>回答图结构是否必要</a:t>
            </a:r>
            <a:endParaRPr sz="1600"/>
          </a:p>
          <a:p>
            <a:pPr indent="457200"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rPr lang="en-US" sz="1600"/>
              <a:t>2.</a:t>
            </a:r>
            <a:r>
              <a:rPr sz="1600"/>
              <a:t>backbone是否足够</a:t>
            </a:r>
            <a:endParaRPr sz="1600"/>
          </a:p>
          <a:p>
            <a:pPr indent="457200"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rPr lang="en-US" sz="1600"/>
              <a:t>3.</a:t>
            </a:r>
            <a:r>
              <a:rPr sz="1600"/>
              <a:t>geometry是否有效</a:t>
            </a:r>
            <a:endParaRPr sz="1600"/>
          </a:p>
          <a:p>
            <a:pPr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t>对比模型：</a:t>
            </a:r>
          </a:p>
          <a:p>
            <a:pPr marL="0" lvl="1" indent="457200" algn="l">
              <a:spcAft>
                <a:spcPts val="900"/>
              </a:spcAft>
              <a:buClrTx/>
              <a:buSzTx/>
              <a:buNone/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rPr lang="en-US" sz="1600"/>
              <a:t>MLP / GraphSAGE / Transformer(no geometry) / Transformer(+geometry)</a:t>
            </a:r>
            <a:endParaRPr lang="en-US" sz="1600"/>
          </a:p>
          <a:p>
            <a:pPr indent="457200" algn="l">
              <a:spcAft>
                <a:spcPts val="900"/>
              </a:spcAft>
              <a:buClrTx/>
              <a:buSzTx/>
              <a:buNone/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rPr lang="en-US" sz="1600"/>
              <a:t>核心主指标：RMSE_|v|</a:t>
            </a:r>
            <a:endParaRPr lang="en-US" sz="1600"/>
          </a:p>
          <a:p>
            <a:pPr indent="457200" algn="l">
              <a:spcAft>
                <a:spcPts val="900"/>
              </a:spcAft>
              <a:buClrTx/>
              <a:buSzTx/>
              <a:buNone/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rPr lang="en-US" sz="1600"/>
              <a:t>辅助指标：RMSE_P、R</a:t>
            </a:r>
            <a:r>
              <a:rPr lang="en-US" sz="1600" baseline="30000"/>
              <a:t>2</a:t>
            </a:r>
            <a:r>
              <a:rPr lang="en-US" sz="1600"/>
              <a:t>P、推理时间、峰值显存</a:t>
            </a:r>
            <a:endParaRPr lang="en-US" sz="1600"/>
          </a:p>
        </p:txBody>
      </p:sp>
      <p:pic>
        <p:nvPicPr>
          <p:cNvPr id="6" name="Picture 5" descr="fig_A7_pareto_rmse_vel_mag_vs_latency_mean_st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410" y="2016760"/>
            <a:ext cx="5172710" cy="35712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3115" y="5774055"/>
            <a:ext cx="5370830" cy="299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endParaRPr lang="zh-CN" altLang="en-US" sz="16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71005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Arial" panose="020B0604020202090204"/>
              </a:rPr>
              <a:t>主结果总表</a:t>
            </a:r>
            <a:endParaRPr sz="2400" b="1">
              <a:solidFill>
                <a:srgbClr val="1B365D"/>
              </a:solidFill>
              <a:latin typeface="Arial" panose="020B060402020209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5295" y="920750"/>
            <a:ext cx="2011680" cy="475488"/>
          </a:xfrm>
          <a:prstGeom prst="rect">
            <a:avLst/>
          </a:prstGeom>
          <a:solidFill>
            <a:srgbClr val="1B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 panose="020B0604020202090204"/>
              </a:rPr>
              <a:t>模型</a:t>
            </a:r>
            <a:endParaRPr sz="125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66975" y="920750"/>
            <a:ext cx="1737360" cy="475488"/>
          </a:xfrm>
          <a:prstGeom prst="rect">
            <a:avLst/>
          </a:prstGeom>
          <a:solidFill>
            <a:srgbClr val="1B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 panose="020B0604020202090204"/>
              </a:rPr>
              <a:t>RMSE_|v|</a:t>
            </a:r>
            <a:endParaRPr sz="125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04335" y="920750"/>
            <a:ext cx="1645920" cy="475488"/>
          </a:xfrm>
          <a:prstGeom prst="rect">
            <a:avLst/>
          </a:prstGeom>
          <a:solidFill>
            <a:srgbClr val="1B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 panose="020B0604020202090204"/>
              </a:rPr>
              <a:t>RMSE_p</a:t>
            </a:r>
            <a:endParaRPr sz="125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0255" y="920750"/>
            <a:ext cx="1280160" cy="475488"/>
          </a:xfrm>
          <a:prstGeom prst="rect">
            <a:avLst/>
          </a:prstGeom>
          <a:solidFill>
            <a:srgbClr val="1B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 panose="020B0604020202090204"/>
              </a:rPr>
              <a:t>R2_p</a:t>
            </a:r>
            <a:endParaRPr sz="125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30415" y="920750"/>
            <a:ext cx="2194560" cy="475488"/>
          </a:xfrm>
          <a:prstGeom prst="rect">
            <a:avLst/>
          </a:prstGeom>
          <a:solidFill>
            <a:srgbClr val="1B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 panose="020B0604020202090204"/>
              </a:rPr>
              <a:t>推理(ms/snapshot)</a:t>
            </a:r>
            <a:endParaRPr sz="125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324975" y="920750"/>
            <a:ext cx="1828800" cy="475488"/>
          </a:xfrm>
          <a:prstGeom prst="rect">
            <a:avLst/>
          </a:prstGeom>
          <a:solidFill>
            <a:srgbClr val="1B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 panose="020B0604020202090204"/>
              </a:rPr>
              <a:t>显存(MB)</a:t>
            </a:r>
            <a:endParaRPr sz="125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5295" y="1423670"/>
            <a:ext cx="2011680" cy="475488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MLP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466975" y="1423670"/>
            <a:ext cx="1737360" cy="475488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1.5999±0.0015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04335" y="1423670"/>
            <a:ext cx="1645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0.6581±0.0185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50255" y="1423670"/>
            <a:ext cx="1280160" cy="475488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0.9201±0.0045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30415" y="1423670"/>
            <a:ext cx="2194560" cy="475488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0.54±0.27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324975" y="1423670"/>
            <a:ext cx="18288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127.34±0.00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5295" y="1926590"/>
            <a:ext cx="2011680" cy="475488"/>
          </a:xfrm>
          <a:prstGeom prst="rect">
            <a:avLst/>
          </a:prstGeom>
          <a:solidFill>
            <a:srgbClr val="EBF0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GraphSAGE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466975" y="1926590"/>
            <a:ext cx="1737360" cy="475488"/>
          </a:xfrm>
          <a:prstGeom prst="rect">
            <a:avLst/>
          </a:prstGeom>
          <a:solidFill>
            <a:srgbClr val="EBF0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1.3611±0.0159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04335" y="1926590"/>
            <a:ext cx="1645920" cy="475488"/>
          </a:xfrm>
          <a:prstGeom prst="rect">
            <a:avLst/>
          </a:prstGeom>
          <a:solidFill>
            <a:srgbClr val="EBF0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0.7341±0.0136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850255" y="1926590"/>
            <a:ext cx="1280160" cy="475488"/>
          </a:xfrm>
          <a:prstGeom prst="rect">
            <a:avLst/>
          </a:prstGeom>
          <a:solidFill>
            <a:srgbClr val="EBF0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0.9007±0.0037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130415" y="1926590"/>
            <a:ext cx="2194560" cy="475488"/>
          </a:xfrm>
          <a:prstGeom prst="rect">
            <a:avLst/>
          </a:prstGeom>
          <a:solidFill>
            <a:srgbClr val="EBF0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2.35±0.23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324975" y="1926590"/>
            <a:ext cx="1828800" cy="475488"/>
          </a:xfrm>
          <a:prstGeom prst="rect">
            <a:avLst/>
          </a:prstGeom>
          <a:solidFill>
            <a:srgbClr val="EBF0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529.69±0.47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5295" y="2429510"/>
            <a:ext cx="2011680" cy="475488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Transformer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66975" y="2429510"/>
            <a:ext cx="1737360" cy="475488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1.3645±0.0101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04335" y="2429510"/>
            <a:ext cx="1645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0.7061±0.0349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850255" y="2429510"/>
            <a:ext cx="1280160" cy="475488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0.9079±0.0092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130415" y="2429510"/>
            <a:ext cx="2194560" cy="475488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6.95±0.09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324975" y="2429510"/>
            <a:ext cx="1828800" cy="475488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2182.74±1.08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5295" y="2932430"/>
            <a:ext cx="2011680" cy="475488"/>
          </a:xfrm>
          <a:prstGeom prst="rect">
            <a:avLst/>
          </a:prstGeom>
          <a:solidFill>
            <a:srgbClr val="EBF0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Arial" panose="020B0604020202090204"/>
              </a:rPr>
              <a:t>Transformer + Geometry</a:t>
            </a:r>
            <a:endParaRPr sz="1200" b="1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466975" y="2932430"/>
            <a:ext cx="1737360" cy="475488"/>
          </a:xfrm>
          <a:prstGeom prst="rect">
            <a:avLst/>
          </a:prstGeom>
          <a:solidFill>
            <a:srgbClr val="EBF0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1.1612±0.0383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204335" y="2932430"/>
            <a:ext cx="1645920" cy="475488"/>
          </a:xfrm>
          <a:prstGeom prst="rect">
            <a:avLst/>
          </a:prstGeom>
          <a:solidFill>
            <a:srgbClr val="EBF0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0.6536±0.0423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850255" y="2932430"/>
            <a:ext cx="1280160" cy="475488"/>
          </a:xfrm>
          <a:prstGeom prst="rect">
            <a:avLst/>
          </a:prstGeom>
          <a:solidFill>
            <a:srgbClr val="EBF0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0.9209±0.0103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30415" y="2932430"/>
            <a:ext cx="2194560" cy="475488"/>
          </a:xfrm>
          <a:prstGeom prst="rect">
            <a:avLst/>
          </a:prstGeom>
          <a:solidFill>
            <a:srgbClr val="EBF0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6.88±0.02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324975" y="2932430"/>
            <a:ext cx="1828800" cy="475488"/>
          </a:xfrm>
          <a:prstGeom prst="rect">
            <a:avLst/>
          </a:prstGeom>
          <a:solidFill>
            <a:srgbClr val="EBF0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Arial" panose="020B0604020202090204"/>
              </a:rPr>
              <a:t>2182.12±0.00</a:t>
            </a:r>
            <a:endParaRPr sz="1200" b="0">
              <a:solidFill>
                <a:srgbClr val="222222"/>
              </a:solidFill>
              <a:latin typeface="Arial" panose="020B0604020202090204"/>
            </a:endParaRPr>
          </a:p>
        </p:txBody>
      </p:sp>
      <p:pic>
        <p:nvPicPr>
          <p:cNvPr id="34" name="Picture 33" descr="fig_A7_efficiency_bars_mean_st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380" y="3771265"/>
            <a:ext cx="5801360" cy="2426970"/>
          </a:xfrm>
          <a:prstGeom prst="rect">
            <a:avLst/>
          </a:prstGeom>
        </p:spPr>
      </p:pic>
      <p:pic>
        <p:nvPicPr>
          <p:cNvPr id="35" name="Picture 34" descr="compare_val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920" y="3655060"/>
            <a:ext cx="5120640" cy="2814618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2174875" y="374015"/>
            <a:ext cx="3801110" cy="299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rPr sz="1600">
                <a:solidFill>
                  <a:schemeClr val="tx1"/>
                </a:solidFill>
                <a:sym typeface="+mn-ea"/>
              </a:rPr>
              <a:t>训练4860 / 验证648 / 测试1458 graphs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777230" y="38671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spcAft>
                <a:spcPts val="900"/>
              </a:spcAft>
              <a:buClrTx/>
              <a:buSzTx/>
              <a:buFontTx/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rPr sz="1600">
                <a:solidFill>
                  <a:schemeClr val="tx1"/>
                </a:solidFill>
                <a:sym typeface="+mn-ea"/>
              </a:rPr>
              <a:t>每个模型均完成3个seed，汇报采用 mean ± std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Arial" panose="020B0604020202090204"/>
              </a:rPr>
              <a:t>结论一：图结构是必要的</a:t>
            </a:r>
            <a:endParaRPr sz="2400" b="1">
              <a:solidFill>
                <a:srgbClr val="1B365D"/>
              </a:solidFill>
              <a:latin typeface="Arial" panose="020B060402020209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49115" y="274320"/>
            <a:ext cx="4049395" cy="4114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22222"/>
                </a:solidFill>
                <a:latin typeface="Arial" panose="020B0604020202090204"/>
              </a:rPr>
              <a:t>MLP -&gt; GraphSAGE</a:t>
            </a:r>
            <a:endParaRPr sz="2000" b="1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1220" y="5405755"/>
            <a:ext cx="9688195" cy="6280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rPr sz="1400"/>
              <a:t>RMSE_|v|：</a:t>
            </a:r>
            <a:r>
              <a:rPr sz="1400" b="1">
                <a:solidFill>
                  <a:schemeClr val="accent2"/>
                </a:solidFill>
                <a:latin typeface="Arial Bold" panose="020B0604020202090204" charset="0"/>
                <a:cs typeface="Arial Bold" panose="020B0604020202090204" charset="0"/>
              </a:rPr>
              <a:t>1.5999 &gt; 1.3611</a:t>
            </a:r>
            <a:r>
              <a:rPr sz="1400"/>
              <a:t>，明显下降</a:t>
            </a:r>
            <a:r>
              <a:rPr lang="en-US" sz="1400"/>
              <a:t>，</a:t>
            </a:r>
            <a:r>
              <a:rPr sz="1400"/>
              <a:t>说明仅靠点坐标和边界条件，无法稳定恢复速度场</a:t>
            </a:r>
            <a:r>
              <a:rPr lang="en-US" sz="1400"/>
              <a:t>，</a:t>
            </a:r>
            <a:r>
              <a:rPr sz="1400"/>
              <a:t>图结构首先改善的是局部一致性与壁面相关区域</a:t>
            </a:r>
            <a:endParaRPr sz="1400"/>
          </a:p>
          <a:p>
            <a:pPr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</a:p>
        </p:txBody>
      </p:sp>
      <p:pic>
        <p:nvPicPr>
          <p:cNvPr id="5" name="Picture 4" descr="fig_A3_scat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360" y="1060450"/>
            <a:ext cx="4553585" cy="3619500"/>
          </a:xfrm>
          <a:prstGeom prst="rect">
            <a:avLst/>
          </a:prstGeom>
        </p:spPr>
      </p:pic>
      <p:pic>
        <p:nvPicPr>
          <p:cNvPr id="6" name="Picture 5" descr="fig_A3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960" y="1114425"/>
            <a:ext cx="4552950" cy="353504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02735" y="4768215"/>
            <a:ext cx="3657600" cy="41148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222222"/>
                </a:solidFill>
                <a:latin typeface="Arial" panose="020B0604020202090204"/>
              </a:rPr>
              <a:t>左：MLP  右：GraphSAGE</a:t>
            </a:r>
            <a:endParaRPr sz="15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24580" y="6033770"/>
            <a:ext cx="40487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rPr b="1">
                <a:solidFill>
                  <a:schemeClr val="accent2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因此“建图”本身就是有效信息增益</a:t>
            </a:r>
            <a:endParaRPr lang="zh-CN" altLang="en-US" b="1">
              <a:solidFill>
                <a:schemeClr val="accent2"/>
              </a:solidFill>
              <a:latin typeface="Arial Bold" panose="020B0604020202090204" charset="0"/>
              <a:cs typeface="Arial Bold" panose="020B060402020209020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3230" y="274320"/>
            <a:ext cx="482854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Arial" panose="020B0604020202090204"/>
              </a:rPr>
              <a:t>结论二：更强 backbone 不等于好</a:t>
            </a:r>
            <a:endParaRPr sz="2400" b="1">
              <a:solidFill>
                <a:srgbClr val="1B365D"/>
              </a:solidFill>
              <a:latin typeface="Arial" panose="020B060402020209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71770" y="347345"/>
            <a:ext cx="4994275" cy="321945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22222"/>
                </a:solidFill>
                <a:latin typeface="Arial" panose="020B0604020202090204"/>
              </a:rPr>
              <a:t>GraphSAGE vs Transformer(no geometry)</a:t>
            </a:r>
            <a:endParaRPr sz="1600" b="1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0830" y="5537835"/>
            <a:ext cx="117360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rPr sz="1600"/>
              <a:t>两者 RMSE_|v| 几乎持平：</a:t>
            </a:r>
            <a:r>
              <a:rPr sz="1600" b="1">
                <a:solidFill>
                  <a:schemeClr val="accent2"/>
                </a:solidFill>
                <a:latin typeface="Arial Bold" panose="020B0604020202090204" charset="0"/>
                <a:cs typeface="Arial Bold" panose="020B0604020202090204" charset="0"/>
              </a:rPr>
              <a:t>1.3611 vs 1.3645</a:t>
            </a:r>
            <a:r>
              <a:rPr lang="en-US" sz="1600" b="1">
                <a:latin typeface="Arial Bold" panose="020B0604020202090204" charset="0"/>
                <a:cs typeface="Arial Bold" panose="020B0604020202090204" charset="0"/>
              </a:rPr>
              <a:t>，</a:t>
            </a:r>
            <a:r>
              <a:rPr sz="1600">
                <a:latin typeface="Arial" panose="020B0604020202090204" pitchFamily="34" charset="0"/>
                <a:cs typeface="Arial" panose="020B0604020202090204" pitchFamily="34" charset="0"/>
              </a:rPr>
              <a:t>T</a:t>
            </a:r>
            <a:r>
              <a:rPr sz="1600"/>
              <a:t>ransformer(no geometry) 的时延和显存显著更高这说明当前瓶颈不在“注意力机制本身”真正缺失的是对血管显式几何结构的表达</a:t>
            </a:r>
            <a:endParaRPr sz="1600"/>
          </a:p>
        </p:txBody>
      </p:sp>
      <p:pic>
        <p:nvPicPr>
          <p:cNvPr id="5" name="Picture 4" descr="fig_A3_scat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675" y="1198245"/>
            <a:ext cx="4827270" cy="3317875"/>
          </a:xfrm>
          <a:prstGeom prst="rect">
            <a:avLst/>
          </a:prstGeom>
        </p:spPr>
      </p:pic>
      <p:pic>
        <p:nvPicPr>
          <p:cNvPr id="6" name="Picture 5" descr="fig_A3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0" y="1238250"/>
            <a:ext cx="4892040" cy="317690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70275" y="4704080"/>
            <a:ext cx="4663440" cy="41148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222222"/>
                </a:solidFill>
                <a:latin typeface="Arial" panose="020B0604020202090204"/>
              </a:rPr>
              <a:t>左：GraphSAGE  右：Transformer(no geometry)</a:t>
            </a:r>
            <a:endParaRPr sz="1500" b="0">
              <a:solidFill>
                <a:srgbClr val="22222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Arial" panose="020B0604020202090204"/>
              </a:rPr>
              <a:t>结论三：显式几何特征带来主增益</a:t>
            </a:r>
            <a:endParaRPr sz="2400" b="1">
              <a:solidFill>
                <a:srgbClr val="1B365D"/>
              </a:solidFill>
              <a:latin typeface="Arial" panose="020B060402020209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80660" y="274320"/>
            <a:ext cx="6057900" cy="412115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22222"/>
                </a:solidFill>
                <a:latin typeface="Arial" panose="020B0604020202090204"/>
              </a:rPr>
              <a:t>Transformer(no geometry) -&gt; Transformer(+geometry)</a:t>
            </a:r>
            <a:endParaRPr sz="1600" b="1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6775" y="5303520"/>
            <a:ext cx="10145395" cy="639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rPr sz="1600"/>
              <a:t>RMSE_|v|：</a:t>
            </a:r>
            <a:r>
              <a:rPr sz="1600" b="1">
                <a:latin typeface="Arial Bold" panose="020B0604020202090204" charset="0"/>
                <a:cs typeface="Arial Bold" panose="020B0604020202090204" charset="0"/>
              </a:rPr>
              <a:t>1.3645 &gt; 1.1612</a:t>
            </a:r>
            <a:r>
              <a:rPr sz="1600"/>
              <a:t>，主指标明显改善推理时间几乎不变：6.95 ms vs 6.88 ms峰值显存几乎不变：均约 2.18 GB</a:t>
            </a:r>
            <a:endParaRPr sz="1600"/>
          </a:p>
          <a:p>
            <a:pPr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endParaRPr sz="1600"/>
          </a:p>
        </p:txBody>
      </p:sp>
      <p:pic>
        <p:nvPicPr>
          <p:cNvPr id="5" name="Picture 4" descr="fig_A3_scat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210" y="1238250"/>
            <a:ext cx="4937125" cy="3161665"/>
          </a:xfrm>
          <a:prstGeom prst="rect">
            <a:avLst/>
          </a:prstGeom>
        </p:spPr>
      </p:pic>
      <p:pic>
        <p:nvPicPr>
          <p:cNvPr id="6" name="Picture 5" descr="fig_A3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885" y="1466850"/>
            <a:ext cx="5205730" cy="28435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377565" y="4723765"/>
            <a:ext cx="6360160" cy="41148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222222"/>
                </a:solidFill>
                <a:latin typeface="Arial" panose="020B0604020202090204"/>
              </a:rPr>
              <a:t>左：Transformer(no geometry)  右：Transformer(+geometry)</a:t>
            </a:r>
            <a:endParaRPr sz="1500" b="0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345055" y="5979160"/>
            <a:ext cx="87566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rPr>
                <a:solidFill>
                  <a:schemeClr val="accent2"/>
                </a:solidFill>
                <a:sym typeface="+mn-ea"/>
              </a:rPr>
              <a:t>结论：geometry 带来的是有效精度提升，而不是部署成本堆出来的效果</a:t>
            </a:r>
            <a:endParaRPr lang="zh-CN" altLang="en-US">
              <a:solidFill>
                <a:schemeClr val="accent2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Arial" panose="020B0604020202090204"/>
              </a:rPr>
              <a:t>区域级结果与可解释性</a:t>
            </a:r>
            <a:endParaRPr sz="2400" b="1">
              <a:solidFill>
                <a:srgbClr val="1B365D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t>主模型壁面区 RMSE_|v| = 0.0381 ± 0.0024</a:t>
            </a:r>
          </a:p>
          <a:p>
            <a:pPr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t>内部区域 RMSE_|v| = 2.0668 ± 0.0492</a:t>
            </a:r>
          </a:p>
          <a:p>
            <a:pPr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t>高曲率区 = 1.1219 ± 0.0209</a:t>
            </a:r>
          </a:p>
          <a:p>
            <a:pPr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t>分叉区 = 1.1341 ± 0.0389</a:t>
            </a:r>
          </a:p>
          <a:p>
            <a:pPr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t>主干段 = 0.8795 ± 0.0092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983480"/>
            <a:ext cx="4846320" cy="749808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22222"/>
                </a:solidFill>
                <a:latin typeface="Arial" panose="020B0604020202090204"/>
              </a:rPr>
              <a:t>当前能稳妥表达的重点：主模型在复杂形态区域也保持优势；但不同 baseline 的复杂区域标签口径仍未完全统一。</a:t>
            </a:r>
            <a:endParaRPr sz="1600" b="1">
              <a:solidFill>
                <a:srgbClr val="222222"/>
              </a:solidFill>
              <a:latin typeface="Arial" panose="020B0604020202090204"/>
            </a:endParaRPr>
          </a:p>
        </p:txBody>
      </p:sp>
      <p:pic>
        <p:nvPicPr>
          <p:cNvPr id="5" name="Picture 4" descr="fig_A7_pareto_rmse_vel_mag_vs_latency_mean_st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486400" cy="37874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Arial" panose="020B0604020202090204"/>
              </a:rPr>
              <a:t>每个模型一句话结论</a:t>
            </a:r>
            <a:endParaRPr sz="2400" b="1">
              <a:solidFill>
                <a:srgbClr val="1B365D"/>
              </a:solidFill>
              <a:latin typeface="Arial" panose="020B060402020209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7240" y="1325880"/>
            <a:ext cx="1828800" cy="438912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90204"/>
              </a:rPr>
              <a:t>MLP</a:t>
            </a:r>
            <a:endParaRPr sz="18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22222"/>
                </a:solidFill>
                <a:latin typeface="Arial" panose="020B0604020202090204"/>
              </a:defRPr>
            </a:pPr>
            <a:r>
              <a:t>可以作为无图结构下限，但不足以承担可靠速度场重建。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7480"/>
            <a:ext cx="1828800" cy="438912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Arial" panose="020B0604020202090204"/>
              </a:rPr>
              <a:t>GraphSAGE</a:t>
            </a:r>
            <a:endParaRPr sz="1800" b="1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22222"/>
                </a:solidFill>
                <a:latin typeface="Arial" panose="020B0604020202090204"/>
              </a:defRPr>
            </a:pPr>
            <a:r>
              <a:t>证明图结构建模有效，是当前最好的精度-速度折中点。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069080"/>
            <a:ext cx="3731260" cy="438785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Arial" panose="020B0604020202090204"/>
              </a:rPr>
              <a:t>Transformer(no geometry)</a:t>
            </a:r>
            <a:endParaRPr sz="1800" b="1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22222"/>
                </a:solidFill>
                <a:latin typeface="Arial" panose="020B0604020202090204"/>
              </a:defRPr>
            </a:pPr>
            <a:r>
              <a:t>仅换 backbone 不足以带来决定性提升，瓶颈不在模型复杂度本身。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4203065" cy="438785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Arial" panose="020B0604020202090204"/>
              </a:rPr>
              <a:t>Transformer(+geometry)</a:t>
            </a:r>
            <a:endParaRPr sz="1800" b="1">
              <a:solidFill>
                <a:srgbClr val="222222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22222"/>
                </a:solidFill>
                <a:latin typeface="Arial" panose="020B0604020202090204"/>
              </a:defRPr>
            </a:pPr>
            <a:r>
              <a:t>在几乎不增加部署成本的前提下取得最优精度，说明显式几何特征是当前主收益来源。</a:t>
            </a:r>
          </a:p>
        </p:txBody>
      </p:sp>
      <p:pic>
        <p:nvPicPr>
          <p:cNvPr id="11" name="Picture 10" descr="fig_A7_efficiency_bars_mean_st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291840"/>
            <a:ext cx="4754880" cy="16500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Arial" panose="020B0604020202090204"/>
              </a:rPr>
              <a:t>阶段性总判断与下一步</a:t>
            </a:r>
            <a:endParaRPr sz="2400" b="1">
              <a:solidFill>
                <a:srgbClr val="1B365D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760720" cy="143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t>后续优先事项：统一复杂区域标签口径，启动 A-Abl-01 输入特征消融</a:t>
            </a:r>
          </a:p>
          <a:p>
            <a:pPr>
              <a:spcAft>
                <a:spcPts val="900"/>
              </a:spcAft>
              <a:defRPr sz="2000">
                <a:solidFill>
                  <a:srgbClr val="222222"/>
                </a:solidFill>
                <a:latin typeface="Arial" panose="020B0604020202090204"/>
              </a:defRPr>
            </a:pPr>
            <a:r>
              <a:t>当前汇报时建议谨慎表述：高曲率/近壁/分叉区的跨模型严格横比仍待统一口径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503555" y="995680"/>
          <a:ext cx="9834880" cy="4466590"/>
        </p:xfrm>
        <a:graphic>
          <a:graphicData uri="http://schemas.openxmlformats.org/drawingml/2006/table">
            <a:tbl>
              <a:tblPr/>
              <a:tblGrid>
                <a:gridCol w="1320165"/>
                <a:gridCol w="4351020"/>
                <a:gridCol w="4163695"/>
              </a:tblGrid>
              <a:tr h="40513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维度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2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我们的工作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2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Lannelongue</a:t>
                      </a:r>
                      <a:r>
                        <a:rPr lang="en-US" altLang="zh-CN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 </a:t>
                      </a:r>
                      <a:endParaRPr lang="en-US" altLang="zh-CN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2000"/>
                      </a:schemeClr>
                    </a:solidFill>
                  </a:tcPr>
                </a:tc>
              </a:tr>
              <a:tr h="33401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研究对象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血管</a:t>
                      </a:r>
                      <a:r>
                        <a:rPr lang="en-US" altLang="zh-CN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/</a:t>
                      </a:r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动脉流场重建任务 </a:t>
                      </a:r>
                      <a:r>
                        <a:rPr lang="en-US" altLang="zh-CN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A</a:t>
                      </a:r>
                      <a:endParaRPr lang="en-US" altLang="zh-CN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颅内动脉瘤血流时序预测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数据来源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你当前项目数据集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105 </a:t>
                      </a:r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个 </a:t>
                      </a:r>
                      <a:r>
                        <a:rPr lang="en-US" altLang="zh-CN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patient-specific aneurysm geometries</a:t>
                      </a:r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，测试集 </a:t>
                      </a:r>
                      <a:r>
                        <a:rPr lang="en-US" altLang="zh-CN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10 </a:t>
                      </a:r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例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401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预测目标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速度场 </a:t>
                      </a:r>
                      <a:r>
                        <a:rPr lang="en-US" altLang="zh-CN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+ </a:t>
                      </a:r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压力场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速度场为主，并进一步分析 </a:t>
                      </a:r>
                      <a:r>
                        <a:rPr lang="en-US" altLang="zh-CN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WSS / TAWSS</a:t>
                      </a:r>
                      <a:endParaRPr lang="en-US" altLang="zh-CN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401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模型主线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Transformer + Geometry</a:t>
                      </a:r>
                      <a:endParaRPr lang="en-US" altLang="zh-CN" sz="9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In-PI-MGN</a:t>
                      </a:r>
                      <a:endParaRPr lang="en-US" altLang="zh-CN" sz="9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401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任务形式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回归预测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时序 </a:t>
                      </a:r>
                      <a:r>
                        <a:rPr lang="en-US" altLang="zh-CN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next-step + rollout </a:t>
                      </a:r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预测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我们的主指标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RMSE_V,RMSE_P</a:t>
                      </a:r>
                      <a:endParaRPr lang="en-US" altLang="zh-CN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v</a:t>
                      </a:r>
                      <a:endParaRPr lang="en-US" altLang="zh-CN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401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压力结果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RMSE_p = 0.6536 ± 0.0423</a:t>
                      </a:r>
                      <a:r>
                        <a:rPr lang="zh-CN" altLang="en-US" sz="9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，</a:t>
                      </a:r>
                      <a:r>
                        <a:rPr lang="en-US" altLang="zh-CN" sz="9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R2_p = 0.9209 ± 0.0103</a:t>
                      </a:r>
                      <a:endParaRPr lang="en-US" altLang="zh-CN" sz="9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无完全同口径的压力主结果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401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长时序结果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未报告 </a:t>
                      </a:r>
                      <a:r>
                        <a:rPr lang="en-US" altLang="zh-CN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rollout 50-step </a:t>
                      </a:r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误差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50-RMSE = 7.58 mm/s</a:t>
                      </a:r>
                      <a:endParaRPr lang="en-US" altLang="zh-CN" sz="9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401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区域分析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wall / interior</a:t>
                      </a:r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，主模型还可看 </a:t>
                      </a:r>
                      <a:r>
                        <a:rPr lang="en-US" altLang="zh-CN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high_curvature / near_wall / bifurcation</a:t>
                      </a:r>
                      <a:endParaRPr lang="en-US" altLang="zh-CN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bulge / neck / artery </a:t>
                      </a:r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三个解剖区域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能否直接比“谁更准”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不能直接比</a:t>
                      </a:r>
                      <a:endParaRPr lang="zh-CN" altLang="en-US" sz="1000" b="1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不能直接比</a:t>
                      </a:r>
                      <a:endParaRPr lang="zh-CN" altLang="en-US" sz="1000" b="1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89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原因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数据集、任务定义、评估口径、预测变量、边界条件都不同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D0D0D"/>
                          </a:solidFill>
                          <a:latin typeface="宋体"/>
                          <a:ea typeface="宋体"/>
                        </a:rPr>
                        <a:t>数据集、任务定义、评估口径、预测变量、边界条件都不同</a:t>
                      </a:r>
                      <a:endParaRPr lang="zh-CN" altLang="en-US" sz="1000" b="0" i="0">
                        <a:solidFill>
                          <a:srgbClr val="0D0D0D"/>
                        </a:solidFill>
                        <a:latin typeface="宋体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2162</Words>
  <Application>WPS 文字</Application>
  <PresentationFormat>On-screen Show (4:3)</PresentationFormat>
  <Paragraphs>216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宋体</vt:lpstr>
      <vt:lpstr>Wingdings</vt:lpstr>
      <vt:lpstr>Arial</vt:lpstr>
      <vt:lpstr>汉仪书宋二KW</vt:lpstr>
      <vt:lpstr>Calibri</vt:lpstr>
      <vt:lpstr>Helvetica Neue</vt:lpstr>
      <vt:lpstr>宋体</vt:lpstr>
      <vt:lpstr>微软雅黑</vt:lpstr>
      <vt:lpstr>汉仪旗黑</vt:lpstr>
      <vt:lpstr>Arial Unicode MS</vt:lpstr>
      <vt:lpstr>Arial Bold</vt:lpstr>
      <vt:lpstr>-apple-system</vt:lpstr>
      <vt:lpstr>ui-monospace</vt:lpstr>
      <vt:lpstr>Thonburi</vt:lpstr>
      <vt:lpstr>宋体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小阳</cp:lastModifiedBy>
  <cp:revision>2</cp:revision>
  <dcterms:created xsi:type="dcterms:W3CDTF">2026-03-24T14:29:57Z</dcterms:created>
  <dcterms:modified xsi:type="dcterms:W3CDTF">2026-03-24T14:29:57Z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2BE6E7CA44C04EC3E59FC2692CFD4B74_42</vt:lpwstr>
  </property>
</Properties>
</file>