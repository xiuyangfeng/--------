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7" r:id="rId23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2" userDrawn="1">
          <p15:clr>
            <a:srgbClr val="A4A3A4"/>
          </p15:clr>
        </p15:guide>
        <p15:guide id="2" pos="290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72"/>
        <p:guide pos="290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23360" y="0"/>
            <a:ext cx="50800" cy="6858000"/>
          </a:xfrm>
          <a:prstGeom prst="rect">
            <a:avLst/>
          </a:prstGeom>
          <a:solidFill>
            <a:srgbClr val="16A0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22959" y="1188720"/>
            <a:ext cx="2011680" cy="2011680"/>
          </a:xfrm>
          <a:prstGeom prst="ellipse">
            <a:avLst/>
          </a:prstGeom>
          <a:noFill/>
          <a:ln w="15240">
            <a:solidFill>
              <a:srgbClr val="16A0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02920" y="3108960"/>
            <a:ext cx="2651760" cy="2651760"/>
          </a:xfrm>
          <a:prstGeom prst="ellipse">
            <a:avLst/>
          </a:prstGeom>
          <a:noFill/>
          <a:ln w="15240">
            <a:solidFill>
              <a:srgbClr val="16A0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31520" y="4937760"/>
            <a:ext cx="2194560" cy="2194560"/>
          </a:xfrm>
          <a:prstGeom prst="ellipse">
            <a:avLst/>
          </a:prstGeom>
          <a:noFill/>
          <a:ln w="15240">
            <a:solidFill>
              <a:srgbClr val="16A0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0080"/>
            <a:ext cx="329184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6A0B8"/>
                </a:solidFill>
                <a:latin typeface="PingFang SC" panose="020B0400000000000000" charset="-122"/>
                <a:ea typeface="PingFang SC" panose="020B0400000000000000" charset="-122"/>
              </a:rPr>
              <a:t>RESEARCH SEMINAR</a:t>
            </a:r>
            <a:endParaRPr sz="1200" b="1">
              <a:solidFill>
                <a:srgbClr val="16A0B8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02920" y="5669280"/>
            <a:ext cx="3291840" cy="8229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</a:rPr>
              <a:t>Liao et al. 2025</a:t>
            </a:r>
            <a:endParaRPr sz="13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BFD6E8"/>
                </a:solidFill>
                <a:latin typeface="PingFang SC" panose="020B0400000000000000" charset="-122"/>
                <a:ea typeface="PingFang SC" panose="020B0400000000000000" charset="-122"/>
              </a:rPr>
              <a:t>Eng. Appl. of AI 160 (2025) 112034</a:t>
            </a:r>
            <a:endParaRPr sz="950" b="0">
              <a:solidFill>
                <a:srgbClr val="BFD6E8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526280" y="1691640"/>
            <a:ext cx="7315200" cy="23774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38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</a:rPr>
              <a:t>脑血管 PINNs 点云论文</a:t>
            </a:r>
            <a:endParaRPr sz="38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000" b="1">
                <a:solidFill>
                  <a:srgbClr val="16A0B8"/>
                </a:solidFill>
                <a:latin typeface="PingFang SC" panose="020B0400000000000000" charset="-122"/>
                <a:ea typeface="PingFang SC" panose="020B0400000000000000" charset="-122"/>
              </a:rPr>
              <a:t>阅读对照 · 与当前 WSS 项目的差异分析</a:t>
            </a:r>
            <a:endParaRPr sz="2000" b="1">
              <a:solidFill>
                <a:srgbClr val="16A0B8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000" b="1">
                <a:solidFill>
                  <a:srgbClr val="16A0B8"/>
                </a:solidFill>
                <a:latin typeface="PingFang SC" panose="020B0400000000000000" charset="-122"/>
                <a:ea typeface="PingFang SC" panose="020B0400000000000000" charset="-122"/>
              </a:rPr>
              <a:t>及给原作者 / 老师的提问清单</a:t>
            </a:r>
            <a:endParaRPr sz="2000" b="1">
              <a:solidFill>
                <a:srgbClr val="16A0B8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553712" y="4114800"/>
            <a:ext cx="2194560" cy="38100"/>
          </a:xfrm>
          <a:prstGeom prst="rect">
            <a:avLst/>
          </a:prstGeom>
          <a:solidFill>
            <a:srgbClr val="16A0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4343400"/>
            <a:ext cx="7315200" cy="12801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CFDFEC"/>
                </a:solidFill>
                <a:latin typeface="PingFang SC" panose="020B0400000000000000" charset="-122"/>
                <a:ea typeface="PingFang SC" panose="020B0400000000000000" charset="-122"/>
              </a:rPr>
              <a:t>Physics-informed neural networks for 3D cerebrovascular</a:t>
            </a:r>
            <a:endParaRPr sz="1250" b="0">
              <a:solidFill>
                <a:srgbClr val="CFDFEC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CFDFEC"/>
                </a:solidFill>
                <a:latin typeface="PingFang SC" panose="020B0400000000000000" charset="-122"/>
                <a:ea typeface="PingFang SC" panose="020B0400000000000000" charset="-122"/>
              </a:rPr>
              <a:t>hemodynamic prediction: a point-cloud preprocessing</a:t>
            </a:r>
            <a:endParaRPr sz="1250" b="0">
              <a:solidFill>
                <a:srgbClr val="CFDFEC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CFDFEC"/>
                </a:solidFill>
                <a:latin typeface="PingFang SC" panose="020B0400000000000000" charset="-122"/>
                <a:ea typeface="PingFang SC" panose="020B0400000000000000" charset="-122"/>
              </a:rPr>
              <a:t>strategy based on limited data</a:t>
            </a:r>
            <a:endParaRPr sz="1250" b="0">
              <a:solidFill>
                <a:srgbClr val="CFDFEC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526280" y="5943600"/>
            <a:ext cx="731520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</a:rPr>
              <a:t>汇报人：xiaoyang</a:t>
            </a:r>
            <a:r>
              <a:rPr sz="1200" b="0">
                <a:solidFill>
                  <a:srgbClr val="BFD6E8"/>
                </a:solidFill>
                <a:latin typeface="PingFang SC" panose="020B0400000000000000" charset="-122"/>
                <a:ea typeface="PingFang SC" panose="020B0400000000000000" charset="-122"/>
              </a:rPr>
              <a:t>        日期：2026-06-11</a:t>
            </a:r>
            <a:endParaRPr sz="1200" b="0">
              <a:solidFill>
                <a:srgbClr val="BFD6E8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38100"/>
          </a:xfrm>
          <a:prstGeom prst="rect">
            <a:avLst/>
          </a:prstGeom>
          <a:solidFill>
            <a:srgbClr val="16A0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0584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6A0B8"/>
                </a:solidFill>
                <a:latin typeface="PingFang SC" panose="020B0400000000000000" charset="-122"/>
                <a:ea typeface="PingFang SC" panose="020B0400000000000000" charset="-122"/>
              </a:rPr>
              <a:t>OVERVIEW</a:t>
            </a:r>
            <a:endParaRPr sz="1150" b="1">
              <a:solidFill>
                <a:srgbClr val="16A0B8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0607040" cy="56692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</a:rPr>
              <a:t>汇报目录</a:t>
            </a:r>
            <a:endParaRPr sz="23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1323015" y="310896"/>
            <a:ext cx="457200" cy="457200"/>
          </a:xfrm>
          <a:prstGeom prst="rect">
            <a:avLst/>
          </a:prstGeom>
          <a:solidFill>
            <a:srgbClr val="16A0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23015" y="310896"/>
            <a:ext cx="457200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</a:rPr>
              <a:t>02</a:t>
            </a:r>
            <a:endParaRPr sz="14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40080" y="1417320"/>
            <a:ext cx="5166360" cy="1024128"/>
          </a:xfrm>
          <a:prstGeom prst="rect">
            <a:avLst/>
          </a:prstGeom>
          <a:solidFill>
            <a:srgbClr val="F6F9FC"/>
          </a:solidFill>
          <a:ln w="9525">
            <a:solidFill>
              <a:srgbClr val="D7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417320"/>
            <a:ext cx="63500" cy="1024128"/>
          </a:xfrm>
          <a:prstGeom prst="rect">
            <a:avLst/>
          </a:prstGeom>
          <a:solidFill>
            <a:srgbClr val="16A0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417320"/>
            <a:ext cx="914400" cy="102412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C2D3E0"/>
                </a:solidFill>
                <a:latin typeface="PingFang SC" panose="020B0400000000000000" charset="-122"/>
                <a:ea typeface="PingFang SC" panose="020B0400000000000000" charset="-122"/>
              </a:rPr>
              <a:t>01</a:t>
            </a:r>
            <a:endParaRPr sz="3000" b="1">
              <a:solidFill>
                <a:srgbClr val="C2D3E0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645920" y="1563624"/>
            <a:ext cx="4069080" cy="255905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E2A47"/>
                </a:solidFill>
                <a:latin typeface="PingFang SC" panose="020B0400000000000000" charset="-122"/>
                <a:ea typeface="PingFang SC" panose="020B0400000000000000" charset="-122"/>
              </a:rPr>
              <a:t>定位</a:t>
            </a:r>
            <a:endParaRPr sz="1500" b="1">
              <a:solidFill>
                <a:srgbClr val="0E2A47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645920" y="1965960"/>
            <a:ext cx="4069080" cy="4114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A6B7B"/>
                </a:solidFill>
                <a:latin typeface="PingFang SC" panose="020B0400000000000000" charset="-122"/>
                <a:ea typeface="PingFang SC" panose="020B0400000000000000" charset="-122"/>
              </a:rPr>
              <a:t>论文与我们项目的相似与关键差异</a:t>
            </a:r>
            <a:endParaRPr sz="1050" b="0">
              <a:solidFill>
                <a:srgbClr val="5A6B7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355080" y="1417320"/>
            <a:ext cx="5166360" cy="1024128"/>
          </a:xfrm>
          <a:prstGeom prst="rect">
            <a:avLst/>
          </a:prstGeom>
          <a:solidFill>
            <a:srgbClr val="F6F9FC"/>
          </a:solidFill>
          <a:ln w="9525">
            <a:solidFill>
              <a:srgbClr val="D7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5080" y="1417320"/>
            <a:ext cx="63500" cy="1024128"/>
          </a:xfrm>
          <a:prstGeom prst="rect">
            <a:avLst/>
          </a:prstGeom>
          <a:solidFill>
            <a:srgbClr val="16A0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4808" y="1417320"/>
            <a:ext cx="914400" cy="102412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C2D3E0"/>
                </a:solidFill>
                <a:latin typeface="PingFang SC" panose="020B0400000000000000" charset="-122"/>
                <a:ea typeface="PingFang SC" panose="020B0400000000000000" charset="-122"/>
              </a:rPr>
              <a:t>02</a:t>
            </a:r>
            <a:endParaRPr sz="3000" b="1">
              <a:solidFill>
                <a:srgbClr val="C2D3E0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360920" y="1563624"/>
            <a:ext cx="406908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E2A47"/>
                </a:solidFill>
                <a:latin typeface="PingFang SC" panose="020B0400000000000000" charset="-122"/>
                <a:ea typeface="PingFang SC" panose="020B0400000000000000" charset="-122"/>
              </a:rPr>
              <a:t>论文做了什么</a:t>
            </a:r>
            <a:endParaRPr sz="1500" b="1">
              <a:solidFill>
                <a:srgbClr val="0E2A47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360920" y="1965960"/>
            <a:ext cx="4069080" cy="4114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A6B7B"/>
                </a:solidFill>
                <a:latin typeface="PingFang SC" panose="020B0400000000000000" charset="-122"/>
                <a:ea typeface="PingFang SC" panose="020B0400000000000000" charset="-122"/>
              </a:rPr>
              <a:t>数据 · CFD 设置 · 点云预处理 · PINNs 结构</a:t>
            </a:r>
            <a:endParaRPr sz="1050" b="0">
              <a:solidFill>
                <a:srgbClr val="5A6B7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40080" y="2651760"/>
            <a:ext cx="5166360" cy="1024128"/>
          </a:xfrm>
          <a:prstGeom prst="rect">
            <a:avLst/>
          </a:prstGeom>
          <a:solidFill>
            <a:srgbClr val="F6F9FC"/>
          </a:solidFill>
          <a:ln w="9525">
            <a:solidFill>
              <a:srgbClr val="D7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2651760"/>
            <a:ext cx="63500" cy="1024128"/>
          </a:xfrm>
          <a:prstGeom prst="rect">
            <a:avLst/>
          </a:prstGeom>
          <a:solidFill>
            <a:srgbClr val="16A0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2651760"/>
            <a:ext cx="914400" cy="102412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C2D3E0"/>
                </a:solidFill>
                <a:latin typeface="PingFang SC" panose="020B0400000000000000" charset="-122"/>
                <a:ea typeface="PingFang SC" panose="020B0400000000000000" charset="-122"/>
              </a:rPr>
              <a:t>03</a:t>
            </a:r>
            <a:endParaRPr sz="3000" b="1">
              <a:solidFill>
                <a:srgbClr val="C2D3E0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645920" y="2798064"/>
            <a:ext cx="406908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E2A47"/>
                </a:solidFill>
                <a:latin typeface="PingFang SC" panose="020B0400000000000000" charset="-122"/>
                <a:ea typeface="PingFang SC" panose="020B0400000000000000" charset="-122"/>
              </a:rPr>
              <a:t>论文主要结果</a:t>
            </a:r>
            <a:endParaRPr sz="1500" b="1">
              <a:solidFill>
                <a:srgbClr val="0E2A47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645920" y="3200400"/>
            <a:ext cx="4069080" cy="4114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A6B7B"/>
                </a:solidFill>
                <a:latin typeface="PingFang SC" panose="020B0400000000000000" charset="-122"/>
                <a:ea typeface="PingFang SC" panose="020B0400000000000000" charset="-122"/>
              </a:rPr>
              <a:t>压力/速度 NMAE 四组消融 · 临床 FR/PD</a:t>
            </a:r>
            <a:endParaRPr sz="1050" b="0">
              <a:solidFill>
                <a:srgbClr val="5A6B7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6355080" y="2651760"/>
            <a:ext cx="5166360" cy="1024128"/>
          </a:xfrm>
          <a:prstGeom prst="rect">
            <a:avLst/>
          </a:prstGeom>
          <a:solidFill>
            <a:srgbClr val="F6F9FC"/>
          </a:solidFill>
          <a:ln w="9525">
            <a:solidFill>
              <a:srgbClr val="D7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55080" y="2651760"/>
            <a:ext cx="63500" cy="1024128"/>
          </a:xfrm>
          <a:prstGeom prst="rect">
            <a:avLst/>
          </a:prstGeom>
          <a:solidFill>
            <a:srgbClr val="16A0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4808" y="2651760"/>
            <a:ext cx="914400" cy="102412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C2D3E0"/>
                </a:solidFill>
                <a:latin typeface="PingFang SC" panose="020B0400000000000000" charset="-122"/>
                <a:ea typeface="PingFang SC" panose="020B0400000000000000" charset="-122"/>
              </a:rPr>
              <a:t>04</a:t>
            </a:r>
            <a:endParaRPr sz="3000" b="1">
              <a:solidFill>
                <a:srgbClr val="C2D3E0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360920" y="2798064"/>
            <a:ext cx="4069080" cy="255905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E2A47"/>
                </a:solidFill>
                <a:latin typeface="PingFang SC" panose="020B0400000000000000" charset="-122"/>
                <a:ea typeface="PingFang SC" panose="020B0400000000000000" charset="-122"/>
              </a:rPr>
              <a:t>项目</a:t>
            </a:r>
            <a:r>
              <a:rPr lang="zh-CN" sz="1500" b="1">
                <a:solidFill>
                  <a:srgbClr val="0E2A47"/>
                </a:solidFill>
                <a:latin typeface="PingFang SC" panose="020B0400000000000000" charset="-122"/>
                <a:ea typeface="PingFang SC" panose="020B0400000000000000" charset="-122"/>
              </a:rPr>
              <a:t>实验</a:t>
            </a:r>
            <a:r>
              <a:rPr lang="zh-CN" sz="1500" b="1">
                <a:solidFill>
                  <a:srgbClr val="0E2A47"/>
                </a:solidFill>
                <a:latin typeface="PingFang SC" panose="020B0400000000000000" charset="-122"/>
                <a:ea typeface="PingFang SC" panose="020B0400000000000000" charset="-122"/>
              </a:rPr>
              <a:t>矩阵</a:t>
            </a:r>
            <a:endParaRPr lang="zh-CN" sz="1500" b="1">
              <a:solidFill>
                <a:srgbClr val="0E2A47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360920" y="3200400"/>
            <a:ext cx="4069080" cy="4114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A6B7B"/>
                </a:solidFill>
                <a:latin typeface="PingFang SC" panose="020B0400000000000000" charset="-122"/>
                <a:ea typeface="PingFang SC" panose="020B0400000000000000" charset="-122"/>
              </a:rPr>
              <a:t>从 u/v/w/p 速度场到壁面 WSS 主线</a:t>
            </a:r>
            <a:endParaRPr sz="1050" b="0">
              <a:solidFill>
                <a:srgbClr val="5A6B7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640080" y="3886200"/>
            <a:ext cx="5166360" cy="1024128"/>
          </a:xfrm>
          <a:prstGeom prst="rect">
            <a:avLst/>
          </a:prstGeom>
          <a:solidFill>
            <a:srgbClr val="F6F9FC"/>
          </a:solidFill>
          <a:ln w="9525">
            <a:solidFill>
              <a:srgbClr val="D7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0080" y="3886200"/>
            <a:ext cx="63500" cy="1024128"/>
          </a:xfrm>
          <a:prstGeom prst="rect">
            <a:avLst/>
          </a:prstGeom>
          <a:solidFill>
            <a:srgbClr val="16A0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9808" y="3886200"/>
            <a:ext cx="914400" cy="102412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C2D3E0"/>
                </a:solidFill>
                <a:latin typeface="PingFang SC" panose="020B0400000000000000" charset="-122"/>
                <a:ea typeface="PingFang SC" panose="020B0400000000000000" charset="-122"/>
              </a:rPr>
              <a:t>05</a:t>
            </a:r>
            <a:endParaRPr sz="3000" b="1">
              <a:solidFill>
                <a:srgbClr val="C2D3E0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645920" y="4032504"/>
            <a:ext cx="406908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E2A47"/>
                </a:solidFill>
                <a:latin typeface="PingFang SC" panose="020B0400000000000000" charset="-122"/>
                <a:ea typeface="PingFang SC" panose="020B0400000000000000" charset="-122"/>
              </a:rPr>
              <a:t>六组系统对照表</a:t>
            </a:r>
            <a:endParaRPr sz="1500" b="1">
              <a:solidFill>
                <a:srgbClr val="0E2A47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645920" y="4434840"/>
            <a:ext cx="4069080" cy="4114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A6B7B"/>
                </a:solidFill>
                <a:latin typeface="PingFang SC" panose="020B0400000000000000" charset="-122"/>
                <a:ea typeface="PingFang SC" panose="020B0400000000000000" charset="-122"/>
              </a:rPr>
              <a:t>数据 · 采样 · 输入 · 架构 · 指标 · 证据</a:t>
            </a:r>
            <a:endParaRPr sz="1050" b="0">
              <a:solidFill>
                <a:srgbClr val="5A6B7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6355080" y="3886200"/>
            <a:ext cx="5166360" cy="1024128"/>
          </a:xfrm>
          <a:prstGeom prst="rect">
            <a:avLst/>
          </a:prstGeom>
          <a:solidFill>
            <a:srgbClr val="F6F9FC"/>
          </a:solidFill>
          <a:ln w="9525">
            <a:solidFill>
              <a:srgbClr val="D7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355080" y="3886200"/>
            <a:ext cx="63500" cy="1024128"/>
          </a:xfrm>
          <a:prstGeom prst="rect">
            <a:avLst/>
          </a:prstGeom>
          <a:solidFill>
            <a:srgbClr val="16A0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4808" y="3886200"/>
            <a:ext cx="914400" cy="102412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C2D3E0"/>
                </a:solidFill>
                <a:latin typeface="PingFang SC" panose="020B0400000000000000" charset="-122"/>
                <a:ea typeface="PingFang SC" panose="020B0400000000000000" charset="-122"/>
              </a:rPr>
              <a:t>06</a:t>
            </a:r>
            <a:endParaRPr sz="3000" b="1">
              <a:solidFill>
                <a:srgbClr val="C2D3E0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7360920" y="4032504"/>
            <a:ext cx="4069080" cy="255905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E2A47"/>
                </a:solidFill>
                <a:latin typeface="PingFang SC" panose="020B0400000000000000" charset="-122"/>
                <a:ea typeface="PingFang SC" panose="020B0400000000000000" charset="-122"/>
              </a:rPr>
              <a:t>启发与</a:t>
            </a:r>
            <a:r>
              <a:rPr lang="zh-CN" sz="1500" b="1">
                <a:solidFill>
                  <a:srgbClr val="0E2A47"/>
                </a:solidFill>
                <a:latin typeface="PingFang SC" panose="020B0400000000000000" charset="-122"/>
                <a:ea typeface="PingFang SC" panose="020B0400000000000000" charset="-122"/>
              </a:rPr>
              <a:t>思考</a:t>
            </a:r>
            <a:endParaRPr lang="zh-CN" sz="1500" b="1">
              <a:solidFill>
                <a:srgbClr val="0E2A47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7360920" y="4434840"/>
            <a:ext cx="4069080" cy="4114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A6B7B"/>
                </a:solidFill>
                <a:latin typeface="PingFang SC" panose="020B0400000000000000" charset="-122"/>
                <a:ea typeface="PingFang SC" panose="020B0400000000000000" charset="-122"/>
              </a:rPr>
              <a:t>物理约束 · 点云均匀化 · 临床叙事的边界</a:t>
            </a:r>
            <a:endParaRPr sz="1050" b="0">
              <a:solidFill>
                <a:srgbClr val="5A6B7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640080" y="5120640"/>
            <a:ext cx="5166360" cy="1024128"/>
          </a:xfrm>
          <a:prstGeom prst="rect">
            <a:avLst/>
          </a:prstGeom>
          <a:solidFill>
            <a:srgbClr val="F6F9FC"/>
          </a:solidFill>
          <a:ln w="9525">
            <a:solidFill>
              <a:srgbClr val="D7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40080" y="5120640"/>
            <a:ext cx="63500" cy="1024128"/>
          </a:xfrm>
          <a:prstGeom prst="rect">
            <a:avLst/>
          </a:prstGeom>
          <a:solidFill>
            <a:srgbClr val="16A0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49808" y="5120640"/>
            <a:ext cx="914400" cy="102412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C2D3E0"/>
                </a:solidFill>
                <a:latin typeface="PingFang SC" panose="020B0400000000000000" charset="-122"/>
                <a:ea typeface="PingFang SC" panose="020B0400000000000000" charset="-122"/>
              </a:rPr>
              <a:t>07</a:t>
            </a:r>
            <a:endParaRPr sz="3000" b="1">
              <a:solidFill>
                <a:srgbClr val="C2D3E0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645920" y="5266944"/>
            <a:ext cx="4069080" cy="255905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E2A47"/>
                </a:solidFill>
                <a:latin typeface="PingFang SC" panose="020B0400000000000000" charset="-122"/>
                <a:ea typeface="PingFang SC" panose="020B0400000000000000" charset="-122"/>
              </a:rPr>
              <a:t>问题清单</a:t>
            </a:r>
            <a:endParaRPr sz="1500" b="1">
              <a:solidFill>
                <a:srgbClr val="0E2A47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645920" y="5669280"/>
            <a:ext cx="4069080" cy="4114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A6B7B"/>
                </a:solidFill>
                <a:latin typeface="PingFang SC" panose="020B0400000000000000" charset="-122"/>
                <a:ea typeface="PingFang SC" panose="020B0400000000000000" charset="-122"/>
              </a:rPr>
              <a:t>11 个可直接追问的核心问题</a:t>
            </a:r>
            <a:endParaRPr sz="1050" b="0">
              <a:solidFill>
                <a:srgbClr val="5A6B7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6355080" y="5120640"/>
            <a:ext cx="5166360" cy="1024128"/>
          </a:xfrm>
          <a:prstGeom prst="rect">
            <a:avLst/>
          </a:prstGeom>
          <a:solidFill>
            <a:srgbClr val="F6F9FC"/>
          </a:solidFill>
          <a:ln w="9525">
            <a:solidFill>
              <a:srgbClr val="D7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355080" y="5120640"/>
            <a:ext cx="63500" cy="1024128"/>
          </a:xfrm>
          <a:prstGeom prst="rect">
            <a:avLst/>
          </a:prstGeom>
          <a:solidFill>
            <a:srgbClr val="16A0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64808" y="5120640"/>
            <a:ext cx="914400" cy="102412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C2D3E0"/>
                </a:solidFill>
                <a:latin typeface="PingFang SC" panose="020B0400000000000000" charset="-122"/>
                <a:ea typeface="PingFang SC" panose="020B0400000000000000" charset="-122"/>
              </a:rPr>
              <a:t>08</a:t>
            </a:r>
            <a:endParaRPr sz="3000" b="1">
              <a:solidFill>
                <a:srgbClr val="C2D3E0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7360920" y="5266944"/>
            <a:ext cx="4069080" cy="255905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zh-CN" sz="1500" b="1">
                <a:solidFill>
                  <a:srgbClr val="0E2A47"/>
                </a:solidFill>
                <a:latin typeface="PingFang SC" panose="020B0400000000000000" charset="-122"/>
                <a:ea typeface="PingFang SC" panose="020B0400000000000000" charset="-122"/>
              </a:rPr>
              <a:t>后续工作</a:t>
            </a:r>
            <a:r>
              <a:rPr lang="zh-CN" sz="1500" b="1">
                <a:solidFill>
                  <a:srgbClr val="0E2A47"/>
                </a:solidFill>
                <a:latin typeface="PingFang SC" panose="020B0400000000000000" charset="-122"/>
                <a:ea typeface="PingFang SC" panose="020B0400000000000000" charset="-122"/>
              </a:rPr>
              <a:t>思路</a:t>
            </a:r>
            <a:endParaRPr lang="zh-CN" sz="1500" b="1">
              <a:solidFill>
                <a:srgbClr val="0E2A47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7360920" y="5669280"/>
            <a:ext cx="4069080" cy="4114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A6B7B"/>
                </a:solidFill>
                <a:latin typeface="PingFang SC" panose="020B0400000000000000" charset="-122"/>
                <a:ea typeface="PingFang SC" panose="020B0400000000000000" charset="-122"/>
              </a:rPr>
              <a:t>短期对照 · 中期诊断 · PINNs 闭合审计</a:t>
            </a:r>
            <a:endParaRPr sz="1050" b="0">
              <a:solidFill>
                <a:srgbClr val="5A6B7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502920" y="6547104"/>
            <a:ext cx="7315200" cy="25603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A6B7B"/>
                </a:solidFill>
                <a:latin typeface="PingFang SC" panose="020B0400000000000000" charset="-122"/>
                <a:ea typeface="PingFang SC" panose="020B0400000000000000" charset="-122"/>
              </a:rPr>
              <a:t>脑血管 PINNs 点云论文 · 阅读与对照</a:t>
            </a:r>
            <a:endParaRPr sz="850" b="0">
              <a:solidFill>
                <a:srgbClr val="5A6B7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9265615" y="6547104"/>
            <a:ext cx="2423160" cy="25603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A6B7B"/>
                </a:solidFill>
                <a:latin typeface="PingFang SC" panose="020B0400000000000000" charset="-122"/>
                <a:ea typeface="PingFang SC" panose="020B0400000000000000" charset="-122"/>
              </a:rPr>
              <a:t>2026-06-11  ·  科研汇报</a:t>
            </a:r>
            <a:endParaRPr sz="850" b="0">
              <a:solidFill>
                <a:srgbClr val="5A6B7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38100"/>
          </a:xfrm>
          <a:prstGeom prst="rect">
            <a:avLst/>
          </a:prstGeom>
          <a:solidFill>
            <a:srgbClr val="16A0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0584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6A0B8"/>
                </a:solidFill>
                <a:latin typeface="PingFang SC" panose="020B0400000000000000" charset="-122"/>
                <a:ea typeface="PingFang SC" panose="020B0400000000000000" charset="-122"/>
              </a:rPr>
              <a:t>01 · POSITIONING</a:t>
            </a:r>
            <a:endParaRPr sz="1150" b="1">
              <a:solidFill>
                <a:srgbClr val="16A0B8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459677"/>
            <a:ext cx="10607040" cy="379095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</a:rPr>
              <a:t>定位：相似，但不同在 WSS</a:t>
            </a:r>
            <a:endParaRPr sz="23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1323015" y="310896"/>
            <a:ext cx="457200" cy="457200"/>
          </a:xfrm>
          <a:prstGeom prst="rect">
            <a:avLst/>
          </a:prstGeom>
          <a:solidFill>
            <a:srgbClr val="16A0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23015" y="310896"/>
            <a:ext cx="457200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</a:rPr>
              <a:t>03</a:t>
            </a:r>
            <a:endParaRPr sz="14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48640" y="1280160"/>
            <a:ext cx="11091672" cy="13258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280160"/>
            <a:ext cx="76200" cy="1325880"/>
          </a:xfrm>
          <a:prstGeom prst="rect">
            <a:avLst/>
          </a:prstGeom>
          <a:solidFill>
            <a:srgbClr val="16A0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632268"/>
            <a:ext cx="10515600" cy="667385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</a:rPr>
              <a:t>在病例数很少的脑血管 CFD 数据上，用 </a:t>
            </a:r>
            <a:r>
              <a:rPr sz="1600" b="1">
                <a:solidFill>
                  <a:srgbClr val="9EE8F4"/>
                </a:solidFill>
                <a:latin typeface="PingFang SC" panose="020B0400000000000000" charset="-122"/>
                <a:ea typeface="PingFang SC" panose="020B0400000000000000" charset="-122"/>
              </a:rPr>
              <a:t>点云网络 + 物理方程约束 + 点云重采样</a:t>
            </a:r>
            <a:r>
              <a:rPr sz="1600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</a:rPr>
              <a:t>，</a:t>
            </a:r>
            <a:endParaRPr sz="1600" b="0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</a:rPr>
              <a:t>快速预测三维速度场与压力场 —— </a:t>
            </a:r>
            <a:r>
              <a:rPr sz="1600" b="1">
                <a:solidFill>
                  <a:srgbClr val="9EE8F4"/>
                </a:solidFill>
                <a:latin typeface="PingFang SC" panose="020B0400000000000000" charset="-122"/>
                <a:ea typeface="PingFang SC" panose="020B0400000000000000" charset="-122"/>
              </a:rPr>
              <a:t>早期 V1 路线</a:t>
            </a:r>
            <a:endParaRPr sz="1600" b="0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48640" y="2880360"/>
            <a:ext cx="5440680" cy="457200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988628"/>
            <a:ext cx="5440680" cy="240665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</a:rPr>
              <a:t>相似之处</a:t>
            </a:r>
            <a:endParaRPr sz="14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48640" y="3337560"/>
            <a:ext cx="5440680" cy="3017520"/>
          </a:xfrm>
          <a:prstGeom prst="rect">
            <a:avLst/>
          </a:prstGeom>
          <a:solidFill>
            <a:srgbClr val="F6F9FC"/>
          </a:solidFill>
          <a:ln w="9525">
            <a:solidFill>
              <a:srgbClr val="D7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520440"/>
            <a:ext cx="5029200" cy="274320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350" b="1">
                <a:solidFill>
                  <a:srgbClr val="1E8E5A"/>
                </a:solidFill>
                <a:latin typeface="PingFang SC" panose="020B0400000000000000" charset="-122"/>
              </a:rPr>
              <a:t>▸  </a:t>
            </a:r>
            <a:r>
              <a:rPr sz="1350">
                <a:solidFill>
                  <a:srgbClr val="213040"/>
                </a:solidFill>
                <a:latin typeface="PingFang SC" panose="020B0400000000000000" charset="-122"/>
                <a:ea typeface="PingFang SC" panose="020B0400000000000000" charset="-122"/>
              </a:rPr>
              <a:t>患者特异性血管几何 + CFD 结果作监督</a:t>
            </a:r>
            <a:endParaRPr sz="1350">
              <a:solidFill>
                <a:srgbClr val="213040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350" b="1">
                <a:solidFill>
                  <a:srgbClr val="1E8E5A"/>
                </a:solidFill>
                <a:latin typeface="PingFang SC" panose="020B0400000000000000" charset="-122"/>
              </a:rPr>
              <a:t>▸  </a:t>
            </a:r>
            <a:r>
              <a:rPr sz="1350">
                <a:solidFill>
                  <a:srgbClr val="213040"/>
                </a:solidFill>
                <a:latin typeface="PingFang SC" panose="020B0400000000000000" charset="-122"/>
                <a:ea typeface="PingFang SC" panose="020B0400000000000000" charset="-122"/>
              </a:rPr>
              <a:t>都希望用深度学习替代耗时 CFD</a:t>
            </a:r>
            <a:endParaRPr sz="1350">
              <a:solidFill>
                <a:srgbClr val="213040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350" b="1">
                <a:solidFill>
                  <a:srgbClr val="1E8E5A"/>
                </a:solidFill>
                <a:latin typeface="PingFang SC" panose="020B0400000000000000" charset="-122"/>
              </a:rPr>
              <a:t>▸  </a:t>
            </a:r>
            <a:r>
              <a:rPr sz="1350">
                <a:solidFill>
                  <a:srgbClr val="213040"/>
                </a:solidFill>
                <a:latin typeface="PingFang SC" panose="020B0400000000000000" charset="-122"/>
                <a:ea typeface="PingFang SC" panose="020B0400000000000000" charset="-122"/>
              </a:rPr>
              <a:t>都以点云 / 三维空间点为主要数据表达</a:t>
            </a:r>
            <a:endParaRPr sz="1350">
              <a:solidFill>
                <a:srgbClr val="213040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350" b="1">
                <a:solidFill>
                  <a:srgbClr val="1E8E5A"/>
                </a:solidFill>
                <a:latin typeface="PingFang SC" panose="020B0400000000000000" charset="-122"/>
              </a:rPr>
              <a:t>▸  </a:t>
            </a:r>
            <a:r>
              <a:rPr sz="1350">
                <a:solidFill>
                  <a:srgbClr val="213040"/>
                </a:solidFill>
                <a:latin typeface="PingFang SC" panose="020B0400000000000000" charset="-122"/>
                <a:ea typeface="PingFang SC" panose="020B0400000000000000" charset="-122"/>
              </a:rPr>
              <a:t>都关心脑血管血流动力学参数</a:t>
            </a:r>
            <a:endParaRPr sz="1350">
              <a:solidFill>
                <a:srgbClr val="213040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350" b="1">
                <a:solidFill>
                  <a:srgbClr val="1E8E5A"/>
                </a:solidFill>
                <a:latin typeface="PingFang SC" panose="020B0400000000000000" charset="-122"/>
              </a:rPr>
              <a:t>▸  </a:t>
            </a:r>
            <a:r>
              <a:rPr sz="1350">
                <a:solidFill>
                  <a:srgbClr val="213040"/>
                </a:solidFill>
                <a:latin typeface="PingFang SC" panose="020B0400000000000000" charset="-122"/>
                <a:ea typeface="PingFang SC" panose="020B0400000000000000" charset="-122"/>
              </a:rPr>
              <a:t>都面临小样本、几何差异大、近壁难学</a:t>
            </a:r>
            <a:endParaRPr sz="1350">
              <a:solidFill>
                <a:srgbClr val="213040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199632" y="2880360"/>
            <a:ext cx="5440680" cy="457200"/>
          </a:xfrm>
          <a:prstGeom prst="rect">
            <a:avLst/>
          </a:prstGeom>
          <a:solidFill>
            <a:srgbClr val="D6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99632" y="2988628"/>
            <a:ext cx="5440680" cy="240665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</a:rPr>
              <a:t> 关键差异之处</a:t>
            </a:r>
            <a:endParaRPr sz="14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199632" y="3337560"/>
            <a:ext cx="5440680" cy="3017520"/>
          </a:xfrm>
          <a:prstGeom prst="rect">
            <a:avLst/>
          </a:prstGeom>
          <a:solidFill>
            <a:srgbClr val="F6F9FC"/>
          </a:solidFill>
          <a:ln w="9525">
            <a:solidFill>
              <a:srgbClr val="D7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2" y="3520440"/>
            <a:ext cx="5029200" cy="177419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350" b="1">
                <a:solidFill>
                  <a:srgbClr val="D63A3A"/>
                </a:solidFill>
                <a:latin typeface="PingFang SC" panose="020B0400000000000000" charset="-122"/>
              </a:rPr>
              <a:t>▸  </a:t>
            </a:r>
            <a:r>
              <a:rPr sz="1350">
                <a:solidFill>
                  <a:srgbClr val="213040"/>
                </a:solidFill>
                <a:latin typeface="PingFang SC" panose="020B0400000000000000" charset="-122"/>
                <a:ea typeface="PingFang SC" panose="020B0400000000000000" charset="-122"/>
              </a:rPr>
              <a:t>论文主输出是 速度 Vx/Vy/Vz + 压力 P</a:t>
            </a:r>
            <a:endParaRPr sz="1350">
              <a:solidFill>
                <a:srgbClr val="213040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350" b="1">
                <a:solidFill>
                  <a:srgbClr val="D63A3A"/>
                </a:solidFill>
                <a:latin typeface="PingFang SC" panose="020B0400000000000000" charset="-122"/>
              </a:rPr>
              <a:t>▸  </a:t>
            </a:r>
            <a:r>
              <a:rPr sz="1350">
                <a:solidFill>
                  <a:srgbClr val="D63A3A"/>
                </a:solidFill>
                <a:latin typeface="PingFang SC" panose="020B0400000000000000" charset="-122"/>
                <a:ea typeface="PingFang SC" panose="020B0400000000000000" charset="-122"/>
              </a:rPr>
              <a:t>最难的是 壁面 WSS（尤其</a:t>
            </a:r>
            <a:r>
              <a:rPr lang="en-US" sz="1350">
                <a:solidFill>
                  <a:srgbClr val="D63A3A"/>
                </a:solidFill>
                <a:latin typeface="PingFang SC" panose="020B0400000000000000" charset="-122"/>
                <a:ea typeface="PingFang SC" panose="020B0400000000000000" charset="-122"/>
              </a:rPr>
              <a:t>x，y</a:t>
            </a:r>
            <a:r>
              <a:rPr sz="1350">
                <a:solidFill>
                  <a:srgbClr val="D63A3A"/>
                </a:solidFill>
                <a:latin typeface="PingFang SC" panose="020B0400000000000000" charset="-122"/>
                <a:ea typeface="PingFang SC" panose="020B0400000000000000" charset="-122"/>
              </a:rPr>
              <a:t>向分量）</a:t>
            </a:r>
            <a:endParaRPr sz="1350">
              <a:solidFill>
                <a:srgbClr val="D63A3A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350" b="1">
                <a:solidFill>
                  <a:srgbClr val="D63A3A"/>
                </a:solidFill>
                <a:latin typeface="PingFang SC" panose="020B0400000000000000" charset="-122"/>
              </a:rPr>
              <a:t>▸  </a:t>
            </a:r>
            <a:r>
              <a:rPr sz="1350">
                <a:solidFill>
                  <a:srgbClr val="213040"/>
                </a:solidFill>
                <a:latin typeface="PingFang SC" panose="020B0400000000000000" charset="-122"/>
                <a:ea typeface="PingFang SC" panose="020B0400000000000000" charset="-122"/>
              </a:rPr>
              <a:t>论文不直接输出 WSS，仅用速度/压力算 FR、PD</a:t>
            </a:r>
            <a:endParaRPr sz="1350">
              <a:solidFill>
                <a:srgbClr val="213040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350" b="1">
                <a:solidFill>
                  <a:srgbClr val="D63A3A"/>
                </a:solidFill>
                <a:latin typeface="PingFang SC" panose="020B0400000000000000" charset="-122"/>
              </a:rPr>
              <a:t>▸  </a:t>
            </a:r>
            <a:r>
              <a:rPr sz="1350">
                <a:solidFill>
                  <a:srgbClr val="213040"/>
                </a:solidFill>
                <a:latin typeface="PingFang SC" panose="020B0400000000000000" charset="-122"/>
                <a:ea typeface="PingFang SC" panose="020B0400000000000000" charset="-122"/>
              </a:rPr>
              <a:t>高精度 NMAE ≠ WSS 点级 R² 已经做好</a:t>
            </a:r>
            <a:endParaRPr sz="1350">
              <a:solidFill>
                <a:srgbClr val="213040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>
              <a:lnSpc>
                <a:spcPct val="108000"/>
              </a:lnSpc>
              <a:spcAft>
                <a:spcPts val="1100"/>
              </a:spcAft>
            </a:pPr>
            <a:endParaRPr sz="1350">
              <a:solidFill>
                <a:srgbClr val="0E2A47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02920" y="6547104"/>
            <a:ext cx="7315200" cy="25603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A6B7B"/>
                </a:solidFill>
                <a:latin typeface="PingFang SC" panose="020B0400000000000000" charset="-122"/>
                <a:ea typeface="PingFang SC" panose="020B0400000000000000" charset="-122"/>
              </a:rPr>
              <a:t>脑血管 PINNs 点云论文 · 阅读与对照</a:t>
            </a:r>
            <a:endParaRPr sz="850" b="0">
              <a:solidFill>
                <a:srgbClr val="5A6B7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9265615" y="6547104"/>
            <a:ext cx="2423160" cy="25603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A6B7B"/>
                </a:solidFill>
                <a:latin typeface="PingFang SC" panose="020B0400000000000000" charset="-122"/>
                <a:ea typeface="PingFang SC" panose="020B0400000000000000" charset="-122"/>
              </a:rPr>
              <a:t>2026-06-11  ·  科研汇报</a:t>
            </a:r>
            <a:endParaRPr sz="850" b="0">
              <a:solidFill>
                <a:srgbClr val="5A6B7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38100"/>
          </a:xfrm>
          <a:prstGeom prst="rect">
            <a:avLst/>
          </a:prstGeom>
          <a:solidFill>
            <a:srgbClr val="16A0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0584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6A0B8"/>
                </a:solidFill>
                <a:latin typeface="PingFang SC" panose="020B0400000000000000" charset="-122"/>
                <a:ea typeface="PingFang SC" panose="020B0400000000000000" charset="-122"/>
              </a:rPr>
              <a:t>02 · WHAT THE PAPER DID</a:t>
            </a:r>
            <a:endParaRPr sz="1150" b="1">
              <a:solidFill>
                <a:srgbClr val="16A0B8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459677"/>
            <a:ext cx="10607040" cy="379095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</a:rPr>
              <a:t>数据对象与 CFD 设置</a:t>
            </a:r>
            <a:endParaRPr sz="23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1323015" y="310896"/>
            <a:ext cx="457200" cy="457200"/>
          </a:xfrm>
          <a:prstGeom prst="rect">
            <a:avLst/>
          </a:prstGeom>
          <a:solidFill>
            <a:srgbClr val="16A0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23015" y="310896"/>
            <a:ext cx="457200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</a:rPr>
              <a:t>04</a:t>
            </a:r>
            <a:endParaRPr sz="14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48640" y="2086610"/>
            <a:ext cx="1828800" cy="1207135"/>
          </a:xfrm>
          <a:prstGeom prst="rect">
            <a:avLst/>
          </a:prstGeom>
          <a:solidFill>
            <a:srgbClr val="F6F9FC"/>
          </a:solidFill>
          <a:ln w="9525">
            <a:solidFill>
              <a:srgbClr val="D7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6610"/>
            <a:ext cx="1828800" cy="50800"/>
          </a:xfrm>
          <a:prstGeom prst="rect">
            <a:avLst/>
          </a:prstGeom>
          <a:solidFill>
            <a:srgbClr val="16A0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214880"/>
            <a:ext cx="1828800" cy="5486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0E2A47"/>
                </a:solidFill>
                <a:latin typeface="PingFang SC" panose="020B0400000000000000" charset="-122"/>
                <a:ea typeface="PingFang SC" panose="020B0400000000000000" charset="-122"/>
              </a:rPr>
              <a:t>51</a:t>
            </a:r>
            <a:endParaRPr sz="2400" b="1">
              <a:solidFill>
                <a:srgbClr val="0E2A47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48640" y="2763520"/>
            <a:ext cx="1828800" cy="5029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A6B7B"/>
                </a:solidFill>
                <a:latin typeface="PingFang SC" panose="020B0400000000000000" charset="-122"/>
                <a:ea typeface="PingFang SC" panose="020B0400000000000000" charset="-122"/>
              </a:rPr>
              <a:t>例右侧 ICA
C3–C7 病例</a:t>
            </a:r>
            <a:endParaRPr sz="1050" b="0">
              <a:solidFill>
                <a:srgbClr val="5A6B7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2541905" y="2086610"/>
            <a:ext cx="1828800" cy="1207135"/>
          </a:xfrm>
          <a:prstGeom prst="rect">
            <a:avLst/>
          </a:prstGeom>
          <a:solidFill>
            <a:srgbClr val="F6F9FC"/>
          </a:solidFill>
          <a:ln w="9525">
            <a:solidFill>
              <a:srgbClr val="D7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541905" y="2086610"/>
            <a:ext cx="1828800" cy="50800"/>
          </a:xfrm>
          <a:prstGeom prst="rect">
            <a:avLst/>
          </a:prstGeom>
          <a:solidFill>
            <a:srgbClr val="16A0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41905" y="2214880"/>
            <a:ext cx="1828800" cy="5486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0E2A47"/>
                </a:solidFill>
                <a:latin typeface="PingFang SC" panose="020B0400000000000000" charset="-122"/>
                <a:ea typeface="PingFang SC" panose="020B0400000000000000" charset="-122"/>
              </a:rPr>
              <a:t>49 / 51</a:t>
            </a:r>
            <a:endParaRPr sz="2400" b="1">
              <a:solidFill>
                <a:srgbClr val="0E2A47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541905" y="2763520"/>
            <a:ext cx="1828800" cy="5029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A6B7B"/>
                </a:solidFill>
                <a:latin typeface="PingFang SC" panose="020B0400000000000000" charset="-122"/>
                <a:ea typeface="PingFang SC" panose="020B0400000000000000" charset="-122"/>
              </a:rPr>
              <a:t>含脑动脉瘤</a:t>
            </a:r>
            <a:endParaRPr sz="1050" b="0">
              <a:solidFill>
                <a:srgbClr val="5A6B7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4535170" y="2086610"/>
            <a:ext cx="1828800" cy="1207135"/>
          </a:xfrm>
          <a:prstGeom prst="rect">
            <a:avLst/>
          </a:prstGeom>
          <a:solidFill>
            <a:srgbClr val="F6F9FC"/>
          </a:solidFill>
          <a:ln w="9525">
            <a:solidFill>
              <a:srgbClr val="D7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35170" y="2086610"/>
            <a:ext cx="1828800" cy="50800"/>
          </a:xfrm>
          <a:prstGeom prst="rect">
            <a:avLst/>
          </a:prstGeom>
          <a:solidFill>
            <a:srgbClr val="16A0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35170" y="2214880"/>
            <a:ext cx="1828800" cy="5486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0E2A47"/>
                </a:solidFill>
                <a:latin typeface="PingFang SC" panose="020B0400000000000000" charset="-122"/>
                <a:ea typeface="PingFang SC" panose="020B0400000000000000" charset="-122"/>
              </a:rPr>
              <a:t>40 / 11</a:t>
            </a:r>
            <a:endParaRPr sz="2400" b="1">
              <a:solidFill>
                <a:srgbClr val="0E2A47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535170" y="2763520"/>
            <a:ext cx="1828800" cy="5029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A6B7B"/>
                </a:solidFill>
                <a:latin typeface="PingFang SC" panose="020B0400000000000000" charset="-122"/>
                <a:ea typeface="PingFang SC" panose="020B0400000000000000" charset="-122"/>
              </a:rPr>
              <a:t>训练 / 测试划分</a:t>
            </a:r>
            <a:endParaRPr sz="1050" b="0">
              <a:solidFill>
                <a:srgbClr val="5A6B7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548640" y="3458210"/>
            <a:ext cx="1828800" cy="1207135"/>
          </a:xfrm>
          <a:prstGeom prst="rect">
            <a:avLst/>
          </a:prstGeom>
          <a:solidFill>
            <a:srgbClr val="F6F9FC"/>
          </a:solidFill>
          <a:ln w="9525">
            <a:solidFill>
              <a:srgbClr val="D7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3458210"/>
            <a:ext cx="1828800" cy="50800"/>
          </a:xfrm>
          <a:prstGeom prst="rect">
            <a:avLst/>
          </a:prstGeom>
          <a:solidFill>
            <a:srgbClr val="16A0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3586480"/>
            <a:ext cx="1828800" cy="5486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0E2A47"/>
                </a:solidFill>
                <a:latin typeface="PingFang SC" panose="020B0400000000000000" charset="-122"/>
                <a:ea typeface="PingFang SC" panose="020B0400000000000000" charset="-122"/>
              </a:rPr>
              <a:t>~50万</a:t>
            </a:r>
            <a:endParaRPr sz="2400" b="1">
              <a:solidFill>
                <a:srgbClr val="0E2A47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48640" y="4135120"/>
            <a:ext cx="1828800" cy="5029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A6B7B"/>
                </a:solidFill>
                <a:latin typeface="PingFang SC" panose="020B0400000000000000" charset="-122"/>
                <a:ea typeface="PingFang SC" panose="020B0400000000000000" charset="-122"/>
              </a:rPr>
              <a:t>mesh elements / 例</a:t>
            </a:r>
            <a:endParaRPr sz="1050" b="0">
              <a:solidFill>
                <a:srgbClr val="5A6B7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2541905" y="3458210"/>
            <a:ext cx="1828800" cy="1207135"/>
          </a:xfrm>
          <a:prstGeom prst="rect">
            <a:avLst/>
          </a:prstGeom>
          <a:solidFill>
            <a:srgbClr val="F6F9FC"/>
          </a:solidFill>
          <a:ln w="9525">
            <a:solidFill>
              <a:srgbClr val="D7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541905" y="3458210"/>
            <a:ext cx="1828800" cy="50800"/>
          </a:xfrm>
          <a:prstGeom prst="rect">
            <a:avLst/>
          </a:prstGeom>
          <a:solidFill>
            <a:srgbClr val="16A0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541905" y="3586480"/>
            <a:ext cx="1828800" cy="5486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0E2A47"/>
                </a:solidFill>
                <a:latin typeface="PingFang SC" panose="020B0400000000000000" charset="-122"/>
                <a:ea typeface="PingFang SC" panose="020B0400000000000000" charset="-122"/>
              </a:rPr>
              <a:t>10,000</a:t>
            </a:r>
            <a:endParaRPr sz="2400" b="1">
              <a:solidFill>
                <a:srgbClr val="0E2A47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541905" y="4135120"/>
            <a:ext cx="1828800" cy="5029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A6B7B"/>
                </a:solidFill>
                <a:latin typeface="PingFang SC" panose="020B0400000000000000" charset="-122"/>
                <a:ea typeface="PingFang SC" panose="020B0400000000000000" charset="-122"/>
              </a:rPr>
              <a:t>重采样点 / 例</a:t>
            </a:r>
            <a:endParaRPr sz="1050" b="0">
              <a:solidFill>
                <a:srgbClr val="5A6B7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4535170" y="3458210"/>
            <a:ext cx="1828800" cy="1207135"/>
          </a:xfrm>
          <a:prstGeom prst="rect">
            <a:avLst/>
          </a:prstGeom>
          <a:solidFill>
            <a:srgbClr val="F6F9FC"/>
          </a:solidFill>
          <a:ln w="9525">
            <a:solidFill>
              <a:srgbClr val="D7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35170" y="3458210"/>
            <a:ext cx="1828800" cy="50800"/>
          </a:xfrm>
          <a:prstGeom prst="rect">
            <a:avLst/>
          </a:prstGeom>
          <a:solidFill>
            <a:srgbClr val="16A0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35170" y="3586480"/>
            <a:ext cx="1828800" cy="5486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0E2A47"/>
                </a:solidFill>
                <a:latin typeface="PingFang SC" panose="020B0400000000000000" charset="-122"/>
                <a:ea typeface="PingFang SC" panose="020B0400000000000000" charset="-122"/>
              </a:rPr>
              <a:t>4×</a:t>
            </a:r>
            <a:endParaRPr sz="2400" b="1">
              <a:solidFill>
                <a:srgbClr val="0E2A47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4535170" y="4135120"/>
            <a:ext cx="1828800" cy="5029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A6B7B"/>
                </a:solidFill>
                <a:latin typeface="PingFang SC" panose="020B0400000000000000" charset="-122"/>
                <a:ea typeface="PingFang SC" panose="020B0400000000000000" charset="-122"/>
              </a:rPr>
              <a:t>随机划分
Monte-Carlo CV</a:t>
            </a:r>
            <a:endParaRPr sz="1050" b="0">
              <a:solidFill>
                <a:srgbClr val="5A6B7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6583680" y="1325880"/>
            <a:ext cx="5074920" cy="448056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583680" y="1325880"/>
            <a:ext cx="63500" cy="4480560"/>
          </a:xfrm>
          <a:prstGeom prst="rect">
            <a:avLst/>
          </a:prstGeom>
          <a:solidFill>
            <a:srgbClr val="16A0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8000" y="1481328"/>
            <a:ext cx="4572000" cy="4114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</a:rPr>
              <a:t>CFD 计算设置</a:t>
            </a:r>
            <a:endParaRPr sz="16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858000" y="2011680"/>
            <a:ext cx="4617720" cy="365760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250" b="1">
                <a:solidFill>
                  <a:srgbClr val="16A0B8"/>
                </a:solidFill>
                <a:latin typeface="PingFang SC" panose="020B0400000000000000" charset="-122"/>
              </a:rPr>
              <a:t>▸  </a:t>
            </a:r>
            <a:r>
              <a:rPr sz="125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</a:rPr>
              <a:t>研究区域：ICA C3–C7，含 carotid siphon 复杂弯曲段</a:t>
            </a:r>
            <a:endParaRPr sz="1250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250" b="1">
                <a:solidFill>
                  <a:srgbClr val="16A0B8"/>
                </a:solidFill>
                <a:latin typeface="PingFang SC" panose="020B0400000000000000" charset="-122"/>
              </a:rPr>
              <a:t>▸  </a:t>
            </a:r>
            <a:r>
              <a:rPr sz="125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</a:rPr>
              <a:t>稳态、不可压、Newtonian 流体；控制方程 Navier–Stokes</a:t>
            </a:r>
            <a:endParaRPr sz="1250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250" b="1">
                <a:solidFill>
                  <a:srgbClr val="16A0B8"/>
                </a:solidFill>
                <a:latin typeface="PingFang SC" panose="020B0400000000000000" charset="-122"/>
              </a:rPr>
              <a:t>▸  </a:t>
            </a:r>
            <a:r>
              <a:rPr sz="1250">
                <a:solidFill>
                  <a:srgbClr val="9EE8F4"/>
                </a:solidFill>
                <a:latin typeface="PingFang SC" panose="020B0400000000000000" charset="-122"/>
                <a:ea typeface="PingFang SC" panose="020B0400000000000000" charset="-122"/>
              </a:rPr>
              <a:t>速度入口，入口 WSS 调整到 1.5 Pa</a:t>
            </a:r>
            <a:endParaRPr sz="1250">
              <a:solidFill>
                <a:srgbClr val="9EE8F4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250" b="1">
                <a:solidFill>
                  <a:srgbClr val="16A0B8"/>
                </a:solidFill>
                <a:latin typeface="PingFang SC" panose="020B0400000000000000" charset="-122"/>
              </a:rPr>
              <a:t>▸  </a:t>
            </a:r>
            <a:r>
              <a:rPr sz="125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</a:rPr>
              <a:t>出口流量按出口面积平方律分配</a:t>
            </a:r>
            <a:endParaRPr sz="1250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250" b="1">
                <a:solidFill>
                  <a:srgbClr val="16A0B8"/>
                </a:solidFill>
                <a:latin typeface="PingFang SC" panose="020B0400000000000000" charset="-122"/>
              </a:rPr>
              <a:t>▸  </a:t>
            </a:r>
            <a:r>
              <a:rPr sz="125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</a:rPr>
              <a:t>壁面 no-slip；ANSYS Fluent 求解</a:t>
            </a:r>
            <a:endParaRPr sz="1250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250" b="1">
                <a:solidFill>
                  <a:srgbClr val="16A0B8"/>
                </a:solidFill>
                <a:latin typeface="PingFang SC" panose="020B0400000000000000" charset="-122"/>
              </a:rPr>
              <a:t>▸  </a:t>
            </a:r>
            <a:r>
              <a:rPr sz="125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</a:rPr>
              <a:t>血液密度 1050 kg/m³，黏度 0.004 Pa·s</a:t>
            </a:r>
            <a:endParaRPr sz="1250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250" b="1">
                <a:solidFill>
                  <a:srgbClr val="16A0B8"/>
                </a:solidFill>
                <a:latin typeface="PingFang SC" panose="020B0400000000000000" charset="-122"/>
              </a:rPr>
              <a:t>▸  </a:t>
            </a:r>
            <a:r>
              <a:rPr sz="1250">
                <a:solidFill>
                  <a:srgbClr val="FFC9C9"/>
                </a:solidFill>
                <a:latin typeface="PingFang SC" panose="020B0400000000000000" charset="-122"/>
                <a:ea typeface="PingFang SC" panose="020B0400000000000000" charset="-122"/>
              </a:rPr>
              <a:t>输出标签：每点 Vx / Vy / Vz / P（不含 WSS）</a:t>
            </a:r>
            <a:endParaRPr sz="1250">
              <a:solidFill>
                <a:srgbClr val="FFC9C9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502920" y="6547104"/>
            <a:ext cx="7315200" cy="25603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A6B7B"/>
                </a:solidFill>
                <a:latin typeface="PingFang SC" panose="020B0400000000000000" charset="-122"/>
                <a:ea typeface="PingFang SC" panose="020B0400000000000000" charset="-122"/>
              </a:rPr>
              <a:t>脑血管 PINNs 点云论文 · 阅读与对照</a:t>
            </a:r>
            <a:endParaRPr sz="850" b="0">
              <a:solidFill>
                <a:srgbClr val="5A6B7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9265615" y="6547104"/>
            <a:ext cx="2423160" cy="25603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A6B7B"/>
                </a:solidFill>
                <a:latin typeface="PingFang SC" panose="020B0400000000000000" charset="-122"/>
                <a:ea typeface="PingFang SC" panose="020B0400000000000000" charset="-122"/>
              </a:rPr>
              <a:t>2026-06-11  ·  科研汇报</a:t>
            </a:r>
            <a:endParaRPr sz="850" b="0">
              <a:solidFill>
                <a:srgbClr val="5A6B7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38100"/>
          </a:xfrm>
          <a:prstGeom prst="rect">
            <a:avLst/>
          </a:prstGeom>
          <a:solidFill>
            <a:srgbClr val="16A0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0584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6A0B8"/>
                </a:solidFill>
                <a:latin typeface="PingFang SC" panose="020B0400000000000000" charset="-122"/>
                <a:ea typeface="PingFang SC" panose="020B0400000000000000" charset="-122"/>
              </a:rPr>
              <a:t>02 · WHAT THE PAPER DID</a:t>
            </a:r>
            <a:endParaRPr sz="1150" b="1">
              <a:solidFill>
                <a:srgbClr val="16A0B8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459677"/>
            <a:ext cx="10607040" cy="379095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</a:rPr>
              <a:t>点云预处理与 PINNs 网络</a:t>
            </a:r>
            <a:endParaRPr sz="23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1323015" y="310896"/>
            <a:ext cx="457200" cy="457200"/>
          </a:xfrm>
          <a:prstGeom prst="rect">
            <a:avLst/>
          </a:prstGeom>
          <a:solidFill>
            <a:srgbClr val="16A0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23015" y="310896"/>
            <a:ext cx="457200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</a:rPr>
              <a:t>05</a:t>
            </a:r>
            <a:endParaRPr sz="14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548640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E2A47"/>
                </a:solidFill>
                <a:latin typeface="PingFang SC" panose="020B0400000000000000" charset="-122"/>
                <a:ea typeface="PingFang SC" panose="020B0400000000000000" charset="-122"/>
              </a:rPr>
              <a:t>① 点云均匀化预处理</a:t>
            </a:r>
            <a:endParaRPr sz="1500" b="1">
              <a:solidFill>
                <a:srgbClr val="0E2A47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48640" y="1627632"/>
            <a:ext cx="5212080" cy="457200"/>
          </a:xfrm>
          <a:prstGeom prst="rect">
            <a:avLst/>
          </a:prstGeom>
          <a:solidFill>
            <a:srgbClr val="EDF2F7"/>
          </a:solidFill>
          <a:ln w="6350">
            <a:solidFill>
              <a:srgbClr val="D7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627632"/>
            <a:ext cx="4937760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213040"/>
                </a:solidFill>
                <a:latin typeface="PingFang SC" panose="020B0400000000000000" charset="-122"/>
                <a:ea typeface="PingFang SC" panose="020B0400000000000000" charset="-122"/>
              </a:rPr>
              <a:t>CFD mesh 点（近壁过密、分布不均）</a:t>
            </a:r>
            <a:endParaRPr sz="1150" b="0">
              <a:solidFill>
                <a:srgbClr val="213040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1" name="Down Arrow 10"/>
          <p:cNvSpPr/>
          <p:nvPr/>
        </p:nvSpPr>
        <p:spPr>
          <a:xfrm>
            <a:off x="2971800" y="2084832"/>
            <a:ext cx="182880" cy="146304"/>
          </a:xfrm>
          <a:prstGeom prst="downArrow">
            <a:avLst/>
          </a:prstGeom>
          <a:solidFill>
            <a:srgbClr val="16A0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231136"/>
            <a:ext cx="5212080" cy="457200"/>
          </a:xfrm>
          <a:prstGeom prst="rect">
            <a:avLst/>
          </a:prstGeom>
          <a:solidFill>
            <a:srgbClr val="EAF1F8"/>
          </a:solidFill>
          <a:ln w="6350">
            <a:solidFill>
              <a:srgbClr val="D7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231136"/>
            <a:ext cx="4937760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213040"/>
                </a:solidFill>
                <a:latin typeface="PingFang SC" panose="020B0400000000000000" charset="-122"/>
                <a:ea typeface="PingFang SC" panose="020B0400000000000000" charset="-122"/>
              </a:rPr>
              <a:t>voxelization：0.05 mm 体素</a:t>
            </a:r>
            <a:endParaRPr sz="1150" b="0">
              <a:solidFill>
                <a:srgbClr val="213040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4" name="Down Arrow 13"/>
          <p:cNvSpPr/>
          <p:nvPr/>
        </p:nvSpPr>
        <p:spPr>
          <a:xfrm>
            <a:off x="2971800" y="2688336"/>
            <a:ext cx="182880" cy="146304"/>
          </a:xfrm>
          <a:prstGeom prst="downArrow">
            <a:avLst/>
          </a:prstGeom>
          <a:solidFill>
            <a:srgbClr val="16A0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2834640"/>
            <a:ext cx="5212080" cy="457200"/>
          </a:xfrm>
          <a:prstGeom prst="rect">
            <a:avLst/>
          </a:prstGeom>
          <a:solidFill>
            <a:srgbClr val="EDF2F7"/>
          </a:solidFill>
          <a:ln w="6350">
            <a:solidFill>
              <a:srgbClr val="D7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2834640"/>
            <a:ext cx="4937760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213040"/>
                </a:solidFill>
                <a:latin typeface="PingFang SC" panose="020B0400000000000000" charset="-122"/>
                <a:ea typeface="PingFang SC" panose="020B0400000000000000" charset="-122"/>
              </a:rPr>
              <a:t>体素内随机生成新点</a:t>
            </a:r>
            <a:endParaRPr sz="1150" b="0">
              <a:solidFill>
                <a:srgbClr val="213040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7" name="Down Arrow 16"/>
          <p:cNvSpPr/>
          <p:nvPr/>
        </p:nvSpPr>
        <p:spPr>
          <a:xfrm>
            <a:off x="2971800" y="3291840"/>
            <a:ext cx="182880" cy="146304"/>
          </a:xfrm>
          <a:prstGeom prst="downArrow">
            <a:avLst/>
          </a:prstGeom>
          <a:solidFill>
            <a:srgbClr val="16A0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3438144"/>
            <a:ext cx="5212080" cy="457200"/>
          </a:xfrm>
          <a:prstGeom prst="rect">
            <a:avLst/>
          </a:prstGeom>
          <a:solidFill>
            <a:srgbClr val="EAF1F8"/>
          </a:solidFill>
          <a:ln w="6350">
            <a:solidFill>
              <a:srgbClr val="D7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438144"/>
            <a:ext cx="4937760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213040"/>
                </a:solidFill>
                <a:latin typeface="PingFang SC" panose="020B0400000000000000" charset="-122"/>
                <a:ea typeface="PingFang SC" panose="020B0400000000000000" charset="-122"/>
              </a:rPr>
              <a:t>同体素原始点按距离加权插值 Vx/Vy/Vz/P</a:t>
            </a:r>
            <a:endParaRPr sz="1150" b="0">
              <a:solidFill>
                <a:srgbClr val="213040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0" name="Down Arrow 19"/>
          <p:cNvSpPr/>
          <p:nvPr/>
        </p:nvSpPr>
        <p:spPr>
          <a:xfrm>
            <a:off x="2971800" y="3895344"/>
            <a:ext cx="182880" cy="146304"/>
          </a:xfrm>
          <a:prstGeom prst="downArrow">
            <a:avLst/>
          </a:prstGeom>
          <a:solidFill>
            <a:srgbClr val="16A0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4041648"/>
            <a:ext cx="5212080" cy="457200"/>
          </a:xfrm>
          <a:prstGeom prst="rect">
            <a:avLst/>
          </a:prstGeom>
          <a:solidFill>
            <a:srgbClr val="EDF2F7"/>
          </a:solidFill>
          <a:ln w="6350">
            <a:solidFill>
              <a:srgbClr val="D7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4041648"/>
            <a:ext cx="4937760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213040"/>
                </a:solidFill>
                <a:latin typeface="PingFang SC" panose="020B0400000000000000" charset="-122"/>
                <a:ea typeface="PingFang SC" panose="020B0400000000000000" charset="-122"/>
              </a:rPr>
              <a:t>每例重采样到 10,000 点</a:t>
            </a:r>
            <a:endParaRPr sz="1150" b="0">
              <a:solidFill>
                <a:srgbClr val="213040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548640" y="4754880"/>
            <a:ext cx="5212080" cy="868680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2" y="4846320"/>
            <a:ext cx="4937760" cy="7315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</a:rPr>
              <a:t>均匀性 uniform loss：26366 → 606</a:t>
            </a:r>
            <a:endParaRPr sz="13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DEF6E8"/>
                </a:solidFill>
                <a:latin typeface="PingFang SC" panose="020B0400000000000000" charset="-122"/>
                <a:ea typeface="PingFang SC" panose="020B0400000000000000" charset="-122"/>
              </a:rPr>
              <a:t>改善 97.70%；Hausdorff 距离证流场分布几乎不变</a:t>
            </a:r>
            <a:endParaRPr sz="1100" b="0">
              <a:solidFill>
                <a:srgbClr val="DEF6E8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172200" y="1234440"/>
            <a:ext cx="548640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E2A47"/>
                </a:solidFill>
                <a:latin typeface="PingFang SC" panose="020B0400000000000000" charset="-122"/>
                <a:ea typeface="PingFang SC" panose="020B0400000000000000" charset="-122"/>
              </a:rPr>
              <a:t>② PointNet 式网络 + PINNs 物理模块</a:t>
            </a:r>
            <a:endParaRPr sz="1500" b="1">
              <a:solidFill>
                <a:srgbClr val="0E2A47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6172200" y="1664208"/>
            <a:ext cx="5486400" cy="731520"/>
          </a:xfrm>
          <a:prstGeom prst="rect">
            <a:avLst/>
          </a:prstGeom>
          <a:solidFill>
            <a:srgbClr val="F6F9FC"/>
          </a:solidFill>
          <a:ln w="9525">
            <a:solidFill>
              <a:srgbClr val="D7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72200" y="1664208"/>
            <a:ext cx="1234440" cy="731520"/>
          </a:xfrm>
          <a:prstGeom prst="rect">
            <a:avLst/>
          </a:prstGeom>
          <a:solidFill>
            <a:srgbClr val="2E6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72200" y="1664208"/>
            <a:ext cx="1234440" cy="7315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</a:rPr>
              <a:t>Module 1</a:t>
            </a:r>
            <a:endParaRPr sz="125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543800" y="1664208"/>
            <a:ext cx="4023360" cy="7315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213040"/>
                </a:solidFill>
                <a:latin typeface="PingFang SC" panose="020B0400000000000000" charset="-122"/>
                <a:ea typeface="PingFang SC" panose="020B0400000000000000" charset="-122"/>
              </a:rPr>
              <a:t>shared Conv1d 提局部/点级特征 → max pooling 得全局特征</a:t>
            </a:r>
            <a:endParaRPr sz="1100" b="0">
              <a:solidFill>
                <a:srgbClr val="213040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6172200" y="2532888"/>
            <a:ext cx="5486400" cy="731520"/>
          </a:xfrm>
          <a:prstGeom prst="rect">
            <a:avLst/>
          </a:prstGeom>
          <a:solidFill>
            <a:srgbClr val="F6F9FC"/>
          </a:solidFill>
          <a:ln w="9525">
            <a:solidFill>
              <a:srgbClr val="D7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72200" y="2532888"/>
            <a:ext cx="1234440" cy="731520"/>
          </a:xfrm>
          <a:prstGeom prst="rect">
            <a:avLst/>
          </a:prstGeom>
          <a:solidFill>
            <a:srgbClr val="2E6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72200" y="2532888"/>
            <a:ext cx="1234440" cy="7315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</a:rPr>
              <a:t>Module 2</a:t>
            </a:r>
            <a:endParaRPr sz="125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7543800" y="2532888"/>
            <a:ext cx="4023360" cy="7315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213040"/>
                </a:solidFill>
                <a:latin typeface="PingFang SC" panose="020B0400000000000000" charset="-122"/>
                <a:ea typeface="PingFang SC" panose="020B0400000000000000" charset="-122"/>
              </a:rPr>
              <a:t>拼接局部 + 全局特征 → 输出 Vx / Vy / Vz / P</a:t>
            </a:r>
            <a:endParaRPr sz="1100" b="0">
              <a:solidFill>
                <a:srgbClr val="213040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6172200" y="3401568"/>
            <a:ext cx="5486400" cy="731520"/>
          </a:xfrm>
          <a:prstGeom prst="rect">
            <a:avLst/>
          </a:prstGeom>
          <a:solidFill>
            <a:srgbClr val="F6F9FC"/>
          </a:solidFill>
          <a:ln w="9525">
            <a:solidFill>
              <a:srgbClr val="D7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172200" y="3401568"/>
            <a:ext cx="1234440" cy="731520"/>
          </a:xfrm>
          <a:prstGeom prst="rect">
            <a:avLst/>
          </a:prstGeom>
          <a:solidFill>
            <a:srgbClr val="16A0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72200" y="3401568"/>
            <a:ext cx="1234440" cy="7315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</a:rPr>
              <a:t>Module 3</a:t>
            </a:r>
            <a:endParaRPr sz="125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7543800" y="3401568"/>
            <a:ext cx="4023360" cy="7315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213040"/>
                </a:solidFill>
                <a:latin typeface="PingFang SC" panose="020B0400000000000000" charset="-122"/>
                <a:ea typeface="PingFang SC" panose="020B0400000000000000" charset="-122"/>
              </a:rPr>
              <a:t>PINNs：自动微分算 N-S 残差 + 壁面 no-slip 约束</a:t>
            </a:r>
            <a:endParaRPr sz="1100" b="0">
              <a:solidFill>
                <a:srgbClr val="213040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6172200" y="4343400"/>
            <a:ext cx="5486400" cy="566928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55080" y="4343400"/>
            <a:ext cx="5212080" cy="56692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9EE8F4"/>
                </a:solidFill>
                <a:latin typeface="Consolas"/>
                <a:ea typeface="Consolas"/>
              </a:rPr>
              <a:t>loss = loss_data + ω · loss_phy</a:t>
            </a:r>
            <a:r>
              <a:rPr sz="1100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</a:rPr>
              <a:t>   （ω 每 10 epoch 动态更新）</a:t>
            </a:r>
            <a:endParaRPr sz="1100" b="0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6172200" y="5029200"/>
            <a:ext cx="5486400" cy="6400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5A6B7B"/>
                </a:solidFill>
                <a:latin typeface="PingFang SC" panose="020B0400000000000000" charset="-122"/>
                <a:ea typeface="PingFang SC" panose="020B0400000000000000" charset="-122"/>
              </a:rPr>
              <a:t>训练：PyTorch 2.3 · Tesla P100 · batch=1 · 15000 epoch</a:t>
            </a:r>
            <a:endParaRPr sz="1050" b="0">
              <a:solidFill>
                <a:srgbClr val="5A6B7B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5A6B7B"/>
                </a:solidFill>
                <a:latin typeface="PingFang SC" panose="020B0400000000000000" charset="-122"/>
                <a:ea typeface="PingFang SC" panose="020B0400000000000000" charset="-122"/>
              </a:rPr>
              <a:t>Adam lr 0.003 · ReduceLROnPlateau · dropout 0.5</a:t>
            </a:r>
            <a:endParaRPr sz="1050" b="0">
              <a:solidFill>
                <a:srgbClr val="5A6B7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502920" y="6547104"/>
            <a:ext cx="7315200" cy="25603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A6B7B"/>
                </a:solidFill>
                <a:latin typeface="PingFang SC" panose="020B0400000000000000" charset="-122"/>
                <a:ea typeface="PingFang SC" panose="020B0400000000000000" charset="-122"/>
              </a:rPr>
              <a:t>脑血管 PINNs 点云论文 · 阅读与对照</a:t>
            </a:r>
            <a:endParaRPr sz="850" b="0">
              <a:solidFill>
                <a:srgbClr val="5A6B7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9265615" y="6547104"/>
            <a:ext cx="2423160" cy="25603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A6B7B"/>
                </a:solidFill>
                <a:latin typeface="PingFang SC" panose="020B0400000000000000" charset="-122"/>
                <a:ea typeface="PingFang SC" panose="020B0400000000000000" charset="-122"/>
              </a:rPr>
              <a:t>2026-06-11  ·  科研汇报</a:t>
            </a:r>
            <a:endParaRPr sz="850" b="0">
              <a:solidFill>
                <a:srgbClr val="5A6B7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38100"/>
          </a:xfrm>
          <a:prstGeom prst="rect">
            <a:avLst/>
          </a:prstGeom>
          <a:solidFill>
            <a:srgbClr val="16A0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0584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6A0B8"/>
                </a:solidFill>
                <a:latin typeface="PingFang SC" panose="020B0400000000000000" charset="-122"/>
                <a:ea typeface="PingFang SC" panose="020B0400000000000000" charset="-122"/>
              </a:rPr>
              <a:t>03 · RESULTS</a:t>
            </a:r>
            <a:endParaRPr sz="1150" b="1">
              <a:solidFill>
                <a:srgbClr val="16A0B8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0607040" cy="56692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</a:rPr>
              <a:t>论文主要结果：四组消融 + 临床指标</a:t>
            </a:r>
            <a:endParaRPr sz="23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1323015" y="310896"/>
            <a:ext cx="457200" cy="457200"/>
          </a:xfrm>
          <a:prstGeom prst="rect">
            <a:avLst/>
          </a:prstGeom>
          <a:solidFill>
            <a:srgbClr val="16A0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23015" y="310896"/>
            <a:ext cx="457200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</a:rPr>
              <a:t>06</a:t>
            </a:r>
            <a:endParaRPr sz="14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640080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0E2A47"/>
                </a:solidFill>
                <a:latin typeface="PingFang SC" panose="020B0400000000000000" charset="-122"/>
                <a:ea typeface="PingFang SC" panose="020B0400000000000000" charset="-122"/>
              </a:rPr>
              <a:t>压力 / 速度 NMAE（点云预处理 × PINNs 四组对照）</a:t>
            </a:r>
            <a:endParaRPr sz="1350" b="1">
              <a:solidFill>
                <a:srgbClr val="0E2A47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572768"/>
          <a:ext cx="6949440" cy="23591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108960"/>
                <a:gridCol w="1920240"/>
                <a:gridCol w="192024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模型配置</a:t>
                      </a:r>
                      <a:endParaRPr sz="1150" b="1">
                        <a:solidFill>
                          <a:srgbClr val="FFFFFF"/>
                        </a:solidFill>
                        <a:latin typeface="PingFang SC" panose="020B0400000000000000" charset="-122"/>
                        <a:ea typeface="PingFang SC" panose="020B0400000000000000" charset="-122"/>
                      </a:endParaRPr>
                    </a:p>
                  </a:txBody>
                  <a:tcPr marL="76200" marR="76200" marT="38100" marB="38100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Pressure NMAE</a:t>
                      </a:r>
                      <a:endParaRPr sz="1150" b="1">
                        <a:solidFill>
                          <a:srgbClr val="FFFFFF"/>
                        </a:solidFill>
                        <a:latin typeface="PingFang SC" panose="020B0400000000000000" charset="-122"/>
                        <a:ea typeface="PingFang SC" panose="020B0400000000000000" charset="-122"/>
                      </a:endParaRPr>
                    </a:p>
                  </a:txBody>
                  <a:tcPr marL="76200" marR="76200" marT="38100" marB="38100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Velocity NMAE</a:t>
                      </a:r>
                      <a:endParaRPr sz="1150" b="1">
                        <a:solidFill>
                          <a:srgbClr val="FFFFFF"/>
                        </a:solidFill>
                        <a:latin typeface="PingFang SC" panose="020B0400000000000000" charset="-122"/>
                        <a:ea typeface="PingFang SC" panose="020B0400000000000000" charset="-122"/>
                      </a:endParaRPr>
                    </a:p>
                  </a:txBody>
                  <a:tcPr marL="76200" marR="76200" marT="38100" marB="38100" anchor="ctr">
                    <a:solidFill>
                      <a:srgbClr val="1F4E79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1304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无预处理、无 PINNs</a:t>
                      </a:r>
                      <a:endParaRPr sz="1150" b="0">
                        <a:solidFill>
                          <a:srgbClr val="213040"/>
                        </a:solidFill>
                        <a:latin typeface="PingFang SC" panose="020B0400000000000000" charset="-122"/>
                        <a:ea typeface="PingFang SC" panose="020B0400000000000000" charset="-122"/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1304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12.55 ± 4.91%</a:t>
                      </a:r>
                      <a:endParaRPr sz="1150" b="0">
                        <a:solidFill>
                          <a:srgbClr val="213040"/>
                        </a:solidFill>
                        <a:latin typeface="PingFang SC" panose="020B0400000000000000" charset="-122"/>
                        <a:ea typeface="PingFang SC" panose="020B0400000000000000" charset="-122"/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1304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11.15 ± 2.78%</a:t>
                      </a:r>
                      <a:endParaRPr sz="1150" b="0">
                        <a:solidFill>
                          <a:srgbClr val="213040"/>
                        </a:solidFill>
                        <a:latin typeface="PingFang SC" panose="020B0400000000000000" charset="-122"/>
                        <a:ea typeface="PingFang SC" panose="020B0400000000000000" charset="-122"/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1304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无预处理、有 PINNs</a:t>
                      </a:r>
                      <a:endParaRPr sz="1150" b="0">
                        <a:solidFill>
                          <a:srgbClr val="213040"/>
                        </a:solidFill>
                        <a:latin typeface="PingFang SC" panose="020B0400000000000000" charset="-122"/>
                        <a:ea typeface="PingFang SC" panose="020B0400000000000000" charset="-122"/>
                      </a:endParaRPr>
                    </a:p>
                  </a:txBody>
                  <a:tcPr marL="76200" marR="76200" marT="38100" marB="38100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1304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10.05 ± 5.03%</a:t>
                      </a:r>
                      <a:endParaRPr sz="1150" b="0">
                        <a:solidFill>
                          <a:srgbClr val="213040"/>
                        </a:solidFill>
                        <a:latin typeface="PingFang SC" panose="020B0400000000000000" charset="-122"/>
                        <a:ea typeface="PingFang SC" panose="020B0400000000000000" charset="-122"/>
                      </a:endParaRPr>
                    </a:p>
                  </a:txBody>
                  <a:tcPr marL="76200" marR="76200" marT="38100" marB="38100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1304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9.90 ± 2.82%</a:t>
                      </a:r>
                      <a:endParaRPr sz="1150" b="0">
                        <a:solidFill>
                          <a:srgbClr val="213040"/>
                        </a:solidFill>
                        <a:latin typeface="PingFang SC" panose="020B0400000000000000" charset="-122"/>
                        <a:ea typeface="PingFang SC" panose="020B0400000000000000" charset="-122"/>
                      </a:endParaRPr>
                    </a:p>
                  </a:txBody>
                  <a:tcPr marL="76200" marR="76200" marT="38100" marB="38100" anchor="ctr">
                    <a:solidFill>
                      <a:srgbClr val="EAF1F8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1304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有预处理、无 PINNs</a:t>
                      </a:r>
                      <a:endParaRPr sz="1150" b="0">
                        <a:solidFill>
                          <a:srgbClr val="213040"/>
                        </a:solidFill>
                        <a:latin typeface="PingFang SC" panose="020B0400000000000000" charset="-122"/>
                        <a:ea typeface="PingFang SC" panose="020B0400000000000000" charset="-122"/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1304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15.16 ± 7.20%</a:t>
                      </a:r>
                      <a:endParaRPr sz="1150" b="0">
                        <a:solidFill>
                          <a:srgbClr val="213040"/>
                        </a:solidFill>
                        <a:latin typeface="PingFang SC" panose="020B0400000000000000" charset="-122"/>
                        <a:ea typeface="PingFang SC" panose="020B0400000000000000" charset="-122"/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1304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12.30 ± 3.79%</a:t>
                      </a:r>
                      <a:endParaRPr sz="1150" b="0">
                        <a:solidFill>
                          <a:srgbClr val="213040"/>
                        </a:solidFill>
                        <a:latin typeface="PingFang SC" panose="020B0400000000000000" charset="-122"/>
                        <a:ea typeface="PingFang SC" panose="020B0400000000000000" charset="-122"/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0E2A47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本文主模型（预处理+PINNs）</a:t>
                      </a:r>
                      <a:endParaRPr sz="1150" b="1">
                        <a:solidFill>
                          <a:srgbClr val="0E2A47"/>
                        </a:solidFill>
                        <a:latin typeface="PingFang SC" panose="020B0400000000000000" charset="-122"/>
                        <a:ea typeface="PingFang SC" panose="020B0400000000000000" charset="-122"/>
                      </a:endParaRPr>
                    </a:p>
                  </a:txBody>
                  <a:tcPr marL="76200" marR="76200" marT="38100" marB="38100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D63A3A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6.63 ± 2.80%</a:t>
                      </a:r>
                      <a:endParaRPr sz="1150" b="1">
                        <a:solidFill>
                          <a:srgbClr val="D63A3A"/>
                        </a:solidFill>
                        <a:latin typeface="PingFang SC" panose="020B0400000000000000" charset="-122"/>
                        <a:ea typeface="PingFang SC" panose="020B0400000000000000" charset="-122"/>
                      </a:endParaRPr>
                    </a:p>
                  </a:txBody>
                  <a:tcPr marL="76200" marR="76200" marT="38100" marB="38100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D63A3A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7.79 ± 2.14%</a:t>
                      </a:r>
                      <a:endParaRPr sz="1150" b="1">
                        <a:solidFill>
                          <a:srgbClr val="D63A3A"/>
                        </a:solidFill>
                        <a:latin typeface="PingFang SC" panose="020B0400000000000000" charset="-122"/>
                        <a:ea typeface="PingFang SC" panose="020B0400000000000000" charset="-122"/>
                      </a:endParaRPr>
                    </a:p>
                  </a:txBody>
                  <a:tcPr marL="76200" marR="76200" marT="38100" marB="38100" anchor="ctr">
                    <a:solidFill>
                      <a:srgbClr val="EAF1F8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48640" y="4160520"/>
            <a:ext cx="7040880" cy="146304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250" b="1">
                <a:solidFill>
                  <a:srgbClr val="16A0B8"/>
                </a:solidFill>
                <a:latin typeface="PingFang SC" panose="020B0400000000000000" charset="-122"/>
              </a:rPr>
              <a:t>▸  </a:t>
            </a:r>
            <a:r>
              <a:rPr sz="1250">
                <a:solidFill>
                  <a:srgbClr val="213040"/>
                </a:solidFill>
                <a:latin typeface="PingFang SC" panose="020B0400000000000000" charset="-122"/>
                <a:ea typeface="PingFang SC" panose="020B0400000000000000" charset="-122"/>
              </a:rPr>
              <a:t>单独点云预处理反而让压力变差（数据点减少 / 插值平滑）</a:t>
            </a:r>
            <a:endParaRPr sz="1250">
              <a:solidFill>
                <a:srgbClr val="213040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250" b="1">
                <a:solidFill>
                  <a:srgbClr val="16A0B8"/>
                </a:solidFill>
                <a:latin typeface="PingFang SC" panose="020B0400000000000000" charset="-122"/>
              </a:rPr>
              <a:t>▸  </a:t>
            </a:r>
            <a:r>
              <a:rPr sz="1250">
                <a:solidFill>
                  <a:srgbClr val="0E2A47"/>
                </a:solidFill>
                <a:latin typeface="PingFang SC" panose="020B0400000000000000" charset="-122"/>
                <a:ea typeface="PingFang SC" panose="020B0400000000000000" charset="-122"/>
              </a:rPr>
              <a:t>PINNs 物理约束是关键增益来源</a:t>
            </a:r>
            <a:endParaRPr sz="1250">
              <a:solidFill>
                <a:srgbClr val="0E2A47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250" b="1">
                <a:solidFill>
                  <a:srgbClr val="16A0B8"/>
                </a:solidFill>
                <a:latin typeface="PingFang SC" panose="020B0400000000000000" charset="-122"/>
              </a:rPr>
              <a:t>▸  </a:t>
            </a:r>
            <a:r>
              <a:rPr sz="1250">
                <a:solidFill>
                  <a:srgbClr val="213040"/>
                </a:solidFill>
                <a:latin typeface="PingFang SC" panose="020B0400000000000000" charset="-122"/>
                <a:ea typeface="PingFang SC" panose="020B0400000000000000" charset="-122"/>
              </a:rPr>
              <a:t>预处理 + PINNs 组合后提升最大</a:t>
            </a:r>
            <a:endParaRPr sz="1250">
              <a:solidFill>
                <a:srgbClr val="213040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7772400" y="1572768"/>
            <a:ext cx="3886200" cy="4023360"/>
          </a:xfrm>
          <a:prstGeom prst="rect">
            <a:avLst/>
          </a:prstGeom>
          <a:solidFill>
            <a:srgbClr val="F6F9FC"/>
          </a:solidFill>
          <a:ln w="9525">
            <a:solidFill>
              <a:srgbClr val="D7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0" y="1572768"/>
            <a:ext cx="3886200" cy="457200"/>
          </a:xfrm>
          <a:prstGeom prst="rect">
            <a:avLst/>
          </a:prstGeom>
          <a:solidFill>
            <a:srgbClr val="2E6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0" y="1572768"/>
            <a:ext cx="3886200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</a:rPr>
              <a:t>临床 surrogate 指标</a:t>
            </a:r>
            <a:endParaRPr sz="135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001000" y="2194560"/>
            <a:ext cx="347472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0E2A47"/>
                </a:solidFill>
                <a:latin typeface="PingFang SC" panose="020B0400000000000000" charset="-122"/>
                <a:ea typeface="PingFang SC" panose="020B0400000000000000" charset="-122"/>
              </a:rPr>
              <a:t>FR  瘤颈入流率比</a:t>
            </a:r>
            <a:endParaRPr sz="1250" b="1">
              <a:solidFill>
                <a:srgbClr val="0E2A47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001000" y="2496312"/>
            <a:ext cx="347472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A0B8"/>
                </a:solidFill>
                <a:latin typeface="PingFang SC" panose="020B0400000000000000" charset="-122"/>
                <a:ea typeface="PingFang SC" panose="020B0400000000000000" charset="-122"/>
              </a:rPr>
              <a:t>R² = 0.9624</a:t>
            </a:r>
            <a:r>
              <a:rPr sz="1000" b="0">
                <a:solidFill>
                  <a:srgbClr val="5A6B7B"/>
                </a:solidFill>
                <a:latin typeface="PingFang SC" panose="020B0400000000000000" charset="-122"/>
                <a:ea typeface="PingFang SC" panose="020B0400000000000000" charset="-122"/>
              </a:rPr>
              <a:t>   最大偏差 ~20%</a:t>
            </a:r>
            <a:endParaRPr sz="1000" b="0">
              <a:solidFill>
                <a:srgbClr val="5A6B7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001000" y="3154680"/>
            <a:ext cx="347472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0E2A47"/>
                </a:solidFill>
                <a:latin typeface="PingFang SC" panose="020B0400000000000000" charset="-122"/>
                <a:ea typeface="PingFang SC" panose="020B0400000000000000" charset="-122"/>
              </a:rPr>
              <a:t>PD  瘤颈-入口压差</a:t>
            </a:r>
            <a:endParaRPr sz="1250" b="1">
              <a:solidFill>
                <a:srgbClr val="0E2A47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001000" y="3456432"/>
            <a:ext cx="347472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A0B8"/>
                </a:solidFill>
                <a:latin typeface="PingFang SC" panose="020B0400000000000000" charset="-122"/>
                <a:ea typeface="PingFang SC" panose="020B0400000000000000" charset="-122"/>
              </a:rPr>
              <a:t>R² = 0.9355</a:t>
            </a:r>
            <a:r>
              <a:rPr sz="1000" b="0">
                <a:solidFill>
                  <a:srgbClr val="5A6B7B"/>
                </a:solidFill>
                <a:latin typeface="PingFang SC" panose="020B0400000000000000" charset="-122"/>
                <a:ea typeface="PingFang SC" panose="020B0400000000000000" charset="-122"/>
              </a:rPr>
              <a:t>   最大偏差 ~60%</a:t>
            </a:r>
            <a:endParaRPr sz="1000" b="0">
              <a:solidFill>
                <a:srgbClr val="5A6B7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7973568" y="4160520"/>
            <a:ext cx="3520440" cy="1325880"/>
          </a:xfrm>
          <a:prstGeom prst="rect">
            <a:avLst/>
          </a:prstGeom>
          <a:solidFill>
            <a:srgbClr val="FDF3E6"/>
          </a:solidFill>
          <a:ln w="12700">
            <a:solidFill>
              <a:srgbClr val="C982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38160" y="4261104"/>
            <a:ext cx="3246120" cy="8585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C9821B"/>
                </a:solidFill>
                <a:latin typeface="PingFang SC" panose="020B0400000000000000" charset="-122"/>
                <a:ea typeface="PingFang SC" panose="020B0400000000000000" charset="-122"/>
              </a:rPr>
              <a:t>论文：无破裂 / 复发标签，</a:t>
            </a:r>
            <a:endParaRPr sz="1100" b="1">
              <a:solidFill>
                <a:srgbClr val="C9821B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213040"/>
                </a:solidFill>
                <a:latin typeface="PingFang SC" panose="020B0400000000000000" charset="-122"/>
                <a:ea typeface="PingFang SC" panose="020B0400000000000000" charset="-122"/>
              </a:rPr>
              <a:t>尚不能直接证明临床分类效果。</a:t>
            </a:r>
            <a:endParaRPr sz="1100" b="0">
              <a:solidFill>
                <a:srgbClr val="213040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0E2A47"/>
                </a:solidFill>
                <a:latin typeface="PingFang SC" panose="020B0400000000000000" charset="-122"/>
                <a:ea typeface="PingFang SC" panose="020B0400000000000000" charset="-122"/>
              </a:rPr>
              <a:t>启示：</a:t>
            </a:r>
            <a:r>
              <a:rPr lang="zh-CN" sz="1100" b="0">
                <a:solidFill>
                  <a:srgbClr val="0E2A47"/>
                </a:solidFill>
                <a:latin typeface="PingFang SC" panose="020B0400000000000000" charset="-122"/>
                <a:ea typeface="PingFang SC" panose="020B0400000000000000" charset="-122"/>
              </a:rPr>
              <a:t>如果</a:t>
            </a:r>
            <a:r>
              <a:rPr sz="1100" b="0">
                <a:solidFill>
                  <a:srgbClr val="0E2A47"/>
                </a:solidFill>
                <a:latin typeface="PingFang SC" panose="020B0400000000000000" charset="-122"/>
                <a:ea typeface="PingFang SC" panose="020B0400000000000000" charset="-122"/>
              </a:rPr>
              <a:t>点级</a:t>
            </a:r>
            <a:r>
              <a:rPr lang="zh-CN" sz="1100" b="0">
                <a:solidFill>
                  <a:srgbClr val="0E2A47"/>
                </a:solidFill>
                <a:latin typeface="PingFang SC" panose="020B0400000000000000" charset="-122"/>
                <a:ea typeface="PingFang SC" panose="020B0400000000000000" charset="-122"/>
              </a:rPr>
              <a:t>相关不高</a:t>
            </a:r>
            <a:r>
              <a:rPr sz="1100" b="0">
                <a:solidFill>
                  <a:srgbClr val="0E2A47"/>
                </a:solidFill>
                <a:latin typeface="PingFang SC" panose="020B0400000000000000" charset="-122"/>
                <a:ea typeface="PingFang SC" panose="020B0400000000000000" charset="-122"/>
              </a:rPr>
              <a:t>，仍可用病例级 / 区域级 surrogate 叙事。</a:t>
            </a:r>
            <a:endParaRPr sz="1100" b="0">
              <a:solidFill>
                <a:srgbClr val="0E2A47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02920" y="6547104"/>
            <a:ext cx="7315200" cy="25603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A6B7B"/>
                </a:solidFill>
                <a:latin typeface="PingFang SC" panose="020B0400000000000000" charset="-122"/>
                <a:ea typeface="PingFang SC" panose="020B0400000000000000" charset="-122"/>
              </a:rPr>
              <a:t>脑血管 PINNs 点云论文 · 阅读与对照</a:t>
            </a:r>
            <a:endParaRPr sz="850" b="0">
              <a:solidFill>
                <a:srgbClr val="5A6B7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265615" y="6547104"/>
            <a:ext cx="2423160" cy="25603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A6B7B"/>
                </a:solidFill>
                <a:latin typeface="PingFang SC" panose="020B0400000000000000" charset="-122"/>
                <a:ea typeface="PingFang SC" panose="020B0400000000000000" charset="-122"/>
              </a:rPr>
              <a:t>2026-06-11  ·  科研汇报</a:t>
            </a:r>
            <a:endParaRPr sz="850" b="0">
              <a:solidFill>
                <a:srgbClr val="5A6B7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38100"/>
          </a:xfrm>
          <a:prstGeom prst="rect">
            <a:avLst/>
          </a:prstGeom>
          <a:solidFill>
            <a:srgbClr val="16A0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0584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6A0B8"/>
                </a:solidFill>
                <a:latin typeface="PingFang SC" panose="020B0400000000000000" charset="-122"/>
                <a:ea typeface="PingFang SC" panose="020B0400000000000000" charset="-122"/>
              </a:rPr>
              <a:t>04 · OUR PROJECT</a:t>
            </a:r>
            <a:endParaRPr sz="1150" b="1">
              <a:solidFill>
                <a:srgbClr val="16A0B8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459677"/>
            <a:ext cx="10607040" cy="379095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</a:rPr>
              <a:t>项目</a:t>
            </a:r>
            <a:r>
              <a:rPr lang="zh-CN" sz="23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</a:rPr>
              <a:t>实验</a:t>
            </a:r>
            <a:r>
              <a:rPr lang="zh-CN" sz="23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</a:rPr>
              <a:t>矩阵</a:t>
            </a:r>
            <a:endParaRPr lang="zh-CN" sz="23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1323015" y="310896"/>
            <a:ext cx="457200" cy="457200"/>
          </a:xfrm>
          <a:prstGeom prst="rect">
            <a:avLst/>
          </a:prstGeom>
          <a:solidFill>
            <a:srgbClr val="16A0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23015" y="310896"/>
            <a:ext cx="457200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</a:rPr>
              <a:t>07</a:t>
            </a:r>
            <a:endParaRPr sz="14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10972800" cy="240665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213040"/>
                </a:solidFill>
                <a:latin typeface="PingFang SC" panose="020B0400000000000000" charset="-122"/>
                <a:ea typeface="PingFang SC" panose="020B0400000000000000" charset="-122"/>
              </a:rPr>
              <a:t>关键澄清：早期 V1 已完整做过 u/v/w/p 血流场重建。</a:t>
            </a:r>
            <a:endParaRPr sz="1400" b="0">
              <a:solidFill>
                <a:srgbClr val="213040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48640" y="1874519"/>
            <a:ext cx="3566160" cy="5669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874519"/>
            <a:ext cx="3566160" cy="56692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</a:rPr>
              <a:t>V1 · 速度/压力场重建</a:t>
            </a:r>
            <a:endParaRPr sz="135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48640" y="2441448"/>
            <a:ext cx="3566160" cy="3246120"/>
          </a:xfrm>
          <a:prstGeom prst="rect">
            <a:avLst/>
          </a:prstGeom>
          <a:solidFill>
            <a:srgbClr val="F6F9FC"/>
          </a:solidFill>
          <a:ln w="9525">
            <a:solidFill>
              <a:srgbClr val="D7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2606040"/>
            <a:ext cx="3291840" cy="301752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indent="0" fontAlgn="auto">
              <a:lnSpc>
                <a:spcPct val="108000"/>
              </a:lnSpc>
              <a:spcAft>
                <a:spcPts val="1200"/>
              </a:spcAft>
            </a:pPr>
            <a:r>
              <a:rPr sz="1150" b="1">
                <a:solidFill>
                  <a:srgbClr val="1F4E79"/>
                </a:solidFill>
                <a:latin typeface="PingFang SC" panose="020B0400000000000000" charset="-122"/>
              </a:rPr>
              <a:t>▸  </a:t>
            </a:r>
            <a:r>
              <a:rPr sz="1150">
                <a:solidFill>
                  <a:srgbClr val="213040"/>
                </a:solidFill>
                <a:latin typeface="PingFang SC" panose="020B0400000000000000" charset="-122"/>
                <a:ea typeface="PingFang SC" panose="020B0400000000000000" charset="-122"/>
              </a:rPr>
              <a:t>预测目标 [0:3]=u,v,w；[3]=p</a:t>
            </a:r>
            <a:endParaRPr sz="1150">
              <a:solidFill>
                <a:srgbClr val="213040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 indent="0" fontAlgn="auto">
              <a:lnSpc>
                <a:spcPct val="108000"/>
              </a:lnSpc>
              <a:spcAft>
                <a:spcPts val="1200"/>
              </a:spcAft>
            </a:pPr>
            <a:r>
              <a:rPr sz="1150" b="1">
                <a:solidFill>
                  <a:srgbClr val="1F4E79"/>
                </a:solidFill>
                <a:latin typeface="PingFang SC" panose="020B0400000000000000" charset="-122"/>
              </a:rPr>
              <a:t>▸  </a:t>
            </a:r>
            <a:r>
              <a:rPr sz="1150">
                <a:solidFill>
                  <a:srgbClr val="213040"/>
                </a:solidFill>
                <a:latin typeface="PingFang SC" panose="020B0400000000000000" charset="-122"/>
                <a:ea typeface="PingFang SC" panose="020B0400000000000000" charset="-122"/>
              </a:rPr>
              <a:t>主指标：interior RMSE|v|、R2_p、分区域误差</a:t>
            </a:r>
            <a:endParaRPr sz="1150">
              <a:solidFill>
                <a:srgbClr val="213040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 indent="0" fontAlgn="auto">
              <a:lnSpc>
                <a:spcPct val="108000"/>
              </a:lnSpc>
              <a:spcAft>
                <a:spcPts val="1200"/>
              </a:spcAft>
            </a:pPr>
            <a:r>
              <a:rPr sz="1150" b="1">
                <a:solidFill>
                  <a:srgbClr val="1F4E79"/>
                </a:solidFill>
                <a:latin typeface="PingFang SC" panose="020B0400000000000000" charset="-122"/>
              </a:rPr>
              <a:t>▸  </a:t>
            </a:r>
            <a:r>
              <a:rPr sz="1150">
                <a:solidFill>
                  <a:srgbClr val="213040"/>
                </a:solidFill>
                <a:latin typeface="PingFang SC" panose="020B0400000000000000" charset="-122"/>
                <a:ea typeface="PingFang SC" panose="020B0400000000000000" charset="-122"/>
              </a:rPr>
              <a:t>压力较易学：R2_p 多在 ~0.92</a:t>
            </a:r>
            <a:endParaRPr sz="1150">
              <a:solidFill>
                <a:srgbClr val="213040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 indent="0" fontAlgn="auto">
              <a:lnSpc>
                <a:spcPct val="108000"/>
              </a:lnSpc>
              <a:spcAft>
                <a:spcPts val="1200"/>
              </a:spcAft>
            </a:pPr>
            <a:r>
              <a:rPr sz="1150" b="1">
                <a:solidFill>
                  <a:srgbClr val="1F4E79"/>
                </a:solidFill>
                <a:latin typeface="PingFang SC" panose="020B0400000000000000" charset="-122"/>
              </a:rPr>
              <a:t>▸  </a:t>
            </a:r>
            <a:r>
              <a:rPr sz="1150">
                <a:solidFill>
                  <a:srgbClr val="213040"/>
                </a:solidFill>
                <a:latin typeface="PingFang SC" panose="020B0400000000000000" charset="-122"/>
                <a:ea typeface="PingFang SC" panose="020B0400000000000000" charset="-122"/>
              </a:rPr>
              <a:t>速度有中等信号：A-Opt-05 r2_vel_mag≈0.58</a:t>
            </a:r>
            <a:endParaRPr sz="1150">
              <a:solidFill>
                <a:srgbClr val="213040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3" name="Right Arrow 12"/>
          <p:cNvSpPr/>
          <p:nvPr/>
        </p:nvSpPr>
        <p:spPr>
          <a:xfrm>
            <a:off x="4133088" y="2011680"/>
            <a:ext cx="164592" cy="292608"/>
          </a:xfrm>
          <a:prstGeom prst="rightArrow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25112" y="1874519"/>
            <a:ext cx="3566160" cy="566928"/>
          </a:xfrm>
          <a:prstGeom prst="rect">
            <a:avLst/>
          </a:prstGeom>
          <a:solidFill>
            <a:srgbClr val="2E6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25112" y="1874519"/>
            <a:ext cx="3566160" cy="56692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</a:rPr>
              <a:t>V2/V3 · 转向壁面 WSS</a:t>
            </a:r>
            <a:endParaRPr sz="135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4325112" y="2441448"/>
            <a:ext cx="3566160" cy="3246120"/>
          </a:xfrm>
          <a:prstGeom prst="rect">
            <a:avLst/>
          </a:prstGeom>
          <a:solidFill>
            <a:srgbClr val="F6F9FC"/>
          </a:solidFill>
          <a:ln w="9525">
            <a:solidFill>
              <a:srgbClr val="D7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9704" y="2606040"/>
            <a:ext cx="3291840" cy="301752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150" b="1">
                <a:solidFill>
                  <a:srgbClr val="2E6E9E"/>
                </a:solidFill>
                <a:latin typeface="PingFang SC" panose="020B0400000000000000" charset="-122"/>
              </a:rPr>
              <a:t>▸  </a:t>
            </a:r>
            <a:r>
              <a:rPr sz="1150">
                <a:solidFill>
                  <a:srgbClr val="213040"/>
                </a:solidFill>
                <a:latin typeface="PingFang SC" panose="020B0400000000000000" charset="-122"/>
                <a:ea typeface="PingFang SC" panose="020B0400000000000000" charset="-122"/>
              </a:rPr>
              <a:t>WSS=壁面切向速度梯度，比速度/压力更高频</a:t>
            </a:r>
            <a:endParaRPr sz="1150">
              <a:solidFill>
                <a:srgbClr val="213040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150" b="1">
                <a:solidFill>
                  <a:srgbClr val="2E6E9E"/>
                </a:solidFill>
                <a:latin typeface="PingFang SC" panose="020B0400000000000000" charset="-122"/>
              </a:rPr>
              <a:t>▸  </a:t>
            </a:r>
            <a:r>
              <a:rPr sz="1150">
                <a:solidFill>
                  <a:srgbClr val="213040"/>
                </a:solidFill>
                <a:latin typeface="PingFang SC" panose="020B0400000000000000" charset="-122"/>
                <a:ea typeface="PingFang SC" panose="020B0400000000000000" charset="-122"/>
              </a:rPr>
              <a:t>临床更关心高 WSS 区、病例级风险 surrogate</a:t>
            </a:r>
            <a:endParaRPr sz="1150">
              <a:solidFill>
                <a:srgbClr val="213040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150" b="1">
                <a:solidFill>
                  <a:srgbClr val="2E6E9E"/>
                </a:solidFill>
                <a:latin typeface="PingFang SC" panose="020B0400000000000000" charset="-122"/>
              </a:rPr>
              <a:t>▸  </a:t>
            </a:r>
            <a:r>
              <a:rPr sz="1150">
                <a:solidFill>
                  <a:srgbClr val="213040"/>
                </a:solidFill>
                <a:latin typeface="PingFang SC" panose="020B0400000000000000" charset="-122"/>
                <a:ea typeface="PingFang SC" panose="020B0400000000000000" charset="-122"/>
              </a:rPr>
              <a:t>改 wall-rich 采样（~13000 壁面+2000 近壁）</a:t>
            </a:r>
            <a:endParaRPr sz="1150">
              <a:solidFill>
                <a:srgbClr val="213040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150" b="1">
                <a:solidFill>
                  <a:srgbClr val="2E6E9E"/>
                </a:solidFill>
                <a:latin typeface="PingFang SC" panose="020B0400000000000000" charset="-122"/>
              </a:rPr>
              <a:t>▸  </a:t>
            </a:r>
            <a:r>
              <a:rPr sz="1150">
                <a:solidFill>
                  <a:srgbClr val="213040"/>
                </a:solidFill>
                <a:latin typeface="PingFang SC" panose="020B0400000000000000" charset="-122"/>
                <a:ea typeface="PingFang SC" panose="020B0400000000000000" charset="-122"/>
              </a:rPr>
              <a:t>直接优化速度场有时反而压制 WSS 学习</a:t>
            </a:r>
            <a:endParaRPr sz="1150">
              <a:solidFill>
                <a:srgbClr val="213040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8" name="Right Arrow 17"/>
          <p:cNvSpPr/>
          <p:nvPr/>
        </p:nvSpPr>
        <p:spPr>
          <a:xfrm>
            <a:off x="7909560" y="2011680"/>
            <a:ext cx="164592" cy="292608"/>
          </a:xfrm>
          <a:prstGeom prst="rightArrow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01583" y="1874519"/>
            <a:ext cx="3566160" cy="566928"/>
          </a:xfrm>
          <a:prstGeom prst="rect">
            <a:avLst/>
          </a:prstGeom>
          <a:solidFill>
            <a:srgbClr val="16A0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01583" y="1874519"/>
            <a:ext cx="3566160" cy="56692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</a:rPr>
              <a:t>当前 · G4 壁面 2D 换轨</a:t>
            </a:r>
            <a:endParaRPr sz="135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8101583" y="2441448"/>
            <a:ext cx="3566160" cy="3246120"/>
          </a:xfrm>
          <a:prstGeom prst="rect">
            <a:avLst/>
          </a:prstGeom>
          <a:solidFill>
            <a:srgbClr val="F6F9FC"/>
          </a:solidFill>
          <a:ln w="9525">
            <a:solidFill>
              <a:srgbClr val="D7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66175" y="2606040"/>
            <a:ext cx="3291840" cy="301752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150" b="1">
                <a:solidFill>
                  <a:srgbClr val="16A0B8"/>
                </a:solidFill>
                <a:latin typeface="PingFang SC" panose="020B0400000000000000" charset="-122"/>
              </a:rPr>
              <a:t>▸  </a:t>
            </a:r>
            <a:r>
              <a:rPr sz="1150">
                <a:solidFill>
                  <a:srgbClr val="213040"/>
                </a:solidFill>
                <a:latin typeface="PingFang SC" panose="020B0400000000000000" charset="-122"/>
                <a:ea typeface="PingFang SC" panose="020B0400000000000000" charset="-122"/>
              </a:rPr>
              <a:t>post5463 基线：wss_r2_wss=0.425±0.012</a:t>
            </a:r>
            <a:endParaRPr sz="1150">
              <a:solidFill>
                <a:srgbClr val="213040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150" b="1">
                <a:solidFill>
                  <a:srgbClr val="16A0B8"/>
                </a:solidFill>
                <a:latin typeface="PingFang SC" panose="020B0400000000000000" charset="-122"/>
              </a:rPr>
              <a:t>▸  </a:t>
            </a:r>
            <a:r>
              <a:rPr sz="1150">
                <a:solidFill>
                  <a:srgbClr val="213040"/>
                </a:solidFill>
                <a:latin typeface="PingFang SC" panose="020B0400000000000000" charset="-122"/>
                <a:ea typeface="PingFang SC" panose="020B0400000000000000" charset="-122"/>
              </a:rPr>
              <a:t>G4 (s,θ) 壁面 2D 展开：POD oracle 0.672</a:t>
            </a:r>
            <a:endParaRPr sz="1150">
              <a:solidFill>
                <a:srgbClr val="213040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150" b="1">
                <a:solidFill>
                  <a:srgbClr val="16A0B8"/>
                </a:solidFill>
                <a:latin typeface="PingFang SC" panose="020B0400000000000000" charset="-122"/>
              </a:rPr>
              <a:t>▸  </a:t>
            </a:r>
            <a:r>
              <a:rPr sz="1150">
                <a:solidFill>
                  <a:srgbClr val="213040"/>
                </a:solidFill>
                <a:latin typeface="PingFang SC" panose="020B0400000000000000" charset="-122"/>
                <a:ea typeface="PingFang SC" panose="020B0400000000000000" charset="-122"/>
              </a:rPr>
              <a:t>单 case 2D U-Net 过拟合 R²=0.954</a:t>
            </a:r>
            <a:endParaRPr sz="1150">
              <a:solidFill>
                <a:srgbClr val="213040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150" b="1">
                <a:solidFill>
                  <a:srgbClr val="16A0B8"/>
                </a:solidFill>
                <a:latin typeface="PingFang SC" panose="020B0400000000000000" charset="-122"/>
              </a:rPr>
              <a:t>▸  </a:t>
            </a:r>
            <a:r>
              <a:rPr sz="1150">
                <a:solidFill>
                  <a:srgbClr val="213040"/>
                </a:solidFill>
                <a:latin typeface="PingFang SC" panose="020B0400000000000000" charset="-122"/>
                <a:ea typeface="PingFang SC" panose="020B0400000000000000" charset="-122"/>
              </a:rPr>
              <a:t>瓶颈：global wss_x/y 横向分量长期≈0</a:t>
            </a:r>
            <a:endParaRPr sz="1150">
              <a:solidFill>
                <a:srgbClr val="213040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548640" y="5852160"/>
            <a:ext cx="11091672" cy="50292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852160"/>
            <a:ext cx="10698480" cy="5029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</a:rPr>
              <a:t>核心结论：速度/压力做好 ≠ WSS 自动变好；速度监督在我们实验中多次</a:t>
            </a:r>
            <a:r>
              <a:rPr sz="1250" b="1">
                <a:solidFill>
                  <a:srgbClr val="FFC9C9"/>
                </a:solidFill>
                <a:latin typeface="PingFang SC" panose="020B0400000000000000" charset="-122"/>
                <a:ea typeface="PingFang SC" panose="020B0400000000000000" charset="-122"/>
              </a:rPr>
              <a:t>压低</a:t>
            </a:r>
            <a:r>
              <a:rPr sz="1250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</a:rPr>
              <a:t> WSS。</a:t>
            </a:r>
            <a:endParaRPr sz="1250" b="0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02920" y="6547104"/>
            <a:ext cx="7315200" cy="25603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A6B7B"/>
                </a:solidFill>
                <a:latin typeface="PingFang SC" panose="020B0400000000000000" charset="-122"/>
                <a:ea typeface="PingFang SC" panose="020B0400000000000000" charset="-122"/>
              </a:rPr>
              <a:t>脑血管 PINNs 点云论文 · 阅读与对照</a:t>
            </a:r>
            <a:endParaRPr sz="850" b="0">
              <a:solidFill>
                <a:srgbClr val="5A6B7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265615" y="6547104"/>
            <a:ext cx="2423160" cy="25603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A6B7B"/>
                </a:solidFill>
                <a:latin typeface="PingFang SC" panose="020B0400000000000000" charset="-122"/>
                <a:ea typeface="PingFang SC" panose="020B0400000000000000" charset="-122"/>
              </a:rPr>
              <a:t>2026-06-11  ·  科研汇报</a:t>
            </a:r>
            <a:endParaRPr sz="850" b="0">
              <a:solidFill>
                <a:srgbClr val="5A6B7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38100"/>
          </a:xfrm>
          <a:prstGeom prst="rect">
            <a:avLst/>
          </a:prstGeom>
          <a:solidFill>
            <a:srgbClr val="16A0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0584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6A0B8"/>
                </a:solidFill>
                <a:latin typeface="PingFang SC" panose="020B0400000000000000" charset="-122"/>
                <a:ea typeface="PingFang SC" panose="020B0400000000000000" charset="-122"/>
              </a:rPr>
              <a:t>04 · OUR PROJECT</a:t>
            </a:r>
            <a:endParaRPr sz="1150" b="1">
              <a:solidFill>
                <a:srgbClr val="16A0B8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0607040" cy="56692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</a:rPr>
              <a:t>V3 已验证：「加速度能否帮助 WSS」</a:t>
            </a:r>
            <a:endParaRPr sz="23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1323015" y="310896"/>
            <a:ext cx="457200" cy="457200"/>
          </a:xfrm>
          <a:prstGeom prst="rect">
            <a:avLst/>
          </a:prstGeom>
          <a:solidFill>
            <a:srgbClr val="16A0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23015" y="310896"/>
            <a:ext cx="457200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</a:rPr>
              <a:t>08</a:t>
            </a:r>
            <a:endParaRPr sz="14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74980" y="1385570"/>
          <a:ext cx="11214100" cy="419671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17115"/>
                <a:gridCol w="2780665"/>
                <a:gridCol w="3892550"/>
                <a:gridCol w="2223770"/>
              </a:tblGrid>
              <a:tr h="497205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ingFang SC Semibold" panose="020B0400000000000000" charset="-122"/>
                          <a:ea typeface="PingFang SC Semibold" panose="020B0400000000000000" charset="-122"/>
                          <a:cs typeface="PingFang SC Semibold" panose="020B0400000000000000" charset="-122"/>
                        </a:rPr>
                        <a:t>实验 / 路线</a:t>
                      </a:r>
                      <a:endParaRPr sz="1200" b="1">
                        <a:solidFill>
                          <a:srgbClr val="FFFFFF"/>
                        </a:solidFill>
                        <a:latin typeface="PingFang SC Semibold" panose="020B0400000000000000" charset="-122"/>
                        <a:ea typeface="PingFang SC Semibold" panose="020B0400000000000000" charset="-122"/>
                        <a:cs typeface="PingFang SC Semibold" panose="020B0400000000000000" charset="-122"/>
                      </a:endParaRPr>
                    </a:p>
                  </a:txBody>
                  <a:tcPr marL="76200" marR="76200" marT="38100" marB="38100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ingFang SC Semibold" panose="020B0400000000000000" charset="-122"/>
                          <a:ea typeface="PingFang SC Semibold" panose="020B0400000000000000" charset="-122"/>
                        </a:rPr>
                        <a:t>验证的问题</a:t>
                      </a:r>
                      <a:endParaRPr sz="1200" b="1">
                        <a:solidFill>
                          <a:srgbClr val="FFFFFF"/>
                        </a:solidFill>
                        <a:latin typeface="PingFang SC Semibold" panose="020B0400000000000000" charset="-122"/>
                        <a:ea typeface="PingFang SC Semibold" panose="020B0400000000000000" charset="-122"/>
                      </a:endParaRPr>
                    </a:p>
                  </a:txBody>
                  <a:tcPr marL="76200" marR="76200" marT="38100" marB="38100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ingFang SC Semibold" panose="020B0400000000000000" charset="-122"/>
                          <a:ea typeface="PingFang SC Semibold" panose="020B0400000000000000" charset="-122"/>
                        </a:rPr>
                        <a:t>关键结果</a:t>
                      </a:r>
                      <a:endParaRPr sz="1200" b="1">
                        <a:solidFill>
                          <a:srgbClr val="FFFFFF"/>
                        </a:solidFill>
                        <a:latin typeface="PingFang SC Semibold" panose="020B0400000000000000" charset="-122"/>
                        <a:ea typeface="PingFang SC Semibold" panose="020B0400000000000000" charset="-122"/>
                      </a:endParaRPr>
                    </a:p>
                  </a:txBody>
                  <a:tcPr marL="76200" marR="76200" marT="38100" marB="38100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ingFang SC Semibold" panose="020B0400000000000000" charset="-122"/>
                          <a:ea typeface="PingFang SC Semibold" panose="020B0400000000000000" charset="-122"/>
                        </a:rPr>
                        <a:t>结论</a:t>
                      </a:r>
                      <a:endParaRPr sz="1200" b="1">
                        <a:solidFill>
                          <a:srgbClr val="FFFFFF"/>
                        </a:solidFill>
                        <a:latin typeface="PingFang SC Semibold" panose="020B0400000000000000" charset="-122"/>
                        <a:ea typeface="PingFang SC Semibold" panose="020B0400000000000000" charset="-122"/>
                      </a:endParaRPr>
                    </a:p>
                  </a:txBody>
                  <a:tcPr marL="76200" marR="76200" marT="38100" marB="38100" anchor="ctr">
                    <a:solidFill>
                      <a:srgbClr val="1F4E79"/>
                    </a:solidFill>
                  </a:tcPr>
                </a:tc>
              </a:tr>
              <a:tr h="616585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E6E9E"/>
                          </a:solidFill>
                          <a:latin typeface="PingFang SC Semibold" panose="020B0400000000000000" charset="-122"/>
                          <a:ea typeface="PingFang SC Semibold" panose="020B0400000000000000" charset="-122"/>
                        </a:rPr>
                        <a:t>V3P-Probe-VWSS-01</a:t>
                      </a:r>
                      <a:endParaRPr sz="1200" b="1">
                        <a:solidFill>
                          <a:srgbClr val="2E6E9E"/>
                        </a:solidFill>
                        <a:latin typeface="PingFang SC Semibold" panose="020B0400000000000000" charset="-122"/>
                        <a:ea typeface="PingFang SC Semibold" panose="020B0400000000000000" charset="-122"/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13040"/>
                          </a:solidFill>
                          <a:latin typeface="PingFang SC Semibold" panose="020B0400000000000000" charset="-122"/>
                          <a:ea typeface="PingFang SC Semibold" panose="020B0400000000000000" charset="-122"/>
                          <a:cs typeface="PingFang SC Semibold" panose="020B0400000000000000" charset="-122"/>
                        </a:rPr>
                        <a:t>速度上下文是否帮助 WSS</a:t>
                      </a:r>
                      <a:endParaRPr sz="1200" b="1">
                        <a:solidFill>
                          <a:srgbClr val="213040"/>
                        </a:solidFill>
                        <a:latin typeface="PingFang SC Semibold" panose="020B0400000000000000" charset="-122"/>
                        <a:ea typeface="PingFang SC Semibold" panose="020B0400000000000000" charset="-122"/>
                        <a:cs typeface="PingFang SC Semibold" panose="020B0400000000000000" charset="-122"/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13040"/>
                          </a:solidFill>
                          <a:latin typeface="PingFang SC Semibold" panose="020B0400000000000000" charset="-122"/>
                          <a:ea typeface="PingFang SC Semibold" panose="020B0400000000000000" charset="-122"/>
                          <a:cs typeface="PingFang SC Semibold" panose="020B0400000000000000" charset="-122"/>
                        </a:rPr>
                        <a:t>wss_r2=0.343 &lt; 单目标 0.397；vel_mag=0.074</a:t>
                      </a:r>
                      <a:endParaRPr sz="1200" b="1">
                        <a:solidFill>
                          <a:srgbClr val="213040"/>
                        </a:solidFill>
                        <a:latin typeface="PingFang SC Semibold" panose="020B0400000000000000" charset="-122"/>
                        <a:ea typeface="PingFang SC Semibold" panose="020B0400000000000000" charset="-122"/>
                        <a:cs typeface="PingFang SC Semibold" panose="020B0400000000000000" charset="-122"/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D63A3A"/>
                          </a:solidFill>
                          <a:latin typeface="PingFang SC Semibold" panose="020B0400000000000000" charset="-122"/>
                          <a:ea typeface="PingFang SC Semibold" panose="020B0400000000000000" charset="-122"/>
                        </a:rPr>
                        <a:t>速度监督同时压低两目标</a:t>
                      </a:r>
                      <a:endParaRPr sz="1200" b="1">
                        <a:solidFill>
                          <a:srgbClr val="D63A3A"/>
                        </a:solidFill>
                        <a:latin typeface="PingFang SC Semibold" panose="020B0400000000000000" charset="-122"/>
                        <a:ea typeface="PingFang SC Semibold" panose="020B0400000000000000" charset="-122"/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616585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E6E9E"/>
                          </a:solidFill>
                          <a:latin typeface="PingFang SC Semibold" panose="020B0400000000000000" charset="-122"/>
                          <a:ea typeface="PingFang SC Semibold" panose="020B0400000000000000" charset="-122"/>
                        </a:rPr>
                        <a:t>V3P-F-30a-VelSup</a:t>
                      </a:r>
                      <a:endParaRPr sz="1200" b="1">
                        <a:solidFill>
                          <a:srgbClr val="2E6E9E"/>
                        </a:solidFill>
                        <a:latin typeface="PingFang SC Semibold" panose="020B0400000000000000" charset="-122"/>
                        <a:ea typeface="PingFang SC Semibold" panose="020B0400000000000000" charset="-122"/>
                      </a:endParaRPr>
                    </a:p>
                  </a:txBody>
                  <a:tcPr marL="76200" marR="76200" marT="38100" marB="38100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13040"/>
                          </a:solidFill>
                          <a:latin typeface="PingFang SC Semibold" panose="020B0400000000000000" charset="-122"/>
                          <a:ea typeface="PingFang SC Semibold" panose="020B0400000000000000" charset="-122"/>
                          <a:cs typeface="PingFang SC Semibold" panose="020B0400000000000000" charset="-122"/>
                        </a:rPr>
                        <a:t>加内部速度/no-slip 监督</a:t>
                      </a:r>
                      <a:endParaRPr sz="1200" b="1">
                        <a:solidFill>
                          <a:srgbClr val="213040"/>
                        </a:solidFill>
                        <a:latin typeface="PingFang SC Semibold" panose="020B0400000000000000" charset="-122"/>
                        <a:ea typeface="PingFang SC Semibold" panose="020B0400000000000000" charset="-122"/>
                        <a:cs typeface="PingFang SC Semibold" panose="020B0400000000000000" charset="-122"/>
                      </a:endParaRPr>
                    </a:p>
                  </a:txBody>
                  <a:tcPr marL="76200" marR="76200" marT="38100" marB="38100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13040"/>
                          </a:solidFill>
                          <a:latin typeface="PingFang SC Semibold" panose="020B0400000000000000" charset="-122"/>
                          <a:ea typeface="PingFang SC Semibold" panose="020B0400000000000000" charset="-122"/>
                          <a:cs typeface="PingFang SC Semibold" panose="020B0400000000000000" charset="-122"/>
                        </a:rPr>
                        <a:t>best_wss=0.364，比母版 0.399 低 0.035</a:t>
                      </a:r>
                      <a:endParaRPr sz="1200" b="1">
                        <a:solidFill>
                          <a:srgbClr val="213040"/>
                        </a:solidFill>
                        <a:latin typeface="PingFang SC Semibold" panose="020B0400000000000000" charset="-122"/>
                        <a:ea typeface="PingFang SC Semibold" panose="020B0400000000000000" charset="-122"/>
                        <a:cs typeface="PingFang SC Semibold" panose="020B0400000000000000" charset="-122"/>
                      </a:endParaRPr>
                    </a:p>
                  </a:txBody>
                  <a:tcPr marL="76200" marR="76200" marT="38100" marB="38100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D63A3A"/>
                          </a:solidFill>
                          <a:latin typeface="PingFang SC Semibold" panose="020B0400000000000000" charset="-122"/>
                          <a:ea typeface="PingFang SC Semibold" panose="020B0400000000000000" charset="-122"/>
                          <a:cs typeface="PingFang SC Semibold" panose="020B0400000000000000" charset="-122"/>
                        </a:rPr>
                        <a:t>速度改善 ≠ WSS 改善</a:t>
                      </a:r>
                      <a:endParaRPr sz="1200" b="1">
                        <a:solidFill>
                          <a:srgbClr val="D63A3A"/>
                        </a:solidFill>
                        <a:latin typeface="PingFang SC Semibold" panose="020B0400000000000000" charset="-122"/>
                        <a:ea typeface="PingFang SC Semibold" panose="020B0400000000000000" charset="-122"/>
                        <a:cs typeface="PingFang SC Semibold" panose="020B0400000000000000" charset="-122"/>
                      </a:endParaRPr>
                    </a:p>
                  </a:txBody>
                  <a:tcPr marL="76200" marR="76200" marT="38100" marB="38100" anchor="ctr">
                    <a:solidFill>
                      <a:srgbClr val="EAF1F8"/>
                    </a:solidFill>
                  </a:tcPr>
                </a:tc>
              </a:tr>
              <a:tr h="61595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E6E9E"/>
                          </a:solidFill>
                          <a:latin typeface="PingFang SC Semibold" panose="020B0400000000000000" charset="-122"/>
                          <a:ea typeface="PingFang SC Semibold" panose="020B0400000000000000" charset="-122"/>
                        </a:rPr>
                        <a:t>V3P-F-30b-VelConsist</a:t>
                      </a:r>
                      <a:endParaRPr sz="1200" b="1">
                        <a:solidFill>
                          <a:srgbClr val="2E6E9E"/>
                        </a:solidFill>
                        <a:latin typeface="PingFang SC Semibold" panose="020B0400000000000000" charset="-122"/>
                        <a:ea typeface="PingFang SC Semibold" panose="020B0400000000000000" charset="-122"/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13040"/>
                          </a:solidFill>
                          <a:latin typeface="PingFang SC Semibold" panose="020B0400000000000000" charset="-122"/>
                          <a:ea typeface="PingFang SC Semibold" panose="020B0400000000000000" charset="-122"/>
                          <a:cs typeface="PingFang SC Semibold" panose="020B0400000000000000" charset="-122"/>
                        </a:rPr>
                        <a:t>速度-WSS 一致性 loss</a:t>
                      </a:r>
                      <a:endParaRPr sz="1200" b="1">
                        <a:solidFill>
                          <a:srgbClr val="213040"/>
                        </a:solidFill>
                        <a:latin typeface="PingFang SC Semibold" panose="020B0400000000000000" charset="-122"/>
                        <a:ea typeface="PingFang SC Semibold" panose="020B0400000000000000" charset="-122"/>
                        <a:cs typeface="PingFang SC Semibold" panose="020B0400000000000000" charset="-122"/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13040"/>
                          </a:solidFill>
                          <a:latin typeface="PingFang SC Semibold" panose="020B0400000000000000" charset="-122"/>
                          <a:ea typeface="PingFang SC Semibold" panose="020B0400000000000000" charset="-122"/>
                        </a:rPr>
                        <a:t>best_wss=0.321</a:t>
                      </a:r>
                      <a:endParaRPr sz="1200" b="1">
                        <a:solidFill>
                          <a:srgbClr val="213040"/>
                        </a:solidFill>
                        <a:latin typeface="PingFang SC Semibold" panose="020B0400000000000000" charset="-122"/>
                        <a:ea typeface="PingFang SC Semibold" panose="020B0400000000000000" charset="-122"/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D63A3A"/>
                          </a:solidFill>
                          <a:latin typeface="PingFang SC Semibold" panose="020B0400000000000000" charset="-122"/>
                          <a:ea typeface="PingFang SC Semibold" panose="020B0400000000000000" charset="-122"/>
                          <a:cs typeface="PingFang SC Semibold" panose="020B0400000000000000" charset="-122"/>
                        </a:rPr>
                        <a:t>比 VelSup 更差</a:t>
                      </a:r>
                      <a:endParaRPr sz="1200" b="1">
                        <a:solidFill>
                          <a:srgbClr val="D63A3A"/>
                        </a:solidFill>
                        <a:latin typeface="PingFang SC Semibold" panose="020B0400000000000000" charset="-122"/>
                        <a:ea typeface="PingFang SC Semibold" panose="020B0400000000000000" charset="-122"/>
                        <a:cs typeface="PingFang SC Semibold" panose="020B0400000000000000" charset="-122"/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E6E9E"/>
                          </a:solidFill>
                          <a:latin typeface="PingFang SC Semibold" panose="020B0400000000000000" charset="-122"/>
                          <a:ea typeface="PingFang SC Semibold" panose="020B0400000000000000" charset="-122"/>
                        </a:rPr>
                        <a:t>V3P-F-33-Slope</a:t>
                      </a:r>
                      <a:endParaRPr sz="1200" b="1">
                        <a:solidFill>
                          <a:srgbClr val="2E6E9E"/>
                        </a:solidFill>
                        <a:latin typeface="PingFang SC Semibold" panose="020B0400000000000000" charset="-122"/>
                        <a:ea typeface="PingFang SC Semibold" panose="020B0400000000000000" charset="-122"/>
                      </a:endParaRPr>
                    </a:p>
                  </a:txBody>
                  <a:tcPr marL="76200" marR="76200" marT="38100" marB="38100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13040"/>
                          </a:solidFill>
                          <a:latin typeface="PingFang SC Semibold" panose="020B0400000000000000" charset="-122"/>
                          <a:ea typeface="PingFang SC Semibold" panose="020B0400000000000000" charset="-122"/>
                          <a:cs typeface="PingFang SC Semibold" panose="020B0400000000000000" charset="-122"/>
                        </a:rPr>
                        <a:t>速度斜率约束辅助 WSS</a:t>
                      </a:r>
                      <a:endParaRPr sz="1200" b="1">
                        <a:solidFill>
                          <a:srgbClr val="213040"/>
                        </a:solidFill>
                        <a:latin typeface="PingFang SC Semibold" panose="020B0400000000000000" charset="-122"/>
                        <a:ea typeface="PingFang SC Semibold" panose="020B0400000000000000" charset="-122"/>
                        <a:cs typeface="PingFang SC Semibold" panose="020B0400000000000000" charset="-122"/>
                      </a:endParaRPr>
                    </a:p>
                  </a:txBody>
                  <a:tcPr marL="76200" marR="76200" marT="38100" marB="38100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13040"/>
                          </a:solidFill>
                          <a:latin typeface="PingFang SC Semibold" panose="020B0400000000000000" charset="-122"/>
                          <a:ea typeface="PingFang SC Semibold" panose="020B0400000000000000" charset="-122"/>
                        </a:rPr>
                        <a:t>best_wss=0.381</a:t>
                      </a:r>
                      <a:endParaRPr sz="1200" b="1">
                        <a:solidFill>
                          <a:srgbClr val="213040"/>
                        </a:solidFill>
                        <a:latin typeface="PingFang SC Semibold" panose="020B0400000000000000" charset="-122"/>
                        <a:ea typeface="PingFang SC Semibold" panose="020B0400000000000000" charset="-122"/>
                      </a:endParaRPr>
                    </a:p>
                  </a:txBody>
                  <a:tcPr marL="76200" marR="76200" marT="38100" marB="38100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D63A3A"/>
                          </a:solidFill>
                          <a:latin typeface="PingFang SC Semibold" panose="020B0400000000000000" charset="-122"/>
                          <a:ea typeface="PingFang SC Semibold" panose="020B0400000000000000" charset="-122"/>
                          <a:cs typeface="PingFang SC Semibold" panose="020B0400000000000000" charset="-122"/>
                        </a:rPr>
                        <a:t>仍低于 4957 母版</a:t>
                      </a:r>
                      <a:endParaRPr sz="1200" b="1">
                        <a:solidFill>
                          <a:srgbClr val="D63A3A"/>
                        </a:solidFill>
                        <a:latin typeface="PingFang SC Semibold" panose="020B0400000000000000" charset="-122"/>
                        <a:ea typeface="PingFang SC Semibold" panose="020B0400000000000000" charset="-122"/>
                        <a:cs typeface="PingFang SC Semibold" panose="020B0400000000000000" charset="-122"/>
                      </a:endParaRPr>
                    </a:p>
                  </a:txBody>
                  <a:tcPr marL="76200" marR="76200" marT="38100" marB="38100" anchor="ctr">
                    <a:solidFill>
                      <a:srgbClr val="EAF1F8"/>
                    </a:solidFill>
                  </a:tcPr>
                </a:tc>
              </a:tr>
              <a:tr h="616585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E6E9E"/>
                          </a:solidFill>
                          <a:latin typeface="PingFang SC Semibold" panose="020B0400000000000000" charset="-122"/>
                          <a:ea typeface="PingFang SC Semibold" panose="020B0400000000000000" charset="-122"/>
                        </a:rPr>
                        <a:t>V3P-F-30c-VelDiffInfer</a:t>
                      </a:r>
                      <a:endParaRPr sz="1200" b="1">
                        <a:solidFill>
                          <a:srgbClr val="2E6E9E"/>
                        </a:solidFill>
                        <a:latin typeface="PingFang SC Semibold" panose="020B0400000000000000" charset="-122"/>
                        <a:ea typeface="PingFang SC Semibold" panose="020B0400000000000000" charset="-122"/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13040"/>
                          </a:solidFill>
                          <a:latin typeface="PingFang SC Semibold" panose="020B0400000000000000" charset="-122"/>
                          <a:ea typeface="PingFang SC Semibold" panose="020B0400000000000000" charset="-122"/>
                          <a:cs typeface="PingFang SC Semibold" panose="020B0400000000000000" charset="-122"/>
                        </a:rPr>
                        <a:t>速度差分直接推 WSS</a:t>
                      </a:r>
                      <a:endParaRPr sz="1200" b="1">
                        <a:solidFill>
                          <a:srgbClr val="213040"/>
                        </a:solidFill>
                        <a:latin typeface="PingFang SC Semibold" panose="020B0400000000000000" charset="-122"/>
                        <a:ea typeface="PingFang SC Semibold" panose="020B0400000000000000" charset="-122"/>
                        <a:cs typeface="PingFang SC Semibold" panose="020B0400000000000000" charset="-122"/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13040"/>
                          </a:solidFill>
                          <a:latin typeface="PingFang SC Semibold" panose="020B0400000000000000" charset="-122"/>
                          <a:ea typeface="PingFang SC Semibold" panose="020B0400000000000000" charset="-122"/>
                          <a:cs typeface="PingFang SC Semibold" panose="020B0400000000000000" charset="-122"/>
                        </a:rPr>
                        <a:t>强 No-Go，WSS R² 大幅负，成本极高</a:t>
                      </a:r>
                      <a:endParaRPr sz="1200" b="1">
                        <a:solidFill>
                          <a:srgbClr val="213040"/>
                        </a:solidFill>
                        <a:latin typeface="PingFang SC Semibold" panose="020B0400000000000000" charset="-122"/>
                        <a:ea typeface="PingFang SC Semibold" panose="020B0400000000000000" charset="-122"/>
                        <a:cs typeface="PingFang SC Semibold" panose="020B0400000000000000" charset="-122"/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D63A3A"/>
                          </a:solidFill>
                          <a:latin typeface="PingFang SC Semibold" panose="020B0400000000000000" charset="-122"/>
                          <a:ea typeface="PingFang SC Semibold" panose="020B0400000000000000" charset="-122"/>
                          <a:cs typeface="PingFang SC Semibold" panose="020B0400000000000000" charset="-122"/>
                        </a:rPr>
                        <a:t>direct vel_diff 线关闭</a:t>
                      </a:r>
                      <a:endParaRPr sz="1200" b="1">
                        <a:solidFill>
                          <a:srgbClr val="D63A3A"/>
                        </a:solidFill>
                        <a:latin typeface="PingFang SC Semibold" panose="020B0400000000000000" charset="-122"/>
                        <a:ea typeface="PingFang SC Semibold" panose="020B0400000000000000" charset="-122"/>
                        <a:cs typeface="PingFang SC Semibold" panose="020B0400000000000000" charset="-122"/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616585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E6E9E"/>
                          </a:solidFill>
                          <a:latin typeface="PingFang SC Semibold" panose="020B0400000000000000" charset="-122"/>
                          <a:ea typeface="PingFang SC Semibold" panose="020B0400000000000000" charset="-122"/>
                        </a:rPr>
                        <a:t>V3P-F-PCv2-BLContext</a:t>
                      </a:r>
                      <a:endParaRPr sz="1200" b="1">
                        <a:solidFill>
                          <a:srgbClr val="2E6E9E"/>
                        </a:solidFill>
                        <a:latin typeface="PingFang SC Semibold" panose="020B0400000000000000" charset="-122"/>
                        <a:ea typeface="PingFang SC Semibold" panose="020B0400000000000000" charset="-122"/>
                      </a:endParaRPr>
                    </a:p>
                  </a:txBody>
                  <a:tcPr marL="76200" marR="76200" marT="38100" marB="38100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13040"/>
                          </a:solidFill>
                          <a:latin typeface="PingFang SC Semibold" panose="020B0400000000000000" charset="-122"/>
                          <a:ea typeface="PingFang SC Semibold" panose="020B0400000000000000" charset="-122"/>
                          <a:cs typeface="PingFang SC Semibold" panose="020B0400000000000000" charset="-122"/>
                        </a:rPr>
                        <a:t>压力梯度+近壁差分输入</a:t>
                      </a:r>
                      <a:endParaRPr sz="1200" b="1">
                        <a:solidFill>
                          <a:srgbClr val="213040"/>
                        </a:solidFill>
                        <a:latin typeface="PingFang SC Semibold" panose="020B0400000000000000" charset="-122"/>
                        <a:ea typeface="PingFang SC Semibold" panose="020B0400000000000000" charset="-122"/>
                        <a:cs typeface="PingFang SC Semibold" panose="020B0400000000000000" charset="-122"/>
                      </a:endParaRPr>
                    </a:p>
                  </a:txBody>
                  <a:tcPr marL="76200" marR="76200" marT="38100" marB="38100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13040"/>
                          </a:solidFill>
                          <a:latin typeface="PingFang SC Semibold" panose="020B0400000000000000" charset="-122"/>
                          <a:ea typeface="PingFang SC Semibold" panose="020B0400000000000000" charset="-122"/>
                          <a:cs typeface="PingFang SC Semibold" panose="020B0400000000000000" charset="-122"/>
                        </a:rPr>
                        <a:t>best_wss≈0.399，未超 PGradFeat 0.406</a:t>
                      </a:r>
                      <a:endParaRPr sz="1200" b="1">
                        <a:solidFill>
                          <a:srgbClr val="213040"/>
                        </a:solidFill>
                        <a:latin typeface="PingFang SC Semibold" panose="020B0400000000000000" charset="-122"/>
                        <a:ea typeface="PingFang SC Semibold" panose="020B0400000000000000" charset="-122"/>
                        <a:cs typeface="PingFang SC Semibold" panose="020B0400000000000000" charset="-122"/>
                      </a:endParaRPr>
                    </a:p>
                  </a:txBody>
                  <a:tcPr marL="76200" marR="76200" marT="38100" marB="38100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D63A3A"/>
                          </a:solidFill>
                          <a:latin typeface="PingFang SC Semibold" panose="020B0400000000000000" charset="-122"/>
                          <a:ea typeface="PingFang SC Semibold" panose="020B0400000000000000" charset="-122"/>
                        </a:rPr>
                        <a:t>近壁上下文不足以突破</a:t>
                      </a:r>
                      <a:endParaRPr sz="1200" b="1">
                        <a:solidFill>
                          <a:srgbClr val="D63A3A"/>
                        </a:solidFill>
                        <a:latin typeface="PingFang SC Semibold" panose="020B0400000000000000" charset="-122"/>
                        <a:ea typeface="PingFang SC Semibold" panose="020B0400000000000000" charset="-122"/>
                      </a:endParaRPr>
                    </a:p>
                  </a:txBody>
                  <a:tcPr marL="76200" marR="76200" marT="38100" marB="38100" anchor="ctr">
                    <a:solidFill>
                      <a:srgbClr val="EAF1F8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48640" y="5943600"/>
            <a:ext cx="10972800" cy="4114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0E2A47"/>
                </a:solidFill>
                <a:latin typeface="PingFang SC" panose="020B0400000000000000" charset="-122"/>
                <a:ea typeface="PingFang SC" panose="020B0400000000000000" charset="-122"/>
              </a:rPr>
              <a:t>→ 论文最有价值的不是「回去把速度场做大」，而是它的</a:t>
            </a:r>
            <a:r>
              <a:rPr sz="1200" b="1">
                <a:solidFill>
                  <a:srgbClr val="0E2A47"/>
                </a:solidFill>
                <a:latin typeface="PingFang SC" panose="020B0400000000000000" charset="-122"/>
                <a:ea typeface="PingFang SC" panose="020B0400000000000000" charset="-122"/>
              </a:rPr>
              <a:t>物理约束 + 点云预处理 + 临床指标叙事</a:t>
            </a:r>
            <a:r>
              <a:rPr sz="1200" b="0">
                <a:solidFill>
                  <a:srgbClr val="0E2A47"/>
                </a:solidFill>
                <a:latin typeface="PingFang SC" panose="020B0400000000000000" charset="-122"/>
                <a:ea typeface="PingFang SC" panose="020B0400000000000000" charset="-122"/>
              </a:rPr>
              <a:t>思想。</a:t>
            </a:r>
            <a:endParaRPr sz="1200" b="0">
              <a:solidFill>
                <a:srgbClr val="0E2A47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2920" y="6547104"/>
            <a:ext cx="7315200" cy="25603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A6B7B"/>
                </a:solidFill>
                <a:latin typeface="PingFang SC" panose="020B0400000000000000" charset="-122"/>
                <a:ea typeface="PingFang SC" panose="020B0400000000000000" charset="-122"/>
              </a:rPr>
              <a:t>脑血管 PINNs 点云论文 · 阅读与对照</a:t>
            </a:r>
            <a:endParaRPr sz="850" b="0">
              <a:solidFill>
                <a:srgbClr val="5A6B7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265615" y="6547104"/>
            <a:ext cx="2423160" cy="25603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A6B7B"/>
                </a:solidFill>
                <a:latin typeface="PingFang SC" panose="020B0400000000000000" charset="-122"/>
                <a:ea typeface="PingFang SC" panose="020B0400000000000000" charset="-122"/>
              </a:rPr>
              <a:t>2026-06-11  ·  科研汇报</a:t>
            </a:r>
            <a:endParaRPr sz="850" b="0">
              <a:solidFill>
                <a:srgbClr val="5A6B7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38100"/>
          </a:xfrm>
          <a:prstGeom prst="rect">
            <a:avLst/>
          </a:prstGeom>
          <a:solidFill>
            <a:srgbClr val="16A0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0584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6A0B8"/>
                </a:solidFill>
                <a:latin typeface="PingFang SC" panose="020B0400000000000000" charset="-122"/>
                <a:ea typeface="PingFang SC" panose="020B0400000000000000" charset="-122"/>
              </a:rPr>
              <a:t>05 · COMPARISON</a:t>
            </a:r>
            <a:endParaRPr sz="1150" b="1">
              <a:solidFill>
                <a:srgbClr val="16A0B8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0607040" cy="56692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</a:rPr>
              <a:t>对照（一）数据集与任务对象</a:t>
            </a:r>
            <a:endParaRPr sz="23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1323015" y="310896"/>
            <a:ext cx="457200" cy="457200"/>
          </a:xfrm>
          <a:prstGeom prst="rect">
            <a:avLst/>
          </a:prstGeom>
          <a:solidFill>
            <a:srgbClr val="16A0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23015" y="310896"/>
            <a:ext cx="457200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</a:rPr>
              <a:t>09</a:t>
            </a:r>
            <a:endParaRPr sz="14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" y="1170432"/>
            <a:ext cx="1097280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A6B7B"/>
                </a:solidFill>
                <a:latin typeface="PingFang SC" panose="020B0400000000000000" charset="-122"/>
                <a:ea typeface="PingFang SC" panose="020B0400000000000000" charset="-122"/>
              </a:rPr>
              <a:t>解剖对象 · 病例规模 · CFD 类型 · 临床语境</a:t>
            </a:r>
            <a:endParaRPr sz="1200" b="0">
              <a:solidFill>
                <a:srgbClr val="5A6B7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572895"/>
          <a:ext cx="11181715" cy="462216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93495"/>
                <a:gridCol w="3419475"/>
                <a:gridCol w="3234690"/>
                <a:gridCol w="3234055"/>
              </a:tblGrid>
              <a:tr h="56388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ingFang SC Semibold" panose="020B0400000000000000" charset="-122"/>
                          <a:ea typeface="PingFang SC Semibold" panose="020B0400000000000000" charset="-122"/>
                        </a:rPr>
                        <a:t>维度</a:t>
                      </a:r>
                      <a:endParaRPr sz="1200" b="1">
                        <a:solidFill>
                          <a:srgbClr val="FFFFFF"/>
                        </a:solidFill>
                        <a:latin typeface="PingFang SC Semibold" panose="020B0400000000000000" charset="-122"/>
                        <a:ea typeface="PingFang SC Semibold" panose="020B0400000000000000" charset="-122"/>
                      </a:endParaRPr>
                    </a:p>
                  </a:txBody>
                  <a:tcPr marL="76200" marR="76200" marT="38100" marB="38100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ingFang SC Semibold" panose="020B0400000000000000" charset="-122"/>
                          <a:ea typeface="PingFang SC Semibold" panose="020B0400000000000000" charset="-122"/>
                          <a:cs typeface="PingFang SC Semibold" panose="020B0400000000000000" charset="-122"/>
                        </a:rPr>
                        <a:t>Liao 2025 论文</a:t>
                      </a:r>
                      <a:endParaRPr sz="1200" b="1">
                        <a:solidFill>
                          <a:srgbClr val="FFFFFF"/>
                        </a:solidFill>
                        <a:latin typeface="PingFang SC Semibold" panose="020B0400000000000000" charset="-122"/>
                        <a:ea typeface="PingFang SC Semibold" panose="020B0400000000000000" charset="-122"/>
                        <a:cs typeface="PingFang SC Semibold" panose="020B0400000000000000" charset="-122"/>
                      </a:endParaRPr>
                    </a:p>
                  </a:txBody>
                  <a:tcPr marL="76200" marR="76200" marT="38100" marB="38100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ingFang SC Semibold" panose="020B0400000000000000" charset="-122"/>
                          <a:ea typeface="PingFang SC Semibold" panose="020B0400000000000000" charset="-122"/>
                          <a:cs typeface="PingFang SC Semibold" panose="020B0400000000000000" charset="-122"/>
                        </a:rPr>
                        <a:t>我们 V1 速度/压力</a:t>
                      </a:r>
                      <a:endParaRPr sz="1200" b="1">
                        <a:solidFill>
                          <a:srgbClr val="FFFFFF"/>
                        </a:solidFill>
                        <a:latin typeface="PingFang SC Semibold" panose="020B0400000000000000" charset="-122"/>
                        <a:ea typeface="PingFang SC Semibold" panose="020B0400000000000000" charset="-122"/>
                        <a:cs typeface="PingFang SC Semibold" panose="020B0400000000000000" charset="-122"/>
                      </a:endParaRPr>
                    </a:p>
                  </a:txBody>
                  <a:tcPr marL="76200" marR="76200" marT="38100" marB="38100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ingFang SC Semibold" panose="020B0400000000000000" charset="-122"/>
                          <a:ea typeface="PingFang SC Semibold" panose="020B0400000000000000" charset="-122"/>
                          <a:cs typeface="PingFang SC Semibold" panose="020B0400000000000000" charset="-122"/>
                        </a:rPr>
                        <a:t>我们 V2/V3 WSS</a:t>
                      </a:r>
                      <a:endParaRPr sz="1200" b="1">
                        <a:solidFill>
                          <a:srgbClr val="FFFFFF"/>
                        </a:solidFill>
                        <a:latin typeface="PingFang SC Semibold" panose="020B0400000000000000" charset="-122"/>
                        <a:ea typeface="PingFang SC Semibold" panose="020B0400000000000000" charset="-122"/>
                        <a:cs typeface="PingFang SC Semibold" panose="020B0400000000000000" charset="-122"/>
                      </a:endParaRPr>
                    </a:p>
                  </a:txBody>
                  <a:tcPr marL="76200" marR="76200" marT="38100" marB="38100" anchor="ctr">
                    <a:solidFill>
                      <a:srgbClr val="1F4E79"/>
                    </a:solidFill>
                  </a:tcPr>
                </a:tc>
              </a:tr>
              <a:tr h="81153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E6E9E"/>
                          </a:solidFill>
                          <a:latin typeface="PingFang SC Semibold" panose="020B0400000000000000" charset="-122"/>
                          <a:ea typeface="PingFang SC Semibold" panose="020B0400000000000000" charset="-122"/>
                        </a:rPr>
                        <a:t>解剖对象</a:t>
                      </a:r>
                      <a:endParaRPr sz="1000" b="1">
                        <a:solidFill>
                          <a:srgbClr val="2E6E9E"/>
                        </a:solidFill>
                        <a:latin typeface="PingFang SC Semibold" panose="020B0400000000000000" charset="-122"/>
                        <a:ea typeface="PingFang SC Semibold" panose="020B0400000000000000" charset="-122"/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13040"/>
                          </a:solidFill>
                          <a:latin typeface="PingFang SC Semibold" panose="020B0400000000000000" charset="-122"/>
                          <a:ea typeface="PingFang SC Semibold" panose="020B0400000000000000" charset="-122"/>
                          <a:cs typeface="PingFang SC Semibold" panose="020B0400000000000000" charset="-122"/>
                        </a:rPr>
                        <a:t>右侧 ICA C3-C7，siphon，49/51 含瘤</a:t>
                      </a:r>
                      <a:endParaRPr sz="1000" b="1">
                        <a:solidFill>
                          <a:srgbClr val="213040"/>
                        </a:solidFill>
                        <a:latin typeface="PingFang SC Semibold" panose="020B0400000000000000" charset="-122"/>
                        <a:ea typeface="PingFang SC Semibold" panose="020B0400000000000000" charset="-122"/>
                        <a:cs typeface="PingFang SC Semibold" panose="020B0400000000000000" charset="-122"/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13040"/>
                          </a:solidFill>
                          <a:latin typeface="PingFang SC Semibold" panose="020B0400000000000000" charset="-122"/>
                          <a:ea typeface="PingFang SC Semibold" panose="020B0400000000000000" charset="-122"/>
                          <a:cs typeface="PingFang SC Semibold" panose="020B0400000000000000" charset="-122"/>
                        </a:rPr>
                        <a:t>AG 数据，fast/slow 病例，血管场重建</a:t>
                      </a:r>
                      <a:endParaRPr sz="1000" b="1">
                        <a:solidFill>
                          <a:srgbClr val="213040"/>
                        </a:solidFill>
                        <a:latin typeface="PingFang SC Semibold" panose="020B0400000000000000" charset="-122"/>
                        <a:ea typeface="PingFang SC Semibold" panose="020B0400000000000000" charset="-122"/>
                        <a:cs typeface="PingFang SC Semibold" panose="020B0400000000000000" charset="-122"/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13040"/>
                          </a:solidFill>
                          <a:latin typeface="PingFang SC Semibold" panose="020B0400000000000000" charset="-122"/>
                          <a:ea typeface="PingFang SC Semibold" panose="020B0400000000000000" charset="-122"/>
                          <a:cs typeface="PingFang SC Semibold" panose="020B0400000000000000" charset="-122"/>
                        </a:rPr>
                        <a:t>AG-only V3P；另有 V3D 三域 AAA/AG/ILO</a:t>
                      </a:r>
                      <a:endParaRPr sz="1000" b="1">
                        <a:solidFill>
                          <a:srgbClr val="213040"/>
                        </a:solidFill>
                        <a:latin typeface="PingFang SC Semibold" panose="020B0400000000000000" charset="-122"/>
                        <a:ea typeface="PingFang SC Semibold" panose="020B0400000000000000" charset="-122"/>
                        <a:cs typeface="PingFang SC Semibold" panose="020B0400000000000000" charset="-122"/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812165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E6E9E"/>
                          </a:solidFill>
                          <a:latin typeface="PingFang SC Semibold" panose="020B0400000000000000" charset="-122"/>
                          <a:ea typeface="PingFang SC Semibold" panose="020B0400000000000000" charset="-122"/>
                        </a:rPr>
                        <a:t>病例规模</a:t>
                      </a:r>
                      <a:endParaRPr sz="1000" b="1">
                        <a:solidFill>
                          <a:srgbClr val="2E6E9E"/>
                        </a:solidFill>
                        <a:latin typeface="PingFang SC Semibold" panose="020B0400000000000000" charset="-122"/>
                        <a:ea typeface="PingFang SC Semibold" panose="020B0400000000000000" charset="-122"/>
                      </a:endParaRPr>
                    </a:p>
                  </a:txBody>
                  <a:tcPr marL="76200" marR="76200" marT="38100" marB="38100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13040"/>
                          </a:solidFill>
                          <a:latin typeface="PingFang SC Semibold" panose="020B0400000000000000" charset="-122"/>
                          <a:ea typeface="PingFang SC Semibold" panose="020B0400000000000000" charset="-122"/>
                          <a:cs typeface="PingFang SC Semibold" panose="020B0400000000000000" charset="-122"/>
                        </a:rPr>
                        <a:t>51 例；40 train / 11 test；4× 随机划分</a:t>
                      </a:r>
                      <a:endParaRPr sz="1000" b="1">
                        <a:solidFill>
                          <a:srgbClr val="213040"/>
                        </a:solidFill>
                        <a:latin typeface="PingFang SC Semibold" panose="020B0400000000000000" charset="-122"/>
                        <a:ea typeface="PingFang SC Semibold" panose="020B0400000000000000" charset="-122"/>
                        <a:cs typeface="PingFang SC Semibold" panose="020B0400000000000000" charset="-122"/>
                      </a:endParaRPr>
                    </a:p>
                  </a:txBody>
                  <a:tcPr marL="76200" marR="76200" marT="38100" marB="38100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13040"/>
                          </a:solidFill>
                          <a:latin typeface="PingFang SC Semibold" panose="020B0400000000000000" charset="-122"/>
                          <a:ea typeface="PingFang SC Semibold" panose="020B0400000000000000" charset="-122"/>
                          <a:cs typeface="PingFang SC Semibold" panose="020B0400000000000000" charset="-122"/>
                        </a:rPr>
                        <a:t>split_AG_v1：60/8/18 例，约81图/例</a:t>
                      </a:r>
                      <a:endParaRPr sz="1000" b="1">
                        <a:solidFill>
                          <a:srgbClr val="213040"/>
                        </a:solidFill>
                        <a:latin typeface="PingFang SC Semibold" panose="020B0400000000000000" charset="-122"/>
                        <a:ea typeface="PingFang SC Semibold" panose="020B0400000000000000" charset="-122"/>
                        <a:cs typeface="PingFang SC Semibold" panose="020B0400000000000000" charset="-122"/>
                      </a:endParaRPr>
                    </a:p>
                  </a:txBody>
                  <a:tcPr marL="76200" marR="76200" marT="38100" marB="38100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13040"/>
                          </a:solidFill>
                          <a:latin typeface="PingFang SC Semibold" panose="020B0400000000000000" charset="-122"/>
                          <a:ea typeface="PingFang SC Semibold" panose="020B0400000000000000" charset="-122"/>
                          <a:cs typeface="PingFang SC Semibold" panose="020B0400000000000000" charset="-122"/>
                        </a:rPr>
                        <a:t>V3P:57/8/16 例；V3D train 179 例</a:t>
                      </a:r>
                      <a:endParaRPr sz="1000" b="1">
                        <a:solidFill>
                          <a:srgbClr val="213040"/>
                        </a:solidFill>
                        <a:latin typeface="PingFang SC Semibold" panose="020B0400000000000000" charset="-122"/>
                        <a:ea typeface="PingFang SC Semibold" panose="020B0400000000000000" charset="-122"/>
                        <a:cs typeface="PingFang SC Semibold" panose="020B0400000000000000" charset="-122"/>
                      </a:endParaRPr>
                    </a:p>
                  </a:txBody>
                  <a:tcPr marL="76200" marR="76200" marT="38100" marB="38100" anchor="ctr">
                    <a:solidFill>
                      <a:srgbClr val="EAF1F8"/>
                    </a:solidFill>
                  </a:tcPr>
                </a:tc>
              </a:tr>
              <a:tr h="810895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E6E9E"/>
                          </a:solidFill>
                          <a:latin typeface="PingFang SC Semibold" panose="020B0400000000000000" charset="-122"/>
                          <a:ea typeface="PingFang SC Semibold" panose="020B0400000000000000" charset="-122"/>
                          <a:cs typeface="PingFang SC Semibold" panose="020B0400000000000000" charset="-122"/>
                        </a:rPr>
                        <a:t>CFD 类型</a:t>
                      </a:r>
                      <a:endParaRPr sz="1000" b="1">
                        <a:solidFill>
                          <a:srgbClr val="2E6E9E"/>
                        </a:solidFill>
                        <a:latin typeface="PingFang SC Semibold" panose="020B0400000000000000" charset="-122"/>
                        <a:ea typeface="PingFang SC Semibold" panose="020B0400000000000000" charset="-122"/>
                        <a:cs typeface="PingFang SC Semibold" panose="020B0400000000000000" charset="-122"/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13040"/>
                          </a:solidFill>
                          <a:latin typeface="PingFang SC Semibold" panose="020B0400000000000000" charset="-122"/>
                          <a:ea typeface="PingFang SC Semibold" panose="020B0400000000000000" charset="-122"/>
                          <a:cs typeface="PingFang SC Semibold" panose="020B0400000000000000" charset="-122"/>
                        </a:rPr>
                        <a:t>稳态 N-S；Fluent；~50万 elements</a:t>
                      </a:r>
                      <a:endParaRPr sz="1000" b="1">
                        <a:solidFill>
                          <a:srgbClr val="213040"/>
                        </a:solidFill>
                        <a:latin typeface="PingFang SC Semibold" panose="020B0400000000000000" charset="-122"/>
                        <a:ea typeface="PingFang SC Semibold" panose="020B0400000000000000" charset="-122"/>
                        <a:cs typeface="PingFang SC Semibold" panose="020B0400000000000000" charset="-122"/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13040"/>
                          </a:solidFill>
                          <a:latin typeface="PingFang SC Semibold" panose="020B0400000000000000" charset="-122"/>
                          <a:ea typeface="PingFang SC Semibold" panose="020B0400000000000000" charset="-122"/>
                          <a:cs typeface="PingFang SC Semibold" panose="020B0400000000000000" charset="-122"/>
                        </a:rPr>
                        <a:t>CFD 图/点云快照，含时间/边界条件</a:t>
                      </a:r>
                      <a:endParaRPr sz="1000" b="1">
                        <a:solidFill>
                          <a:srgbClr val="213040"/>
                        </a:solidFill>
                        <a:latin typeface="PingFang SC Semibold" panose="020B0400000000000000" charset="-122"/>
                        <a:ea typeface="PingFang SC Semibold" panose="020B0400000000000000" charset="-122"/>
                        <a:cs typeface="PingFang SC Semibold" panose="020B0400000000000000" charset="-122"/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13040"/>
                          </a:solidFill>
                          <a:latin typeface="PingFang SC Semibold" panose="020B0400000000000000" charset="-122"/>
                          <a:ea typeface="PingFang SC Semibold" panose="020B0400000000000000" charset="-122"/>
                          <a:cs typeface="PingFang SC Semibold" panose="020B0400000000000000" charset="-122"/>
                        </a:rPr>
                        <a:t>同源 CFD 图资产，改 wall-rich/近壁采样</a:t>
                      </a:r>
                      <a:endParaRPr sz="1000" b="1">
                        <a:solidFill>
                          <a:srgbClr val="213040"/>
                        </a:solidFill>
                        <a:latin typeface="PingFang SC Semibold" panose="020B0400000000000000" charset="-122"/>
                        <a:ea typeface="PingFang SC Semibold" panose="020B0400000000000000" charset="-122"/>
                        <a:cs typeface="PingFang SC Semibold" panose="020B0400000000000000" charset="-122"/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81153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E6E9E"/>
                          </a:solidFill>
                          <a:latin typeface="PingFang SC Semibold" panose="020B0400000000000000" charset="-122"/>
                          <a:ea typeface="PingFang SC Semibold" panose="020B0400000000000000" charset="-122"/>
                        </a:rPr>
                        <a:t>临床语境</a:t>
                      </a:r>
                      <a:endParaRPr sz="1000" b="1">
                        <a:solidFill>
                          <a:srgbClr val="2E6E9E"/>
                        </a:solidFill>
                        <a:latin typeface="PingFang SC Semibold" panose="020B0400000000000000" charset="-122"/>
                        <a:ea typeface="PingFang SC Semibold" panose="020B0400000000000000" charset="-122"/>
                      </a:endParaRPr>
                    </a:p>
                  </a:txBody>
                  <a:tcPr marL="76200" marR="76200" marT="38100" marB="38100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13040"/>
                          </a:solidFill>
                          <a:latin typeface="PingFang SC Semibold" panose="020B0400000000000000" charset="-122"/>
                          <a:ea typeface="PingFang SC Semibold" panose="020B0400000000000000" charset="-122"/>
                          <a:cs typeface="PingFang SC Semibold" panose="020B0400000000000000" charset="-122"/>
                        </a:rPr>
                        <a:t>脑动脉瘤与 ICA siphon 血流</a:t>
                      </a:r>
                      <a:endParaRPr sz="1000" b="1">
                        <a:solidFill>
                          <a:srgbClr val="213040"/>
                        </a:solidFill>
                        <a:latin typeface="PingFang SC Semibold" panose="020B0400000000000000" charset="-122"/>
                        <a:ea typeface="PingFang SC Semibold" panose="020B0400000000000000" charset="-122"/>
                        <a:cs typeface="PingFang SC Semibold" panose="020B0400000000000000" charset="-122"/>
                      </a:endParaRPr>
                    </a:p>
                  </a:txBody>
                  <a:tcPr marL="76200" marR="76200" marT="38100" marB="38100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13040"/>
                          </a:solidFill>
                          <a:latin typeface="PingFang SC Semibold" panose="020B0400000000000000" charset="-122"/>
                          <a:ea typeface="PingFang SC Semibold" panose="020B0400000000000000" charset="-122"/>
                        </a:rPr>
                        <a:t>血流场重建，服务后续血流动力学</a:t>
                      </a:r>
                      <a:endParaRPr sz="1000" b="1">
                        <a:solidFill>
                          <a:srgbClr val="213040"/>
                        </a:solidFill>
                        <a:latin typeface="PingFang SC Semibold" panose="020B0400000000000000" charset="-122"/>
                        <a:ea typeface="PingFang SC Semibold" panose="020B0400000000000000" charset="-122"/>
                      </a:endParaRPr>
                    </a:p>
                  </a:txBody>
                  <a:tcPr marL="76200" marR="76200" marT="38100" marB="38100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13040"/>
                          </a:solidFill>
                          <a:latin typeface="PingFang SC Semibold" panose="020B0400000000000000" charset="-122"/>
                          <a:ea typeface="PingFang SC Semibold" panose="020B0400000000000000" charset="-122"/>
                          <a:cs typeface="PingFang SC Semibold" panose="020B0400000000000000" charset="-122"/>
                        </a:rPr>
                        <a:t>壁面 WSS、压力、病例级 Pa p95、高 WSS 区</a:t>
                      </a:r>
                      <a:endParaRPr sz="1000" b="1">
                        <a:solidFill>
                          <a:srgbClr val="213040"/>
                        </a:solidFill>
                        <a:latin typeface="PingFang SC Semibold" panose="020B0400000000000000" charset="-122"/>
                        <a:ea typeface="PingFang SC Semibold" panose="020B0400000000000000" charset="-122"/>
                        <a:cs typeface="PingFang SC Semibold" panose="020B0400000000000000" charset="-122"/>
                      </a:endParaRPr>
                    </a:p>
                  </a:txBody>
                  <a:tcPr marL="76200" marR="76200" marT="38100" marB="38100" anchor="ctr">
                    <a:solidFill>
                      <a:srgbClr val="EAF1F8"/>
                    </a:solidFill>
                  </a:tcPr>
                </a:tc>
              </a:tr>
              <a:tr h="812165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E6E9E"/>
                          </a:solidFill>
                          <a:latin typeface="PingFang SC Semibold" panose="020B0400000000000000" charset="-122"/>
                          <a:ea typeface="PingFang SC Semibold" panose="020B0400000000000000" charset="-122"/>
                        </a:rPr>
                        <a:t>数据</a:t>
                      </a:r>
                      <a:endParaRPr sz="1000" b="1">
                        <a:solidFill>
                          <a:srgbClr val="2E6E9E"/>
                        </a:solidFill>
                        <a:latin typeface="PingFang SC Semibold" panose="020B0400000000000000" charset="-122"/>
                        <a:ea typeface="PingFang SC Semibold" panose="020B0400000000000000" charset="-122"/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sz="1000" b="1">
                          <a:solidFill>
                            <a:srgbClr val="213040"/>
                          </a:solidFill>
                          <a:latin typeface="PingFang SC Semibold" panose="020B0400000000000000" charset="-122"/>
                          <a:ea typeface="PingFang SC Semibold" panose="020B0400000000000000" charset="-122"/>
                        </a:rPr>
                        <a:t>私有</a:t>
                      </a:r>
                      <a:r>
                        <a:rPr lang="zh-CN" sz="1000" b="1">
                          <a:solidFill>
                            <a:srgbClr val="213040"/>
                          </a:solidFill>
                          <a:latin typeface="PingFang SC Semibold" panose="020B0400000000000000" charset="-122"/>
                          <a:ea typeface="PingFang SC Semibold" panose="020B0400000000000000" charset="-122"/>
                        </a:rPr>
                        <a:t>数据</a:t>
                      </a:r>
                      <a:endParaRPr lang="zh-CN" sz="1000" b="1">
                        <a:solidFill>
                          <a:srgbClr val="213040"/>
                        </a:solidFill>
                        <a:latin typeface="PingFang SC Semibold" panose="020B0400000000000000" charset="-122"/>
                        <a:ea typeface="PingFang SC Semibold" panose="020B0400000000000000" charset="-122"/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13040"/>
                          </a:solidFill>
                          <a:latin typeface="PingFang SC Semibold" panose="020B0400000000000000" charset="-122"/>
                          <a:ea typeface="PingFang SC Semibold" panose="020B0400000000000000" charset="-122"/>
                        </a:rPr>
                        <a:t>本地项目数据</a:t>
                      </a:r>
                      <a:endParaRPr sz="1000" b="1">
                        <a:solidFill>
                          <a:srgbClr val="213040"/>
                        </a:solidFill>
                        <a:latin typeface="PingFang SC Semibold" panose="020B0400000000000000" charset="-122"/>
                        <a:ea typeface="PingFang SC Semibold" panose="020B0400000000000000" charset="-122"/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13040"/>
                          </a:solidFill>
                          <a:latin typeface="PingFang SC Semibold" panose="020B0400000000000000" charset="-122"/>
                          <a:ea typeface="PingFang SC Semibold" panose="020B0400000000000000" charset="-122"/>
                        </a:rPr>
                        <a:t>本地项目数据</a:t>
                      </a:r>
                      <a:endParaRPr sz="1000" b="1">
                        <a:solidFill>
                          <a:srgbClr val="213040"/>
                        </a:solidFill>
                        <a:latin typeface="PingFang SC Semibold" panose="020B0400000000000000" charset="-122"/>
                        <a:ea typeface="PingFang SC Semibold" panose="020B0400000000000000" charset="-122"/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02920" y="6547104"/>
            <a:ext cx="7315200" cy="25603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A6B7B"/>
                </a:solidFill>
                <a:latin typeface="PingFang SC" panose="020B0400000000000000" charset="-122"/>
                <a:ea typeface="PingFang SC" panose="020B0400000000000000" charset="-122"/>
              </a:rPr>
              <a:t>脑血管 PINNs 点云论文 · 阅读与对照</a:t>
            </a:r>
            <a:endParaRPr sz="850" b="0">
              <a:solidFill>
                <a:srgbClr val="5A6B7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265615" y="6547104"/>
            <a:ext cx="2423160" cy="25603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A6B7B"/>
                </a:solidFill>
                <a:latin typeface="PingFang SC" panose="020B0400000000000000" charset="-122"/>
                <a:ea typeface="PingFang SC" panose="020B0400000000000000" charset="-122"/>
              </a:rPr>
              <a:t>2026-06-11  ·  科研汇报</a:t>
            </a:r>
            <a:endParaRPr sz="850" b="0">
              <a:solidFill>
                <a:srgbClr val="5A6B7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38100"/>
          </a:xfrm>
          <a:prstGeom prst="rect">
            <a:avLst/>
          </a:prstGeom>
          <a:solidFill>
            <a:srgbClr val="16A0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0584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6A0B8"/>
                </a:solidFill>
                <a:latin typeface="PingFang SC" panose="020B0400000000000000" charset="-122"/>
                <a:ea typeface="PingFang SC" panose="020B0400000000000000" charset="-122"/>
              </a:rPr>
              <a:t>05 · COMPARISON</a:t>
            </a:r>
            <a:endParaRPr sz="1150" b="1">
              <a:solidFill>
                <a:srgbClr val="16A0B8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0607040" cy="56692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</a:rPr>
              <a:t>对照（二）点云采集、采样与预处理</a:t>
            </a:r>
            <a:endParaRPr sz="23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1323015" y="310896"/>
            <a:ext cx="457200" cy="457200"/>
          </a:xfrm>
          <a:prstGeom prst="rect">
            <a:avLst/>
          </a:prstGeom>
          <a:solidFill>
            <a:srgbClr val="16A0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23015" y="310896"/>
            <a:ext cx="457200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</a:rPr>
              <a:t>10</a:t>
            </a:r>
            <a:endParaRPr sz="14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" y="1170432"/>
            <a:ext cx="1097280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A6B7B"/>
                </a:solidFill>
                <a:latin typeface="PingFang SC" panose="020B0400000000000000" charset="-122"/>
                <a:ea typeface="PingFang SC" panose="020B0400000000000000" charset="-122"/>
              </a:rPr>
              <a:t>原始点来源 · 均匀化 · 点数 · 对 WSS 的潜在影响</a:t>
            </a:r>
            <a:endParaRPr sz="1200" b="0">
              <a:solidFill>
                <a:srgbClr val="5A6B7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572895"/>
          <a:ext cx="11231880" cy="44551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99845"/>
                <a:gridCol w="3341370"/>
                <a:gridCol w="3248660"/>
                <a:gridCol w="3342005"/>
              </a:tblGrid>
              <a:tr h="5435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ingFang SC Semibold" panose="020B0400000000000000" charset="-122"/>
                          <a:ea typeface="PingFang SC Semibold" panose="020B0400000000000000" charset="-122"/>
                        </a:rPr>
                        <a:t>维度</a:t>
                      </a:r>
                      <a:endParaRPr sz="1200" b="1">
                        <a:solidFill>
                          <a:srgbClr val="FFFFFF"/>
                        </a:solidFill>
                        <a:latin typeface="PingFang SC Semibold" panose="020B0400000000000000" charset="-122"/>
                        <a:ea typeface="PingFang SC Semibold" panose="020B0400000000000000" charset="-122"/>
                      </a:endParaRPr>
                    </a:p>
                  </a:txBody>
                  <a:tcPr marL="76200" marR="76200" marT="38100" marB="38100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ingFang SC Semibold" panose="020B0400000000000000" charset="-122"/>
                          <a:ea typeface="PingFang SC Semibold" panose="020B0400000000000000" charset="-122"/>
                        </a:rPr>
                        <a:t>Liao 2025</a:t>
                      </a:r>
                      <a:endParaRPr sz="1200" b="1">
                        <a:solidFill>
                          <a:srgbClr val="FFFFFF"/>
                        </a:solidFill>
                        <a:latin typeface="PingFang SC Semibold" panose="020B0400000000000000" charset="-122"/>
                        <a:ea typeface="PingFang SC Semibold" panose="020B0400000000000000" charset="-122"/>
                      </a:endParaRPr>
                    </a:p>
                  </a:txBody>
                  <a:tcPr marL="76200" marR="76200" marT="38100" marB="38100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ingFang SC Semibold" panose="020B0400000000000000" charset="-122"/>
                          <a:ea typeface="PingFang SC Semibold" panose="020B0400000000000000" charset="-122"/>
                          <a:cs typeface="PingFang SC Semibold" panose="020B0400000000000000" charset="-122"/>
                        </a:rPr>
                        <a:t>我们 V1</a:t>
                      </a:r>
                      <a:endParaRPr sz="1200" b="1">
                        <a:solidFill>
                          <a:srgbClr val="FFFFFF"/>
                        </a:solidFill>
                        <a:latin typeface="PingFang SC Semibold" panose="020B0400000000000000" charset="-122"/>
                        <a:ea typeface="PingFang SC Semibold" panose="020B0400000000000000" charset="-122"/>
                        <a:cs typeface="PingFang SC Semibold" panose="020B0400000000000000" charset="-122"/>
                      </a:endParaRPr>
                    </a:p>
                  </a:txBody>
                  <a:tcPr marL="76200" marR="76200" marT="38100" marB="38100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ingFang SC Semibold" panose="020B0400000000000000" charset="-122"/>
                          <a:ea typeface="PingFang SC Semibold" panose="020B0400000000000000" charset="-122"/>
                          <a:cs typeface="PingFang SC Semibold" panose="020B0400000000000000" charset="-122"/>
                        </a:rPr>
                        <a:t>我们 V2/V3</a:t>
                      </a:r>
                      <a:endParaRPr sz="1200" b="1">
                        <a:solidFill>
                          <a:srgbClr val="FFFFFF"/>
                        </a:solidFill>
                        <a:latin typeface="PingFang SC Semibold" panose="020B0400000000000000" charset="-122"/>
                        <a:ea typeface="PingFang SC Semibold" panose="020B0400000000000000" charset="-122"/>
                        <a:cs typeface="PingFang SC Semibold" panose="020B0400000000000000" charset="-122"/>
                      </a:endParaRPr>
                    </a:p>
                  </a:txBody>
                  <a:tcPr marL="76200" marR="76200" marT="38100" marB="38100" anchor="ctr">
                    <a:solidFill>
                      <a:srgbClr val="1F4E79"/>
                    </a:solidFill>
                  </a:tcPr>
                </a:tc>
              </a:tr>
              <a:tr h="78232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E6E9E"/>
                          </a:solidFill>
                          <a:latin typeface="PingFang SC Semibold" panose="020B0400000000000000" charset="-122"/>
                          <a:ea typeface="PingFang SC Semibold" panose="020B0400000000000000" charset="-122"/>
                        </a:rPr>
                        <a:t>原始点来源</a:t>
                      </a:r>
                      <a:endParaRPr sz="1050" b="1">
                        <a:solidFill>
                          <a:srgbClr val="2E6E9E"/>
                        </a:solidFill>
                        <a:latin typeface="PingFang SC Semibold" panose="020B0400000000000000" charset="-122"/>
                        <a:ea typeface="PingFang SC Semibold" panose="020B0400000000000000" charset="-122"/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13040"/>
                          </a:solidFill>
                          <a:latin typeface="PingFang SC Semibold" panose="020B0400000000000000" charset="-122"/>
                          <a:ea typeface="PingFang SC Semibold" panose="020B0400000000000000" charset="-122"/>
                          <a:cs typeface="PingFang SC Semibold" panose="020B0400000000000000" charset="-122"/>
                        </a:rPr>
                        <a:t>CFD mesh nodes，含 x/y/z/Vx/Vy/Vz/P</a:t>
                      </a:r>
                      <a:endParaRPr sz="1050" b="1">
                        <a:solidFill>
                          <a:srgbClr val="213040"/>
                        </a:solidFill>
                        <a:latin typeface="PingFang SC Semibold" panose="020B0400000000000000" charset="-122"/>
                        <a:ea typeface="PingFang SC Semibold" panose="020B0400000000000000" charset="-122"/>
                        <a:cs typeface="PingFang SC Semibold" panose="020B0400000000000000" charset="-122"/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13040"/>
                          </a:solidFill>
                          <a:latin typeface="PingFang SC Semibold" panose="020B0400000000000000" charset="-122"/>
                          <a:ea typeface="PingFang SC Semibold" panose="020B0400000000000000" charset="-122"/>
                          <a:cs typeface="PingFang SC Semibold" panose="020B0400000000000000" charset="-122"/>
                        </a:rPr>
                        <a:t>PyG graph：坐标+几何+壁面标签+速度/压力</a:t>
                      </a:r>
                      <a:endParaRPr sz="1050" b="1">
                        <a:solidFill>
                          <a:srgbClr val="213040"/>
                        </a:solidFill>
                        <a:latin typeface="PingFang SC Semibold" panose="020B0400000000000000" charset="-122"/>
                        <a:ea typeface="PingFang SC Semibold" panose="020B0400000000000000" charset="-122"/>
                        <a:cs typeface="PingFang SC Semibold" panose="020B0400000000000000" charset="-122"/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13040"/>
                          </a:solidFill>
                          <a:latin typeface="PingFang SC Semibold" panose="020B0400000000000000" charset="-122"/>
                          <a:ea typeface="PingFang SC Semibold" panose="020B0400000000000000" charset="-122"/>
                          <a:cs typeface="PingFang SC Semibold" panose="020B0400000000000000" charset="-122"/>
                        </a:rPr>
                        <a:t>PyG graph + WSS 标签；wall/near-wall 分域</a:t>
                      </a:r>
                      <a:endParaRPr sz="1050" b="1">
                        <a:solidFill>
                          <a:srgbClr val="213040"/>
                        </a:solidFill>
                        <a:latin typeface="PingFang SC Semibold" panose="020B0400000000000000" charset="-122"/>
                        <a:ea typeface="PingFang SC Semibold" panose="020B0400000000000000" charset="-122"/>
                        <a:cs typeface="PingFang SC Semibold" panose="020B0400000000000000" charset="-122"/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78232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E6E9E"/>
                          </a:solidFill>
                          <a:latin typeface="PingFang SC Semibold" panose="020B0400000000000000" charset="-122"/>
                          <a:ea typeface="PingFang SC Semibold" panose="020B0400000000000000" charset="-122"/>
                        </a:rPr>
                        <a:t>点云均匀化</a:t>
                      </a:r>
                      <a:endParaRPr sz="1050" b="1">
                        <a:solidFill>
                          <a:srgbClr val="2E6E9E"/>
                        </a:solidFill>
                        <a:latin typeface="PingFang SC Semibold" panose="020B0400000000000000" charset="-122"/>
                        <a:ea typeface="PingFang SC Semibold" panose="020B0400000000000000" charset="-122"/>
                      </a:endParaRPr>
                    </a:p>
                  </a:txBody>
                  <a:tcPr marL="76200" marR="76200" marT="38100" marB="38100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13040"/>
                          </a:solidFill>
                          <a:latin typeface="PingFang SC Semibold" panose="020B0400000000000000" charset="-122"/>
                          <a:ea typeface="PingFang SC Semibold" panose="020B0400000000000000" charset="-122"/>
                          <a:cs typeface="PingFang SC Semibold" panose="020B0400000000000000" charset="-122"/>
                        </a:rPr>
                        <a:t>voxel 0.05mm；体素内随机点+距离加权插值</a:t>
                      </a:r>
                      <a:endParaRPr sz="1050" b="1">
                        <a:solidFill>
                          <a:srgbClr val="213040"/>
                        </a:solidFill>
                        <a:latin typeface="PingFang SC Semibold" panose="020B0400000000000000" charset="-122"/>
                        <a:ea typeface="PingFang SC Semibold" panose="020B0400000000000000" charset="-122"/>
                        <a:cs typeface="PingFang SC Semibold" panose="020B0400000000000000" charset="-122"/>
                      </a:endParaRPr>
                    </a:p>
                  </a:txBody>
                  <a:tcPr marL="76200" marR="76200" marT="38100" marB="38100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13040"/>
                          </a:solidFill>
                          <a:latin typeface="PingFang SC Semibold" panose="020B0400000000000000" charset="-122"/>
                          <a:ea typeface="PingFang SC Semibold" panose="020B0400000000000000" charset="-122"/>
                          <a:cs typeface="PingFang SC Semibold" panose="020B0400000000000000" charset="-122"/>
                        </a:rPr>
                        <a:t>FPS 20% 混合采样，kNN 图</a:t>
                      </a:r>
                      <a:endParaRPr sz="1050" b="1">
                        <a:solidFill>
                          <a:srgbClr val="213040"/>
                        </a:solidFill>
                        <a:latin typeface="PingFang SC Semibold" panose="020B0400000000000000" charset="-122"/>
                        <a:ea typeface="PingFang SC Semibold" panose="020B0400000000000000" charset="-122"/>
                        <a:cs typeface="PingFang SC Semibold" panose="020B0400000000000000" charset="-122"/>
                      </a:endParaRPr>
                    </a:p>
                  </a:txBody>
                  <a:tcPr marL="76200" marR="76200" marT="38100" marB="38100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13040"/>
                          </a:solidFill>
                          <a:latin typeface="PingFang SC Semibold" panose="020B0400000000000000" charset="-122"/>
                          <a:ea typeface="PingFang SC Semibold" panose="020B0400000000000000" charset="-122"/>
                          <a:cs typeface="PingFang SC Semibold" panose="020B0400000000000000" charset="-122"/>
                        </a:rPr>
                        <a:t>wall-rich：~13000 壁面 + 2000 近壁内部点</a:t>
                      </a:r>
                      <a:endParaRPr sz="1050" b="1">
                        <a:solidFill>
                          <a:srgbClr val="213040"/>
                        </a:solidFill>
                        <a:latin typeface="PingFang SC Semibold" panose="020B0400000000000000" charset="-122"/>
                        <a:ea typeface="PingFang SC Semibold" panose="020B0400000000000000" charset="-122"/>
                        <a:cs typeface="PingFang SC Semibold" panose="020B0400000000000000" charset="-122"/>
                      </a:endParaRPr>
                    </a:p>
                  </a:txBody>
                  <a:tcPr marL="76200" marR="76200" marT="38100" marB="38100" anchor="ctr">
                    <a:solidFill>
                      <a:srgbClr val="EAF1F8"/>
                    </a:solidFill>
                  </a:tcPr>
                </a:tc>
              </a:tr>
              <a:tr h="781685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E6E9E"/>
                          </a:solidFill>
                          <a:latin typeface="PingFang SC Semibold" panose="020B0400000000000000" charset="-122"/>
                          <a:ea typeface="PingFang SC Semibold" panose="020B0400000000000000" charset="-122"/>
                        </a:rPr>
                        <a:t>每例点数</a:t>
                      </a:r>
                      <a:endParaRPr sz="1050" b="1">
                        <a:solidFill>
                          <a:srgbClr val="2E6E9E"/>
                        </a:solidFill>
                        <a:latin typeface="PingFang SC Semibold" panose="020B0400000000000000" charset="-122"/>
                        <a:ea typeface="PingFang SC Semibold" panose="020B0400000000000000" charset="-122"/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13040"/>
                          </a:solidFill>
                          <a:latin typeface="PingFang SC Semibold" panose="020B0400000000000000" charset="-122"/>
                          <a:ea typeface="PingFang SC Semibold" panose="020B0400000000000000" charset="-122"/>
                          <a:cs typeface="PingFang SC Semibold" panose="020B0400000000000000" charset="-122"/>
                        </a:rPr>
                        <a:t>每病例 10,000 点</a:t>
                      </a:r>
                      <a:endParaRPr sz="1050" b="1">
                        <a:solidFill>
                          <a:srgbClr val="213040"/>
                        </a:solidFill>
                        <a:latin typeface="PingFang SC Semibold" panose="020B0400000000000000" charset="-122"/>
                        <a:ea typeface="PingFang SC Semibold" panose="020B0400000000000000" charset="-122"/>
                        <a:cs typeface="PingFang SC Semibold" panose="020B0400000000000000" charset="-122"/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13040"/>
                          </a:solidFill>
                          <a:latin typeface="PingFang SC Semibold" panose="020B0400000000000000" charset="-122"/>
                          <a:ea typeface="PingFang SC Semibold" panose="020B0400000000000000" charset="-122"/>
                        </a:rPr>
                        <a:t>按快照图采样并构图</a:t>
                      </a:r>
                      <a:endParaRPr sz="1050" b="1">
                        <a:solidFill>
                          <a:srgbClr val="213040"/>
                        </a:solidFill>
                        <a:latin typeface="PingFang SC Semibold" panose="020B0400000000000000" charset="-122"/>
                        <a:ea typeface="PingFang SC Semibold" panose="020B0400000000000000" charset="-122"/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13040"/>
                          </a:solidFill>
                          <a:latin typeface="PingFang SC Semibold" panose="020B0400000000000000" charset="-122"/>
                          <a:ea typeface="PingFang SC Semibold" panose="020B0400000000000000" charset="-122"/>
                          <a:cs typeface="PingFang SC Semibold" panose="020B0400000000000000" charset="-122"/>
                        </a:rPr>
                        <a:t>面向壁面 WSS，远壁核心点被弱化</a:t>
                      </a:r>
                      <a:endParaRPr sz="1050" b="1">
                        <a:solidFill>
                          <a:srgbClr val="213040"/>
                        </a:solidFill>
                        <a:latin typeface="PingFang SC Semibold" panose="020B0400000000000000" charset="-122"/>
                        <a:ea typeface="PingFang SC Semibold" panose="020B0400000000000000" charset="-122"/>
                        <a:cs typeface="PingFang SC Semibold" panose="020B0400000000000000" charset="-122"/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782955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E6E9E"/>
                          </a:solidFill>
                          <a:latin typeface="PingFang SC Semibold" panose="020B0400000000000000" charset="-122"/>
                          <a:ea typeface="PingFang SC Semibold" panose="020B0400000000000000" charset="-122"/>
                        </a:rPr>
                        <a:t>均匀性评价</a:t>
                      </a:r>
                      <a:endParaRPr sz="1050" b="1">
                        <a:solidFill>
                          <a:srgbClr val="2E6E9E"/>
                        </a:solidFill>
                        <a:latin typeface="PingFang SC Semibold" panose="020B0400000000000000" charset="-122"/>
                        <a:ea typeface="PingFang SC Semibold" panose="020B0400000000000000" charset="-122"/>
                      </a:endParaRPr>
                    </a:p>
                  </a:txBody>
                  <a:tcPr marL="76200" marR="76200" marT="38100" marB="38100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13040"/>
                          </a:solidFill>
                          <a:latin typeface="PingFang SC Semibold" panose="020B0400000000000000" charset="-122"/>
                          <a:ea typeface="PingFang SC Semibold" panose="020B0400000000000000" charset="-122"/>
                          <a:cs typeface="PingFang SC Semibold" panose="020B0400000000000000" charset="-122"/>
                        </a:rPr>
                        <a:t>uniform loss 26366→606，改善 97.70%</a:t>
                      </a:r>
                      <a:endParaRPr sz="1050" b="1">
                        <a:solidFill>
                          <a:srgbClr val="213040"/>
                        </a:solidFill>
                        <a:latin typeface="PingFang SC Semibold" panose="020B0400000000000000" charset="-122"/>
                        <a:ea typeface="PingFang SC Semibold" panose="020B0400000000000000" charset="-122"/>
                        <a:cs typeface="PingFang SC Semibold" panose="020B0400000000000000" charset="-122"/>
                      </a:endParaRPr>
                    </a:p>
                  </a:txBody>
                  <a:tcPr marL="76200" marR="76200" marT="38100" marB="38100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13040"/>
                          </a:solidFill>
                          <a:latin typeface="PingFang SC Semibold" panose="020B0400000000000000" charset="-122"/>
                          <a:ea typeface="PingFang SC Semibold" panose="020B0400000000000000" charset="-122"/>
                          <a:cs typeface="PingFang SC Semibold" panose="020B0400000000000000" charset="-122"/>
                        </a:rPr>
                        <a:t>更关注分区域误差、内部/壁面口径</a:t>
                      </a:r>
                      <a:endParaRPr sz="1050" b="1">
                        <a:solidFill>
                          <a:srgbClr val="213040"/>
                        </a:solidFill>
                        <a:latin typeface="PingFang SC Semibold" panose="020B0400000000000000" charset="-122"/>
                        <a:ea typeface="PingFang SC Semibold" panose="020B0400000000000000" charset="-122"/>
                        <a:cs typeface="PingFang SC Semibold" panose="020B0400000000000000" charset="-122"/>
                      </a:endParaRPr>
                    </a:p>
                  </a:txBody>
                  <a:tcPr marL="76200" marR="76200" marT="38100" marB="38100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13040"/>
                          </a:solidFill>
                          <a:latin typeface="PingFang SC Semibold" panose="020B0400000000000000" charset="-122"/>
                          <a:ea typeface="PingFang SC Semibold" panose="020B0400000000000000" charset="-122"/>
                          <a:cs typeface="PingFang SC Semibold" panose="020B0400000000000000" charset="-122"/>
                        </a:rPr>
                        <a:t>G4 关注 (s,θ) grid occupancy、2D↔3D 损失</a:t>
                      </a:r>
                      <a:endParaRPr sz="1050" b="1">
                        <a:solidFill>
                          <a:srgbClr val="213040"/>
                        </a:solidFill>
                        <a:latin typeface="PingFang SC Semibold" panose="020B0400000000000000" charset="-122"/>
                        <a:ea typeface="PingFang SC Semibold" panose="020B0400000000000000" charset="-122"/>
                        <a:cs typeface="PingFang SC Semibold" panose="020B0400000000000000" charset="-122"/>
                      </a:endParaRPr>
                    </a:p>
                  </a:txBody>
                  <a:tcPr marL="76200" marR="76200" marT="38100" marB="38100" anchor="ctr">
                    <a:solidFill>
                      <a:srgbClr val="EAF1F8"/>
                    </a:solidFill>
                  </a:tcPr>
                </a:tc>
              </a:tr>
              <a:tr h="78232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E6E9E"/>
                          </a:solidFill>
                          <a:latin typeface="PingFang SC Semibold" panose="020B0400000000000000" charset="-122"/>
                          <a:ea typeface="PingFang SC Semibold" panose="020B0400000000000000" charset="-122"/>
                          <a:cs typeface="PingFang SC Semibold" panose="020B0400000000000000" charset="-122"/>
                        </a:rPr>
                        <a:t>对 WSS 影响</a:t>
                      </a:r>
                      <a:endParaRPr sz="1050" b="1">
                        <a:solidFill>
                          <a:srgbClr val="2E6E9E"/>
                        </a:solidFill>
                        <a:latin typeface="PingFang SC Semibold" panose="020B0400000000000000" charset="-122"/>
                        <a:ea typeface="PingFang SC Semibold" panose="020B0400000000000000" charset="-122"/>
                        <a:cs typeface="PingFang SC Semibold" panose="020B0400000000000000" charset="-122"/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13040"/>
                          </a:solidFill>
                          <a:latin typeface="PingFang SC Semibold" panose="020B0400000000000000" charset="-122"/>
                          <a:ea typeface="PingFang SC Semibold" panose="020B0400000000000000" charset="-122"/>
                        </a:rPr>
                        <a:t>未直接评估；均匀化可能平滑近壁梯度</a:t>
                      </a:r>
                      <a:endParaRPr sz="1050" b="1">
                        <a:solidFill>
                          <a:srgbClr val="213040"/>
                        </a:solidFill>
                        <a:latin typeface="PingFang SC Semibold" panose="020B0400000000000000" charset="-122"/>
                        <a:ea typeface="PingFang SC Semibold" panose="020B0400000000000000" charset="-122"/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13040"/>
                          </a:solidFill>
                          <a:latin typeface="PingFang SC Semibold" panose="020B0400000000000000" charset="-122"/>
                          <a:ea typeface="PingFang SC Semibold" panose="020B0400000000000000" charset="-122"/>
                          <a:cs typeface="PingFang SC Semibold" panose="020B0400000000000000" charset="-122"/>
                        </a:rPr>
                        <a:t>V1 非直接由速度梯度推 WSS</a:t>
                      </a:r>
                      <a:endParaRPr sz="1050" b="1">
                        <a:solidFill>
                          <a:srgbClr val="213040"/>
                        </a:solidFill>
                        <a:latin typeface="PingFang SC Semibold" panose="020B0400000000000000" charset="-122"/>
                        <a:ea typeface="PingFang SC Semibold" panose="020B0400000000000000" charset="-122"/>
                        <a:cs typeface="PingFang SC Semibold" panose="020B0400000000000000" charset="-122"/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13040"/>
                          </a:solidFill>
                          <a:latin typeface="PingFang SC Semibold" panose="020B0400000000000000" charset="-122"/>
                          <a:ea typeface="PingFang SC Semibold" panose="020B0400000000000000" charset="-122"/>
                          <a:cs typeface="PingFang SC Semibold" panose="020B0400000000000000" charset="-122"/>
                        </a:rPr>
                        <a:t>强调壁面/近壁采样，避免 WSS 被稀释</a:t>
                      </a:r>
                      <a:endParaRPr sz="1050" b="1">
                        <a:solidFill>
                          <a:srgbClr val="213040"/>
                        </a:solidFill>
                        <a:latin typeface="PingFang SC Semibold" panose="020B0400000000000000" charset="-122"/>
                        <a:ea typeface="PingFang SC Semibold" panose="020B0400000000000000" charset="-122"/>
                        <a:cs typeface="PingFang SC Semibold" panose="020B0400000000000000" charset="-122"/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02920" y="6547104"/>
            <a:ext cx="7315200" cy="25603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A6B7B"/>
                </a:solidFill>
                <a:latin typeface="PingFang SC" panose="020B0400000000000000" charset="-122"/>
                <a:ea typeface="PingFang SC" panose="020B0400000000000000" charset="-122"/>
              </a:rPr>
              <a:t>脑血管 PINNs 点云论文 · 阅读与对照</a:t>
            </a:r>
            <a:endParaRPr sz="850" b="0">
              <a:solidFill>
                <a:srgbClr val="5A6B7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265615" y="6547104"/>
            <a:ext cx="2423160" cy="25603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A6B7B"/>
                </a:solidFill>
                <a:latin typeface="PingFang SC" panose="020B0400000000000000" charset="-122"/>
                <a:ea typeface="PingFang SC" panose="020B0400000000000000" charset="-122"/>
              </a:rPr>
              <a:t>2026-06-11  ·  科研汇报</a:t>
            </a:r>
            <a:endParaRPr sz="850" b="0">
              <a:solidFill>
                <a:srgbClr val="5A6B7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38100"/>
          </a:xfrm>
          <a:prstGeom prst="rect">
            <a:avLst/>
          </a:prstGeom>
          <a:solidFill>
            <a:srgbClr val="16A0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0584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6A0B8"/>
                </a:solidFill>
                <a:latin typeface="PingFang SC" panose="020B0400000000000000" charset="-122"/>
                <a:ea typeface="PingFang SC" panose="020B0400000000000000" charset="-122"/>
              </a:rPr>
              <a:t>05 · COMPARISON</a:t>
            </a:r>
            <a:endParaRPr sz="1150" b="1">
              <a:solidFill>
                <a:srgbClr val="16A0B8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0607040" cy="56692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</a:rPr>
              <a:t>对照（三）输入特征与边界条件</a:t>
            </a:r>
            <a:endParaRPr sz="23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1323015" y="310896"/>
            <a:ext cx="457200" cy="457200"/>
          </a:xfrm>
          <a:prstGeom prst="rect">
            <a:avLst/>
          </a:prstGeom>
          <a:solidFill>
            <a:srgbClr val="16A0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23015" y="310896"/>
            <a:ext cx="457200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</a:rPr>
              <a:t>11</a:t>
            </a:r>
            <a:endParaRPr sz="14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" y="1170432"/>
            <a:ext cx="1097280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A6B7B"/>
                </a:solidFill>
                <a:latin typeface="PingFang SC" panose="020B0400000000000000" charset="-122"/>
                <a:ea typeface="PingFang SC" panose="020B0400000000000000" charset="-122"/>
              </a:rPr>
              <a:t>节点输入 · 全局条件 · 几何先验 · 局部坐标系</a:t>
            </a:r>
            <a:endParaRPr sz="1200" b="0">
              <a:solidFill>
                <a:srgbClr val="5A6B7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572895"/>
          <a:ext cx="11253470" cy="45999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02385"/>
                <a:gridCol w="3161665"/>
                <a:gridCol w="3441065"/>
                <a:gridCol w="3348355"/>
              </a:tblGrid>
              <a:tr h="60833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ingFang SC Semibold" panose="020B0400000000000000" charset="-122"/>
                          <a:ea typeface="PingFang SC Semibold" panose="020B0400000000000000" charset="-122"/>
                        </a:rPr>
                        <a:t>维度</a:t>
                      </a:r>
                      <a:endParaRPr sz="1200" b="1">
                        <a:solidFill>
                          <a:srgbClr val="FFFFFF"/>
                        </a:solidFill>
                        <a:latin typeface="PingFang SC Semibold" panose="020B0400000000000000" charset="-122"/>
                        <a:ea typeface="PingFang SC Semibold" panose="020B0400000000000000" charset="-122"/>
                      </a:endParaRPr>
                    </a:p>
                  </a:txBody>
                  <a:tcPr marL="76200" marR="76200" marT="38100" marB="38100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ingFang SC Semibold" panose="020B0400000000000000" charset="-122"/>
                          <a:ea typeface="PingFang SC Semibold" panose="020B0400000000000000" charset="-122"/>
                        </a:rPr>
                        <a:t>Liao 2025</a:t>
                      </a:r>
                      <a:endParaRPr sz="1200" b="1">
                        <a:solidFill>
                          <a:srgbClr val="FFFFFF"/>
                        </a:solidFill>
                        <a:latin typeface="PingFang SC Semibold" panose="020B0400000000000000" charset="-122"/>
                        <a:ea typeface="PingFang SC Semibold" panose="020B0400000000000000" charset="-122"/>
                      </a:endParaRPr>
                    </a:p>
                  </a:txBody>
                  <a:tcPr marL="76200" marR="76200" marT="38100" marB="38100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ingFang SC Semibold" panose="020B0400000000000000" charset="-122"/>
                          <a:ea typeface="PingFang SC Semibold" panose="020B0400000000000000" charset="-122"/>
                          <a:cs typeface="PingFang SC Semibold" panose="020B0400000000000000" charset="-122"/>
                        </a:rPr>
                        <a:t>我们 V1</a:t>
                      </a:r>
                      <a:endParaRPr sz="1200" b="1">
                        <a:solidFill>
                          <a:srgbClr val="FFFFFF"/>
                        </a:solidFill>
                        <a:latin typeface="PingFang SC Semibold" panose="020B0400000000000000" charset="-122"/>
                        <a:ea typeface="PingFang SC Semibold" panose="020B0400000000000000" charset="-122"/>
                        <a:cs typeface="PingFang SC Semibold" panose="020B0400000000000000" charset="-122"/>
                      </a:endParaRPr>
                    </a:p>
                  </a:txBody>
                  <a:tcPr marL="76200" marR="76200" marT="38100" marB="38100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ingFang SC Semibold" panose="020B0400000000000000" charset="-122"/>
                          <a:ea typeface="PingFang SC Semibold" panose="020B0400000000000000" charset="-122"/>
                          <a:cs typeface="PingFang SC Semibold" panose="020B0400000000000000" charset="-122"/>
                        </a:rPr>
                        <a:t>我们 V3</a:t>
                      </a:r>
                      <a:endParaRPr sz="1200" b="1">
                        <a:solidFill>
                          <a:srgbClr val="FFFFFF"/>
                        </a:solidFill>
                        <a:latin typeface="PingFang SC Semibold" panose="020B0400000000000000" charset="-122"/>
                        <a:ea typeface="PingFang SC Semibold" panose="020B0400000000000000" charset="-122"/>
                        <a:cs typeface="PingFang SC Semibold" panose="020B0400000000000000" charset="-122"/>
                      </a:endParaRPr>
                    </a:p>
                  </a:txBody>
                  <a:tcPr marL="76200" marR="76200" marT="38100" marB="38100" anchor="ctr">
                    <a:solidFill>
                      <a:srgbClr val="1F4E79"/>
                    </a:solidFill>
                  </a:tcPr>
                </a:tc>
              </a:tr>
              <a:tr h="99822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E6E9E"/>
                          </a:solidFill>
                          <a:latin typeface="PingFang SC Semibold" panose="020B0400000000000000" charset="-122"/>
                          <a:ea typeface="PingFang SC Semibold" panose="020B0400000000000000" charset="-122"/>
                        </a:rPr>
                        <a:t>节点输入</a:t>
                      </a:r>
                      <a:endParaRPr sz="1050" b="1">
                        <a:solidFill>
                          <a:srgbClr val="2E6E9E"/>
                        </a:solidFill>
                        <a:latin typeface="PingFang SC Semibold" panose="020B0400000000000000" charset="-122"/>
                        <a:ea typeface="PingFang SC Semibold" panose="020B0400000000000000" charset="-122"/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13040"/>
                          </a:solidFill>
                          <a:latin typeface="PingFang SC Semibold" panose="020B0400000000000000" charset="-122"/>
                          <a:ea typeface="PingFang SC Semibold" panose="020B0400000000000000" charset="-122"/>
                          <a:cs typeface="PingFang SC Semibold" panose="020B0400000000000000" charset="-122"/>
                        </a:rPr>
                        <a:t>主要是 (x, y, z)</a:t>
                      </a:r>
                      <a:endParaRPr sz="1050" b="1">
                        <a:solidFill>
                          <a:srgbClr val="213040"/>
                        </a:solidFill>
                        <a:latin typeface="PingFang SC Semibold" panose="020B0400000000000000" charset="-122"/>
                        <a:ea typeface="PingFang SC Semibold" panose="020B0400000000000000" charset="-122"/>
                        <a:cs typeface="PingFang SC Semibold" panose="020B0400000000000000" charset="-122"/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13040"/>
                          </a:solidFill>
                          <a:latin typeface="PingFang SC Semibold" panose="020B0400000000000000" charset="-122"/>
                          <a:ea typeface="PingFang SC Semibold" panose="020B0400000000000000" charset="-122"/>
                        </a:rPr>
                        <a:t>x,y,z + Abscissa + NormRadius + Curvature + Tangent + is_wall</a:t>
                      </a:r>
                      <a:endParaRPr sz="1050" b="1">
                        <a:solidFill>
                          <a:srgbClr val="213040"/>
                        </a:solidFill>
                        <a:latin typeface="PingFang SC Semibold" panose="020B0400000000000000" charset="-122"/>
                        <a:ea typeface="PingFang SC Semibold" panose="020B0400000000000000" charset="-122"/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13040"/>
                          </a:solidFill>
                          <a:latin typeface="PingFang SC Semibold" panose="020B0400000000000000" charset="-122"/>
                          <a:ea typeface="PingFang SC Semibold" panose="020B0400000000000000" charset="-122"/>
                          <a:cs typeface="PingFang SC Semibold" panose="020B0400000000000000" charset="-122"/>
                        </a:rPr>
                        <a:t>同 V1 几何；另有压力梯度、近壁差分、BL context 探针</a:t>
                      </a:r>
                      <a:endParaRPr sz="1050" b="1">
                        <a:solidFill>
                          <a:srgbClr val="213040"/>
                        </a:solidFill>
                        <a:latin typeface="PingFang SC Semibold" panose="020B0400000000000000" charset="-122"/>
                        <a:ea typeface="PingFang SC Semibold" panose="020B0400000000000000" charset="-122"/>
                        <a:cs typeface="PingFang SC Semibold" panose="020B0400000000000000" charset="-122"/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99822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E6E9E"/>
                          </a:solidFill>
                          <a:latin typeface="PingFang SC Semibold" panose="020B0400000000000000" charset="-122"/>
                          <a:ea typeface="PingFang SC Semibold" panose="020B0400000000000000" charset="-122"/>
                        </a:rPr>
                        <a:t>全局条件</a:t>
                      </a:r>
                      <a:endParaRPr sz="1050" b="1">
                        <a:solidFill>
                          <a:srgbClr val="2E6E9E"/>
                        </a:solidFill>
                        <a:latin typeface="PingFang SC Semibold" panose="020B0400000000000000" charset="-122"/>
                        <a:ea typeface="PingFang SC Semibold" panose="020B0400000000000000" charset="-122"/>
                      </a:endParaRPr>
                    </a:p>
                  </a:txBody>
                  <a:tcPr marL="76200" marR="76200" marT="38100" marB="38100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13040"/>
                          </a:solidFill>
                          <a:latin typeface="PingFang SC Semibold" panose="020B0400000000000000" charset="-122"/>
                          <a:ea typeface="PingFang SC Semibold" panose="020B0400000000000000" charset="-122"/>
                          <a:cs typeface="PingFang SC Semibold" panose="020B0400000000000000" charset="-122"/>
                        </a:rPr>
                        <a:t>未显式列 global_cond；BC 在 CFD 设置中体现</a:t>
                      </a:r>
                      <a:endParaRPr sz="1050" b="1">
                        <a:solidFill>
                          <a:srgbClr val="213040"/>
                        </a:solidFill>
                        <a:latin typeface="PingFang SC Semibold" panose="020B0400000000000000" charset="-122"/>
                        <a:ea typeface="PingFang SC Semibold" panose="020B0400000000000000" charset="-122"/>
                        <a:cs typeface="PingFang SC Semibold" panose="020B0400000000000000" charset="-122"/>
                      </a:endParaRPr>
                    </a:p>
                  </a:txBody>
                  <a:tcPr marL="76200" marR="76200" marT="38100" marB="38100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13040"/>
                          </a:solidFill>
                          <a:latin typeface="PingFang SC Semibold" panose="020B0400000000000000" charset="-122"/>
                          <a:ea typeface="PingFang SC Semibold" panose="020B0400000000000000" charset="-122"/>
                        </a:rPr>
                        <a:t>t_norm + BC_Inlet + BC_O1~O4</a:t>
                      </a:r>
                      <a:endParaRPr sz="1050" b="1">
                        <a:solidFill>
                          <a:srgbClr val="213040"/>
                        </a:solidFill>
                        <a:latin typeface="PingFang SC Semibold" panose="020B0400000000000000" charset="-122"/>
                        <a:ea typeface="PingFang SC Semibold" panose="020B0400000000000000" charset="-122"/>
                      </a:endParaRPr>
                    </a:p>
                  </a:txBody>
                  <a:tcPr marL="76200" marR="76200" marT="38100" marB="38100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13040"/>
                          </a:solidFill>
                          <a:latin typeface="PingFang SC Semibold" panose="020B0400000000000000" charset="-122"/>
                          <a:ea typeface="PingFang SC Semibold" panose="020B0400000000000000" charset="-122"/>
                          <a:cs typeface="PingFang SC Semibold" panose="020B0400000000000000" charset="-122"/>
                        </a:rPr>
                        <a:t>同 V1；强调 split-safe、归一化、OOD 检查</a:t>
                      </a:r>
                      <a:endParaRPr sz="1050" b="1">
                        <a:solidFill>
                          <a:srgbClr val="213040"/>
                        </a:solidFill>
                        <a:latin typeface="PingFang SC Semibold" panose="020B0400000000000000" charset="-122"/>
                        <a:ea typeface="PingFang SC Semibold" panose="020B0400000000000000" charset="-122"/>
                        <a:cs typeface="PingFang SC Semibold" panose="020B0400000000000000" charset="-122"/>
                      </a:endParaRPr>
                    </a:p>
                  </a:txBody>
                  <a:tcPr marL="76200" marR="76200" marT="38100" marB="38100" anchor="ctr">
                    <a:solidFill>
                      <a:srgbClr val="EAF1F8"/>
                    </a:solidFill>
                  </a:tcPr>
                </a:tc>
              </a:tr>
              <a:tr h="99695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E6E9E"/>
                          </a:solidFill>
                          <a:latin typeface="PingFang SC Semibold" panose="020B0400000000000000" charset="-122"/>
                          <a:ea typeface="PingFang SC Semibold" panose="020B0400000000000000" charset="-122"/>
                        </a:rPr>
                        <a:t>几何先验</a:t>
                      </a:r>
                      <a:endParaRPr sz="1050" b="1">
                        <a:solidFill>
                          <a:srgbClr val="2E6E9E"/>
                        </a:solidFill>
                        <a:latin typeface="PingFang SC Semibold" panose="020B0400000000000000" charset="-122"/>
                        <a:ea typeface="PingFang SC Semibold" panose="020B0400000000000000" charset="-122"/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13040"/>
                          </a:solidFill>
                          <a:latin typeface="PingFang SC Semibold" panose="020B0400000000000000" charset="-122"/>
                          <a:ea typeface="PingFang SC Semibold" panose="020B0400000000000000" charset="-122"/>
                        </a:rPr>
                        <a:t>主要靠坐标与点云分布</a:t>
                      </a:r>
                      <a:endParaRPr sz="1050" b="1">
                        <a:solidFill>
                          <a:srgbClr val="213040"/>
                        </a:solidFill>
                        <a:latin typeface="PingFang SC Semibold" panose="020B0400000000000000" charset="-122"/>
                        <a:ea typeface="PingFang SC Semibold" panose="020B0400000000000000" charset="-122"/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13040"/>
                          </a:solidFill>
                          <a:latin typeface="PingFang SC Semibold" panose="020B0400000000000000" charset="-122"/>
                          <a:ea typeface="PingFang SC Semibold" panose="020B0400000000000000" charset="-122"/>
                          <a:cs typeface="PingFang SC Semibold" panose="020B0400000000000000" charset="-122"/>
                        </a:rPr>
                        <a:t>显式几何已验证有效；NormRadius 贡献最大</a:t>
                      </a:r>
                      <a:endParaRPr sz="1050" b="1">
                        <a:solidFill>
                          <a:srgbClr val="213040"/>
                        </a:solidFill>
                        <a:latin typeface="PingFang SC Semibold" panose="020B0400000000000000" charset="-122"/>
                        <a:ea typeface="PingFang SC Semibold" panose="020B0400000000000000" charset="-122"/>
                        <a:cs typeface="PingFang SC Semibold" panose="020B0400000000000000" charset="-122"/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13040"/>
                          </a:solidFill>
                          <a:latin typeface="PingFang SC Semibold" panose="020B0400000000000000" charset="-122"/>
                          <a:ea typeface="PingFang SC Semibold" panose="020B0400000000000000" charset="-122"/>
                          <a:cs typeface="PingFang SC Semibold" panose="020B0400000000000000" charset="-122"/>
                        </a:rPr>
                        <a:t>几何保留，但单纯加几何/近壁特征已不能突破 WSS</a:t>
                      </a:r>
                      <a:endParaRPr sz="1050" b="1">
                        <a:solidFill>
                          <a:srgbClr val="213040"/>
                        </a:solidFill>
                        <a:latin typeface="PingFang SC Semibold" panose="020B0400000000000000" charset="-122"/>
                        <a:ea typeface="PingFang SC Semibold" panose="020B0400000000000000" charset="-122"/>
                        <a:cs typeface="PingFang SC Semibold" panose="020B0400000000000000" charset="-122"/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99822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E6E9E"/>
                          </a:solidFill>
                          <a:latin typeface="PingFang SC Semibold" panose="020B0400000000000000" charset="-122"/>
                          <a:ea typeface="PingFang SC Semibold" panose="020B0400000000000000" charset="-122"/>
                        </a:rPr>
                        <a:t>局部坐标系</a:t>
                      </a:r>
                      <a:endParaRPr sz="1050" b="1">
                        <a:solidFill>
                          <a:srgbClr val="2E6E9E"/>
                        </a:solidFill>
                        <a:latin typeface="PingFang SC Semibold" panose="020B0400000000000000" charset="-122"/>
                        <a:ea typeface="PingFang SC Semibold" panose="020B0400000000000000" charset="-122"/>
                      </a:endParaRPr>
                    </a:p>
                  </a:txBody>
                  <a:tcPr marL="76200" marR="76200" marT="38100" marB="38100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13040"/>
                          </a:solidFill>
                          <a:latin typeface="PingFang SC Semibold" panose="020B0400000000000000" charset="-122"/>
                          <a:ea typeface="PingFang SC Semibold" panose="020B0400000000000000" charset="-122"/>
                        </a:rPr>
                        <a:t>未用中心线坐标或壁面展开</a:t>
                      </a:r>
                      <a:endParaRPr sz="1050" b="1">
                        <a:solidFill>
                          <a:srgbClr val="213040"/>
                        </a:solidFill>
                        <a:latin typeface="PingFang SC Semibold" panose="020B0400000000000000" charset="-122"/>
                        <a:ea typeface="PingFang SC Semibold" panose="020B0400000000000000" charset="-122"/>
                      </a:endParaRPr>
                    </a:p>
                  </a:txBody>
                  <a:tcPr marL="76200" marR="76200" marT="38100" marB="38100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13040"/>
                          </a:solidFill>
                          <a:latin typeface="PingFang SC Semibold" panose="020B0400000000000000" charset="-122"/>
                          <a:ea typeface="PingFang SC Semibold" panose="020B0400000000000000" charset="-122"/>
                          <a:cs typeface="PingFang SC Semibold" panose="020B0400000000000000" charset="-122"/>
                        </a:rPr>
                        <a:t>全局点云/图表示</a:t>
                      </a:r>
                      <a:endParaRPr sz="1050" b="1">
                        <a:solidFill>
                          <a:srgbClr val="213040"/>
                        </a:solidFill>
                        <a:latin typeface="PingFang SC Semibold" panose="020B0400000000000000" charset="-122"/>
                        <a:ea typeface="PingFang SC Semibold" panose="020B0400000000000000" charset="-122"/>
                        <a:cs typeface="PingFang SC Semibold" panose="020B0400000000000000" charset="-122"/>
                      </a:endParaRPr>
                    </a:p>
                  </a:txBody>
                  <a:tcPr marL="76200" marR="76200" marT="38100" marB="38100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sz="1050" b="1">
                          <a:solidFill>
                            <a:srgbClr val="213040"/>
                          </a:solidFill>
                          <a:latin typeface="PingFang SC Semibold" panose="020B0400000000000000" charset="-122"/>
                          <a:ea typeface="PingFang SC Semibold" panose="020B0400000000000000" charset="-122"/>
                          <a:cs typeface="PingFang SC Semibold" panose="020B0400000000000000" charset="-122"/>
                        </a:rPr>
                        <a:t>矢量</a:t>
                      </a:r>
                      <a:r>
                        <a:rPr lang="zh-CN" sz="1050" b="1">
                          <a:solidFill>
                            <a:srgbClr val="213040"/>
                          </a:solidFill>
                          <a:latin typeface="PingFang SC Semibold" panose="020B0400000000000000" charset="-122"/>
                          <a:ea typeface="PingFang SC Semibold" panose="020B0400000000000000" charset="-122"/>
                          <a:cs typeface="PingFang SC Semibold" panose="020B0400000000000000" charset="-122"/>
                        </a:rPr>
                        <a:t>旋转</a:t>
                      </a:r>
                      <a:endParaRPr lang="zh-CN" sz="1050" b="1">
                        <a:solidFill>
                          <a:srgbClr val="213040"/>
                        </a:solidFill>
                        <a:latin typeface="PingFang SC Semibold" panose="020B0400000000000000" charset="-122"/>
                        <a:ea typeface="PingFang SC Semibold" panose="020B0400000000000000" charset="-122"/>
                        <a:cs typeface="PingFang SC Semibold" panose="020B0400000000000000" charset="-122"/>
                      </a:endParaRPr>
                    </a:p>
                  </a:txBody>
                  <a:tcPr marL="76200" marR="76200" marT="38100" marB="38100" anchor="ctr">
                    <a:solidFill>
                      <a:srgbClr val="EAF1F8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02920" y="6547104"/>
            <a:ext cx="7315200" cy="25603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A6B7B"/>
                </a:solidFill>
                <a:latin typeface="PingFang SC" panose="020B0400000000000000" charset="-122"/>
                <a:ea typeface="PingFang SC" panose="020B0400000000000000" charset="-122"/>
              </a:rPr>
              <a:t>脑血管 PINNs 点云论文 · 阅读与对照</a:t>
            </a:r>
            <a:endParaRPr sz="850" b="0">
              <a:solidFill>
                <a:srgbClr val="5A6B7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265615" y="6547104"/>
            <a:ext cx="2423160" cy="25603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A6B7B"/>
                </a:solidFill>
                <a:latin typeface="PingFang SC" panose="020B0400000000000000" charset="-122"/>
                <a:ea typeface="PingFang SC" panose="020B0400000000000000" charset="-122"/>
              </a:rPr>
              <a:t>2026-06-11  ·  科研汇报</a:t>
            </a:r>
            <a:endParaRPr sz="850" b="0">
              <a:solidFill>
                <a:srgbClr val="5A6B7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38100"/>
          </a:xfrm>
          <a:prstGeom prst="rect">
            <a:avLst/>
          </a:prstGeom>
          <a:solidFill>
            <a:srgbClr val="16A0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0584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6A0B8"/>
                </a:solidFill>
                <a:latin typeface="PingFang SC" panose="020B0400000000000000" charset="-122"/>
                <a:ea typeface="PingFang SC" panose="020B0400000000000000" charset="-122"/>
              </a:rPr>
              <a:t>05 · COMPARISON</a:t>
            </a:r>
            <a:endParaRPr sz="1150" b="1">
              <a:solidFill>
                <a:srgbClr val="16A0B8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0607040" cy="56692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</a:rPr>
              <a:t>对照（四）模块与架构</a:t>
            </a:r>
            <a:endParaRPr sz="23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1323015" y="310896"/>
            <a:ext cx="457200" cy="457200"/>
          </a:xfrm>
          <a:prstGeom prst="rect">
            <a:avLst/>
          </a:prstGeom>
          <a:solidFill>
            <a:srgbClr val="16A0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23015" y="310896"/>
            <a:ext cx="457200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</a:rPr>
              <a:t>12</a:t>
            </a:r>
            <a:endParaRPr sz="14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" y="1170432"/>
            <a:ext cx="1097280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A6B7B"/>
                </a:solidFill>
                <a:latin typeface="PingFang SC" panose="020B0400000000000000" charset="-122"/>
                <a:ea typeface="PingFang SC" panose="020B0400000000000000" charset="-122"/>
              </a:rPr>
              <a:t>主干 · 输出头 · 物理模块 · 训练策略 · 当前换轨</a:t>
            </a:r>
            <a:endParaRPr sz="1200" b="0">
              <a:solidFill>
                <a:srgbClr val="5A6B7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572895"/>
          <a:ext cx="11381105" cy="413321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16990"/>
                <a:gridCol w="3291840"/>
                <a:gridCol w="3385820"/>
                <a:gridCol w="3386455"/>
              </a:tblGrid>
              <a:tr h="50419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ingFang SC Semibold" panose="020B0400000000000000" charset="-122"/>
                          <a:ea typeface="PingFang SC Semibold" panose="020B0400000000000000" charset="-122"/>
                        </a:rPr>
                        <a:t>维度</a:t>
                      </a:r>
                      <a:endParaRPr sz="1200" b="1">
                        <a:solidFill>
                          <a:srgbClr val="FFFFFF"/>
                        </a:solidFill>
                        <a:latin typeface="PingFang SC Semibold" panose="020B0400000000000000" charset="-122"/>
                        <a:ea typeface="PingFang SC Semibold" panose="020B0400000000000000" charset="-122"/>
                      </a:endParaRPr>
                    </a:p>
                  </a:txBody>
                  <a:tcPr marL="76200" marR="76200" marT="38100" marB="38100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ingFang SC Semibold" panose="020B0400000000000000" charset="-122"/>
                          <a:ea typeface="PingFang SC Semibold" panose="020B0400000000000000" charset="-122"/>
                        </a:rPr>
                        <a:t>Liao 2025</a:t>
                      </a:r>
                      <a:endParaRPr sz="1200" b="1">
                        <a:solidFill>
                          <a:srgbClr val="FFFFFF"/>
                        </a:solidFill>
                        <a:latin typeface="PingFang SC Semibold" panose="020B0400000000000000" charset="-122"/>
                        <a:ea typeface="PingFang SC Semibold" panose="020B0400000000000000" charset="-122"/>
                      </a:endParaRPr>
                    </a:p>
                  </a:txBody>
                  <a:tcPr marL="76200" marR="76200" marT="38100" marB="38100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ingFang SC Semibold" panose="020B0400000000000000" charset="-122"/>
                          <a:ea typeface="PingFang SC Semibold" panose="020B0400000000000000" charset="-122"/>
                          <a:cs typeface="PingFang SC Semibold" panose="020B0400000000000000" charset="-122"/>
                        </a:rPr>
                        <a:t>我们 V1</a:t>
                      </a:r>
                      <a:endParaRPr sz="1200" b="1">
                        <a:solidFill>
                          <a:srgbClr val="FFFFFF"/>
                        </a:solidFill>
                        <a:latin typeface="PingFang SC Semibold" panose="020B0400000000000000" charset="-122"/>
                        <a:ea typeface="PingFang SC Semibold" panose="020B0400000000000000" charset="-122"/>
                        <a:cs typeface="PingFang SC Semibold" panose="020B0400000000000000" charset="-122"/>
                      </a:endParaRPr>
                    </a:p>
                  </a:txBody>
                  <a:tcPr marL="76200" marR="76200" marT="38100" marB="38100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ingFang SC Semibold" panose="020B0400000000000000" charset="-122"/>
                          <a:ea typeface="PingFang SC Semibold" panose="020B0400000000000000" charset="-122"/>
                          <a:cs typeface="PingFang SC Semibold" panose="020B0400000000000000" charset="-122"/>
                        </a:rPr>
                        <a:t>我们 V2/V3</a:t>
                      </a:r>
                      <a:endParaRPr sz="1200" b="1">
                        <a:solidFill>
                          <a:srgbClr val="FFFFFF"/>
                        </a:solidFill>
                        <a:latin typeface="PingFang SC Semibold" panose="020B0400000000000000" charset="-122"/>
                        <a:ea typeface="PingFang SC Semibold" panose="020B0400000000000000" charset="-122"/>
                        <a:cs typeface="PingFang SC Semibold" panose="020B0400000000000000" charset="-122"/>
                      </a:endParaRPr>
                    </a:p>
                  </a:txBody>
                  <a:tcPr marL="76200" marR="76200" marT="38100" marB="38100" anchor="ctr">
                    <a:solidFill>
                      <a:srgbClr val="1F4E79"/>
                    </a:solidFill>
                  </a:tcPr>
                </a:tc>
              </a:tr>
              <a:tr h="725805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E6E9E"/>
                          </a:solidFill>
                          <a:latin typeface="PingFang SC Semibold" panose="020B0400000000000000" charset="-122"/>
                          <a:ea typeface="PingFang SC Semibold" panose="020B0400000000000000" charset="-122"/>
                        </a:rPr>
                        <a:t>主干</a:t>
                      </a:r>
                      <a:endParaRPr sz="1050" b="1">
                        <a:solidFill>
                          <a:srgbClr val="2E6E9E"/>
                        </a:solidFill>
                        <a:latin typeface="PingFang SC Semibold" panose="020B0400000000000000" charset="-122"/>
                        <a:ea typeface="PingFang SC Semibold" panose="020B0400000000000000" charset="-122"/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13040"/>
                          </a:solidFill>
                          <a:latin typeface="PingFang SC Semibold" panose="020B0400000000000000" charset="-122"/>
                          <a:ea typeface="PingFang SC Semibold" panose="020B0400000000000000" charset="-122"/>
                          <a:cs typeface="PingFang SC Semibold" panose="020B0400000000000000" charset="-122"/>
                        </a:rPr>
                        <a:t>PointNet：shared Conv1d + max pooling</a:t>
                      </a:r>
                      <a:endParaRPr sz="1050" b="1">
                        <a:solidFill>
                          <a:srgbClr val="213040"/>
                        </a:solidFill>
                        <a:latin typeface="PingFang SC Semibold" panose="020B0400000000000000" charset="-122"/>
                        <a:ea typeface="PingFang SC Semibold" panose="020B0400000000000000" charset="-122"/>
                        <a:cs typeface="PingFang SC Semibold" panose="020B0400000000000000" charset="-122"/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13040"/>
                          </a:solidFill>
                          <a:latin typeface="PingFang SC Semibold" panose="020B0400000000000000" charset="-122"/>
                          <a:ea typeface="PingFang SC Semibold" panose="020B0400000000000000" charset="-122"/>
                        </a:rPr>
                        <a:t>MLP / GraphSAGE / Transformer</a:t>
                      </a:r>
                      <a:endParaRPr sz="1050" b="1">
                        <a:solidFill>
                          <a:srgbClr val="213040"/>
                        </a:solidFill>
                        <a:latin typeface="PingFang SC Semibold" panose="020B0400000000000000" charset="-122"/>
                        <a:ea typeface="PingFang SC Semibold" panose="020B0400000000000000" charset="-122"/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13040"/>
                          </a:solidFill>
                          <a:latin typeface="PingFang SC Semibold" panose="020B0400000000000000" charset="-122"/>
                          <a:ea typeface="PingFang SC Semibold" panose="020B0400000000000000" charset="-122"/>
                          <a:cs typeface="PingFang SC Semibold" panose="020B0400000000000000" charset="-122"/>
                        </a:rPr>
                        <a:t>PointNeXt / FieldPointNeXt；G4 预研 2D U-Net</a:t>
                      </a:r>
                      <a:endParaRPr sz="1050" b="1">
                        <a:solidFill>
                          <a:srgbClr val="213040"/>
                        </a:solidFill>
                        <a:latin typeface="PingFang SC Semibold" panose="020B0400000000000000" charset="-122"/>
                        <a:ea typeface="PingFang SC Semibold" panose="020B0400000000000000" charset="-122"/>
                        <a:cs typeface="PingFang SC Semibold" panose="020B0400000000000000" charset="-122"/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725805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E6E9E"/>
                          </a:solidFill>
                          <a:latin typeface="PingFang SC Semibold" panose="020B0400000000000000" charset="-122"/>
                          <a:ea typeface="PingFang SC Semibold" panose="020B0400000000000000" charset="-122"/>
                        </a:rPr>
                        <a:t>输出头</a:t>
                      </a:r>
                      <a:endParaRPr sz="1050" b="1">
                        <a:solidFill>
                          <a:srgbClr val="2E6E9E"/>
                        </a:solidFill>
                        <a:latin typeface="PingFang SC Semibold" panose="020B0400000000000000" charset="-122"/>
                        <a:ea typeface="PingFang SC Semibold" panose="020B0400000000000000" charset="-122"/>
                      </a:endParaRPr>
                    </a:p>
                  </a:txBody>
                  <a:tcPr marL="76200" marR="76200" marT="38100" marB="38100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13040"/>
                          </a:solidFill>
                          <a:latin typeface="PingFang SC Semibold" panose="020B0400000000000000" charset="-122"/>
                          <a:ea typeface="PingFang SC Semibold" panose="020B0400000000000000" charset="-122"/>
                          <a:cs typeface="PingFang SC Semibold" panose="020B0400000000000000" charset="-122"/>
                        </a:rPr>
                        <a:t>Vx/Vy/Vz/P 四通道</a:t>
                      </a:r>
                      <a:endParaRPr sz="1050" b="1">
                        <a:solidFill>
                          <a:srgbClr val="213040"/>
                        </a:solidFill>
                        <a:latin typeface="PingFang SC Semibold" panose="020B0400000000000000" charset="-122"/>
                        <a:ea typeface="PingFang SC Semibold" panose="020B0400000000000000" charset="-122"/>
                        <a:cs typeface="PingFang SC Semibold" panose="020B0400000000000000" charset="-122"/>
                      </a:endParaRPr>
                    </a:p>
                  </a:txBody>
                  <a:tcPr marL="76200" marR="76200" marT="38100" marB="38100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13040"/>
                          </a:solidFill>
                          <a:latin typeface="PingFang SC Semibold" panose="020B0400000000000000" charset="-122"/>
                          <a:ea typeface="PingFang SC Semibold" panose="020B0400000000000000" charset="-122"/>
                          <a:cs typeface="PingFang SC Semibold" panose="020B0400000000000000" charset="-122"/>
                        </a:rPr>
                        <a:t>u/v/w/p 四通道；后加 WSS 多任务头</a:t>
                      </a:r>
                      <a:endParaRPr sz="1050" b="1">
                        <a:solidFill>
                          <a:srgbClr val="213040"/>
                        </a:solidFill>
                        <a:latin typeface="PingFang SC Semibold" panose="020B0400000000000000" charset="-122"/>
                        <a:ea typeface="PingFang SC Semibold" panose="020B0400000000000000" charset="-122"/>
                        <a:cs typeface="PingFang SC Semibold" panose="020B0400000000000000" charset="-122"/>
                      </a:endParaRPr>
                    </a:p>
                  </a:txBody>
                  <a:tcPr marL="76200" marR="76200" marT="38100" marB="38100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13040"/>
                          </a:solidFill>
                          <a:latin typeface="PingFang SC Semibold" panose="020B0400000000000000" charset="-122"/>
                          <a:ea typeface="PingFang SC Semibold" panose="020B0400000000000000" charset="-122"/>
                          <a:cs typeface="PingFang SC Semibold" panose="020B0400000000000000" charset="-122"/>
                        </a:rPr>
                        <a:t>p+WSS、WSS 单目标、双域；G4 可输出 WSS 矢量</a:t>
                      </a:r>
                      <a:endParaRPr sz="1050" b="1">
                        <a:solidFill>
                          <a:srgbClr val="213040"/>
                        </a:solidFill>
                        <a:latin typeface="PingFang SC Semibold" panose="020B0400000000000000" charset="-122"/>
                        <a:ea typeface="PingFang SC Semibold" panose="020B0400000000000000" charset="-122"/>
                        <a:cs typeface="PingFang SC Semibold" panose="020B0400000000000000" charset="-122"/>
                      </a:endParaRPr>
                    </a:p>
                  </a:txBody>
                  <a:tcPr marL="76200" marR="76200" marT="38100" marB="38100" anchor="ctr">
                    <a:solidFill>
                      <a:srgbClr val="EAF1F8"/>
                    </a:solidFill>
                  </a:tcPr>
                </a:tc>
              </a:tr>
              <a:tr h="72517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E6E9E"/>
                          </a:solidFill>
                          <a:latin typeface="PingFang SC Semibold" panose="020B0400000000000000" charset="-122"/>
                          <a:ea typeface="PingFang SC Semibold" panose="020B0400000000000000" charset="-122"/>
                        </a:rPr>
                        <a:t>物理模块</a:t>
                      </a:r>
                      <a:endParaRPr sz="1050" b="1">
                        <a:solidFill>
                          <a:srgbClr val="2E6E9E"/>
                        </a:solidFill>
                        <a:latin typeface="PingFang SC Semibold" panose="020B0400000000000000" charset="-122"/>
                        <a:ea typeface="PingFang SC Semibold" panose="020B0400000000000000" charset="-122"/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13040"/>
                          </a:solidFill>
                          <a:latin typeface="PingFang SC Semibold" panose="020B0400000000000000" charset="-122"/>
                          <a:ea typeface="PingFang SC Semibold" panose="020B0400000000000000" charset="-122"/>
                          <a:cs typeface="PingFang SC Semibold" panose="020B0400000000000000" charset="-122"/>
                        </a:rPr>
                        <a:t>PINNs：N-S 残差 + wall no-slip</a:t>
                      </a:r>
                      <a:endParaRPr sz="1050" b="1">
                        <a:solidFill>
                          <a:srgbClr val="213040"/>
                        </a:solidFill>
                        <a:latin typeface="PingFang SC Semibold" panose="020B0400000000000000" charset="-122"/>
                        <a:ea typeface="PingFang SC Semibold" panose="020B0400000000000000" charset="-122"/>
                        <a:cs typeface="PingFang SC Semibold" panose="020B0400000000000000" charset="-122"/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13040"/>
                          </a:solidFill>
                          <a:latin typeface="PingFang SC Semibold" panose="020B0400000000000000" charset="-122"/>
                          <a:ea typeface="PingFang SC Semibold" panose="020B0400000000000000" charset="-122"/>
                        </a:rPr>
                        <a:t>第一阶段不耦合物理项，主要数据监督</a:t>
                      </a:r>
                      <a:endParaRPr sz="1050" b="1">
                        <a:solidFill>
                          <a:srgbClr val="213040"/>
                        </a:solidFill>
                        <a:latin typeface="PingFang SC Semibold" panose="020B0400000000000000" charset="-122"/>
                        <a:ea typeface="PingFang SC Semibold" panose="020B0400000000000000" charset="-122"/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13040"/>
                          </a:solidFill>
                          <a:latin typeface="PingFang SC Semibold" panose="020B0400000000000000" charset="-122"/>
                          <a:ea typeface="PingFang SC Semibold" panose="020B0400000000000000" charset="-122"/>
                          <a:cs typeface="PingFang SC Semibold" panose="020B0400000000000000" charset="-122"/>
                        </a:rPr>
                        <a:t>做过速度/no-slip/斜率/压力梯度探针；PDE loss 待审计</a:t>
                      </a:r>
                      <a:endParaRPr sz="1050" b="1">
                        <a:solidFill>
                          <a:srgbClr val="213040"/>
                        </a:solidFill>
                        <a:latin typeface="PingFang SC Semibold" panose="020B0400000000000000" charset="-122"/>
                        <a:ea typeface="PingFang SC Semibold" panose="020B0400000000000000" charset="-122"/>
                        <a:cs typeface="PingFang SC Semibold" panose="020B0400000000000000" charset="-122"/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72644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E6E9E"/>
                          </a:solidFill>
                          <a:latin typeface="PingFang SC Semibold" panose="020B0400000000000000" charset="-122"/>
                          <a:ea typeface="PingFang SC Semibold" panose="020B0400000000000000" charset="-122"/>
                        </a:rPr>
                        <a:t>训练策略</a:t>
                      </a:r>
                      <a:endParaRPr sz="1050" b="1">
                        <a:solidFill>
                          <a:srgbClr val="2E6E9E"/>
                        </a:solidFill>
                        <a:latin typeface="PingFang SC Semibold" panose="020B0400000000000000" charset="-122"/>
                        <a:ea typeface="PingFang SC Semibold" panose="020B0400000000000000" charset="-122"/>
                      </a:endParaRPr>
                    </a:p>
                  </a:txBody>
                  <a:tcPr marL="76200" marR="76200" marT="38100" marB="38100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13040"/>
                          </a:solidFill>
                          <a:latin typeface="PingFang SC Semibold" panose="020B0400000000000000" charset="-122"/>
                          <a:ea typeface="PingFang SC Semibold" panose="020B0400000000000000" charset="-122"/>
                          <a:cs typeface="PingFang SC Semibold" panose="020B0400000000000000" charset="-122"/>
                        </a:rPr>
                        <a:t>15000 epoch，batch=1，动态 ω</a:t>
                      </a:r>
                      <a:endParaRPr sz="1050" b="1">
                        <a:solidFill>
                          <a:srgbClr val="213040"/>
                        </a:solidFill>
                        <a:latin typeface="PingFang SC Semibold" panose="020B0400000000000000" charset="-122"/>
                        <a:ea typeface="PingFang SC Semibold" panose="020B0400000000000000" charset="-122"/>
                        <a:cs typeface="PingFang SC Semibold" panose="020B0400000000000000" charset="-122"/>
                      </a:endParaRPr>
                    </a:p>
                  </a:txBody>
                  <a:tcPr marL="76200" marR="76200" marT="38100" marB="38100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13040"/>
                          </a:solidFill>
                          <a:latin typeface="PingFang SC Semibold" panose="020B0400000000000000" charset="-122"/>
                          <a:ea typeface="PingFang SC Semibold" panose="020B0400000000000000" charset="-122"/>
                          <a:cs typeface="PingFang SC Semibold" panose="020B0400000000000000" charset="-122"/>
                        </a:rPr>
                        <a:t>200 epoch，3 seed，early stopping</a:t>
                      </a:r>
                      <a:endParaRPr sz="1050" b="1">
                        <a:solidFill>
                          <a:srgbClr val="213040"/>
                        </a:solidFill>
                        <a:latin typeface="PingFang SC Semibold" panose="020B0400000000000000" charset="-122"/>
                        <a:ea typeface="PingFang SC Semibold" panose="020B0400000000000000" charset="-122"/>
                        <a:cs typeface="PingFang SC Semibold" panose="020B0400000000000000" charset="-122"/>
                      </a:endParaRPr>
                    </a:p>
                  </a:txBody>
                  <a:tcPr marL="76200" marR="76200" marT="38100" marB="38100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13040"/>
                          </a:solidFill>
                          <a:latin typeface="PingFang SC Semibold" panose="020B0400000000000000" charset="-122"/>
                          <a:ea typeface="PingFang SC Semibold" panose="020B0400000000000000" charset="-122"/>
                          <a:cs typeface="PingFang SC Semibold" panose="020B0400000000000000" charset="-122"/>
                        </a:rPr>
                        <a:t>oracle-first、单变量、best_wss 选优、多门禁</a:t>
                      </a:r>
                      <a:endParaRPr sz="1050" b="1">
                        <a:solidFill>
                          <a:srgbClr val="213040"/>
                        </a:solidFill>
                        <a:latin typeface="PingFang SC Semibold" panose="020B0400000000000000" charset="-122"/>
                        <a:ea typeface="PingFang SC Semibold" panose="020B0400000000000000" charset="-122"/>
                        <a:cs typeface="PingFang SC Semibold" panose="020B0400000000000000" charset="-122"/>
                      </a:endParaRPr>
                    </a:p>
                  </a:txBody>
                  <a:tcPr marL="76200" marR="76200" marT="38100" marB="38100" anchor="ctr">
                    <a:solidFill>
                      <a:srgbClr val="EAF1F8"/>
                    </a:solidFill>
                  </a:tcPr>
                </a:tc>
              </a:tr>
              <a:tr h="725805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E6E9E"/>
                          </a:solidFill>
                          <a:latin typeface="PingFang SC Semibold" panose="020B0400000000000000" charset="-122"/>
                          <a:ea typeface="PingFang SC Semibold" panose="020B0400000000000000" charset="-122"/>
                        </a:rPr>
                        <a:t>当前换轨</a:t>
                      </a:r>
                      <a:endParaRPr sz="1050" b="1">
                        <a:solidFill>
                          <a:srgbClr val="2E6E9E"/>
                        </a:solidFill>
                        <a:latin typeface="PingFang SC Semibold" panose="020B0400000000000000" charset="-122"/>
                        <a:ea typeface="PingFang SC Semibold" panose="020B0400000000000000" charset="-122"/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13040"/>
                          </a:solidFill>
                          <a:latin typeface="PingFang SC Semibold" panose="020B0400000000000000" charset="-122"/>
                          <a:ea typeface="PingFang SC Semibold" panose="020B0400000000000000" charset="-122"/>
                          <a:cs typeface="PingFang SC Semibold" panose="020B0400000000000000" charset="-122"/>
                        </a:rPr>
                        <a:t>无壁面 2D 展开</a:t>
                      </a:r>
                      <a:endParaRPr sz="1050" b="1">
                        <a:solidFill>
                          <a:srgbClr val="213040"/>
                        </a:solidFill>
                        <a:latin typeface="PingFang SC Semibold" panose="020B0400000000000000" charset="-122"/>
                        <a:ea typeface="PingFang SC Semibold" panose="020B0400000000000000" charset="-122"/>
                        <a:cs typeface="PingFang SC Semibold" panose="020B0400000000000000" charset="-122"/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13040"/>
                          </a:solidFill>
                          <a:latin typeface="PingFang SC Semibold" panose="020B0400000000000000" charset="-122"/>
                          <a:ea typeface="PingFang SC Semibold" panose="020B0400000000000000" charset="-122"/>
                        </a:rPr>
                        <a:t>无</a:t>
                      </a:r>
                      <a:endParaRPr sz="1050" b="1">
                        <a:solidFill>
                          <a:srgbClr val="213040"/>
                        </a:solidFill>
                        <a:latin typeface="PingFang SC Semibold" panose="020B0400000000000000" charset="-122"/>
                        <a:ea typeface="PingFang SC Semibold" panose="020B0400000000000000" charset="-122"/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13040"/>
                          </a:solidFill>
                          <a:latin typeface="PingFang SC Semibold" panose="020B0400000000000000" charset="-122"/>
                          <a:ea typeface="PingFang SC Semibold" panose="020B0400000000000000" charset="-122"/>
                          <a:cs typeface="PingFang SC Semibold" panose="020B0400000000000000" charset="-122"/>
                        </a:rPr>
                        <a:t>G4 (s,θ) 2D 换轨：POD 0.672，单 case 0.954</a:t>
                      </a:r>
                      <a:endParaRPr sz="1050" b="1">
                        <a:solidFill>
                          <a:srgbClr val="213040"/>
                        </a:solidFill>
                        <a:latin typeface="PingFang SC Semibold" panose="020B0400000000000000" charset="-122"/>
                        <a:ea typeface="PingFang SC Semibold" panose="020B0400000000000000" charset="-122"/>
                        <a:cs typeface="PingFang SC Semibold" panose="020B0400000000000000" charset="-122"/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02920" y="6547104"/>
            <a:ext cx="7315200" cy="25603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A6B7B"/>
                </a:solidFill>
                <a:latin typeface="PingFang SC" panose="020B0400000000000000" charset="-122"/>
                <a:ea typeface="PingFang SC" panose="020B0400000000000000" charset="-122"/>
              </a:rPr>
              <a:t>脑血管 PINNs 点云论文 · 阅读与对照</a:t>
            </a:r>
            <a:endParaRPr sz="850" b="0">
              <a:solidFill>
                <a:srgbClr val="5A6B7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265615" y="6547104"/>
            <a:ext cx="2423160" cy="25603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A6B7B"/>
                </a:solidFill>
                <a:latin typeface="PingFang SC" panose="020B0400000000000000" charset="-122"/>
                <a:ea typeface="PingFang SC" panose="020B0400000000000000" charset="-122"/>
              </a:rPr>
              <a:t>2026-06-11  ·  科研汇报</a:t>
            </a:r>
            <a:endParaRPr sz="850" b="0">
              <a:solidFill>
                <a:srgbClr val="5A6B7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38100"/>
          </a:xfrm>
          <a:prstGeom prst="rect">
            <a:avLst/>
          </a:prstGeom>
          <a:solidFill>
            <a:srgbClr val="16A0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0584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6A0B8"/>
                </a:solidFill>
                <a:latin typeface="PingFang SC" panose="020B0400000000000000" charset="-122"/>
                <a:ea typeface="PingFang SC" panose="020B0400000000000000" charset="-122"/>
              </a:rPr>
              <a:t>05 · COMPARISON</a:t>
            </a:r>
            <a:endParaRPr sz="1150" b="1">
              <a:solidFill>
                <a:srgbClr val="16A0B8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0607040" cy="56692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</a:rPr>
              <a:t>对照（五）监督目标与指标</a:t>
            </a:r>
            <a:endParaRPr sz="23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1323015" y="310896"/>
            <a:ext cx="457200" cy="457200"/>
          </a:xfrm>
          <a:prstGeom prst="rect">
            <a:avLst/>
          </a:prstGeom>
          <a:solidFill>
            <a:srgbClr val="16A0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23015" y="310896"/>
            <a:ext cx="457200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</a:rPr>
              <a:t>13</a:t>
            </a:r>
            <a:endParaRPr sz="14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" y="1170432"/>
            <a:ext cx="1097280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A6B7B"/>
                </a:solidFill>
                <a:latin typeface="PingFang SC" panose="020B0400000000000000" charset="-122"/>
                <a:ea typeface="PingFang SC" panose="020B0400000000000000" charset="-122"/>
              </a:rPr>
              <a:t>主要监督 · WSS 是否主目标 · 主要指标 · 最佳结果 · 临床 surrogate</a:t>
            </a:r>
            <a:endParaRPr sz="1200" b="0">
              <a:solidFill>
                <a:srgbClr val="5A6B7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572895"/>
          <a:ext cx="11111865" cy="402399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77315"/>
                <a:gridCol w="3214370"/>
                <a:gridCol w="3213735"/>
                <a:gridCol w="3306445"/>
              </a:tblGrid>
              <a:tr h="490855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ingFang SC Semibold" panose="020B0400000000000000" charset="-122"/>
                          <a:ea typeface="PingFang SC Semibold" panose="020B0400000000000000" charset="-122"/>
                        </a:rPr>
                        <a:t>维度</a:t>
                      </a:r>
                      <a:endParaRPr sz="1200" b="1">
                        <a:solidFill>
                          <a:srgbClr val="FFFFFF"/>
                        </a:solidFill>
                        <a:latin typeface="PingFang SC Semibold" panose="020B0400000000000000" charset="-122"/>
                        <a:ea typeface="PingFang SC Semibold" panose="020B0400000000000000" charset="-122"/>
                      </a:endParaRPr>
                    </a:p>
                  </a:txBody>
                  <a:tcPr marL="76200" marR="76200" marT="38100" marB="38100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ingFang SC Semibold" panose="020B0400000000000000" charset="-122"/>
                          <a:ea typeface="PingFang SC Semibold" panose="020B0400000000000000" charset="-122"/>
                        </a:rPr>
                        <a:t>Liao 2025</a:t>
                      </a:r>
                      <a:endParaRPr sz="1200" b="1">
                        <a:solidFill>
                          <a:srgbClr val="FFFFFF"/>
                        </a:solidFill>
                        <a:latin typeface="PingFang SC Semibold" panose="020B0400000000000000" charset="-122"/>
                        <a:ea typeface="PingFang SC Semibold" panose="020B0400000000000000" charset="-122"/>
                      </a:endParaRPr>
                    </a:p>
                  </a:txBody>
                  <a:tcPr marL="76200" marR="76200" marT="38100" marB="38100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ingFang SC Semibold" panose="020B0400000000000000" charset="-122"/>
                          <a:ea typeface="PingFang SC Semibold" panose="020B0400000000000000" charset="-122"/>
                          <a:cs typeface="PingFang SC Semibold" panose="020B0400000000000000" charset="-122"/>
                        </a:rPr>
                        <a:t> V1</a:t>
                      </a:r>
                      <a:endParaRPr sz="1200" b="1">
                        <a:solidFill>
                          <a:srgbClr val="FFFFFF"/>
                        </a:solidFill>
                        <a:latin typeface="PingFang SC Semibold" panose="020B0400000000000000" charset="-122"/>
                        <a:ea typeface="PingFang SC Semibold" panose="020B0400000000000000" charset="-122"/>
                        <a:cs typeface="PingFang SC Semibold" panose="020B0400000000000000" charset="-122"/>
                      </a:endParaRPr>
                    </a:p>
                  </a:txBody>
                  <a:tcPr marL="76200" marR="76200" marT="38100" marB="38100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ingFang SC Semibold" panose="020B0400000000000000" charset="-122"/>
                          <a:ea typeface="PingFang SC Semibold" panose="020B0400000000000000" charset="-122"/>
                          <a:cs typeface="PingFang SC Semibold" panose="020B0400000000000000" charset="-122"/>
                        </a:rPr>
                        <a:t>V2/V3</a:t>
                      </a:r>
                      <a:endParaRPr sz="1200" b="1">
                        <a:solidFill>
                          <a:srgbClr val="FFFFFF"/>
                        </a:solidFill>
                        <a:latin typeface="PingFang SC Semibold" panose="020B0400000000000000" charset="-122"/>
                        <a:ea typeface="PingFang SC Semibold" panose="020B0400000000000000" charset="-122"/>
                        <a:cs typeface="PingFang SC Semibold" panose="020B0400000000000000" charset="-122"/>
                      </a:endParaRPr>
                    </a:p>
                  </a:txBody>
                  <a:tcPr marL="76200" marR="76200" marT="38100" marB="38100" anchor="ctr">
                    <a:solidFill>
                      <a:srgbClr val="1F4E79"/>
                    </a:solidFill>
                  </a:tcPr>
                </a:tc>
              </a:tr>
              <a:tr h="706755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E6E9E"/>
                          </a:solidFill>
                          <a:latin typeface="PingFang SC Semibold" panose="020B0400000000000000" charset="-122"/>
                          <a:ea typeface="PingFang SC Semibold" panose="020B0400000000000000" charset="-122"/>
                        </a:rPr>
                        <a:t>主要监督</a:t>
                      </a:r>
                      <a:endParaRPr sz="1050" b="1">
                        <a:solidFill>
                          <a:srgbClr val="2E6E9E"/>
                        </a:solidFill>
                        <a:latin typeface="PingFang SC Semibold" panose="020B0400000000000000" charset="-122"/>
                        <a:ea typeface="PingFang SC Semibold" panose="020B0400000000000000" charset="-122"/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13040"/>
                          </a:solidFill>
                          <a:latin typeface="PingFang SC Semibold" panose="020B0400000000000000" charset="-122"/>
                          <a:ea typeface="PingFang SC Semibold" panose="020B0400000000000000" charset="-122"/>
                        </a:rPr>
                        <a:t>Vx/Vy/Vz/P</a:t>
                      </a:r>
                      <a:endParaRPr sz="1050" b="1">
                        <a:solidFill>
                          <a:srgbClr val="213040"/>
                        </a:solidFill>
                        <a:latin typeface="PingFang SC Semibold" panose="020B0400000000000000" charset="-122"/>
                        <a:ea typeface="PingFang SC Semibold" panose="020B0400000000000000" charset="-122"/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13040"/>
                          </a:solidFill>
                          <a:latin typeface="PingFang SC Semibold" panose="020B0400000000000000" charset="-122"/>
                          <a:ea typeface="PingFang SC Semibold" panose="020B0400000000000000" charset="-122"/>
                        </a:rPr>
                        <a:t>u/v/w/p</a:t>
                      </a:r>
                      <a:endParaRPr sz="1050" b="1">
                        <a:solidFill>
                          <a:srgbClr val="213040"/>
                        </a:solidFill>
                        <a:latin typeface="PingFang SC Semibold" panose="020B0400000000000000" charset="-122"/>
                        <a:ea typeface="PingFang SC Semibold" panose="020B0400000000000000" charset="-122"/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13040"/>
                          </a:solidFill>
                          <a:latin typeface="PingFang SC Semibold" panose="020B0400000000000000" charset="-122"/>
                          <a:ea typeface="PingFang SC Semibold" panose="020B0400000000000000" charset="-122"/>
                          <a:cs typeface="PingFang SC Semibold" panose="020B0400000000000000" charset="-122"/>
                        </a:rPr>
                        <a:t>p/WSS、WSS 单目标、弱速度上下文、G4 壁面场</a:t>
                      </a:r>
                      <a:endParaRPr sz="1050" b="1">
                        <a:solidFill>
                          <a:srgbClr val="213040"/>
                        </a:solidFill>
                        <a:latin typeface="PingFang SC Semibold" panose="020B0400000000000000" charset="-122"/>
                        <a:ea typeface="PingFang SC Semibold" panose="020B0400000000000000" charset="-122"/>
                        <a:cs typeface="PingFang SC Semibold" panose="020B0400000000000000" charset="-122"/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706755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E6E9E"/>
                          </a:solidFill>
                          <a:latin typeface="PingFang SC Semibold" panose="020B0400000000000000" charset="-122"/>
                          <a:ea typeface="PingFang SC Semibold" panose="020B0400000000000000" charset="-122"/>
                          <a:cs typeface="PingFang SC Semibold" panose="020B0400000000000000" charset="-122"/>
                        </a:rPr>
                        <a:t>WSS 主目标</a:t>
                      </a:r>
                      <a:endParaRPr lang="en-US" sz="1050" b="1">
                        <a:solidFill>
                          <a:srgbClr val="2E6E9E"/>
                        </a:solidFill>
                        <a:latin typeface="PingFang SC Semibold" panose="020B0400000000000000" charset="-122"/>
                        <a:ea typeface="PingFang SC Semibold" panose="020B0400000000000000" charset="-122"/>
                        <a:cs typeface="PingFang SC Semibold" panose="020B0400000000000000" charset="-122"/>
                      </a:endParaRPr>
                    </a:p>
                  </a:txBody>
                  <a:tcPr marL="76200" marR="76200" marT="38100" marB="38100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13040"/>
                          </a:solidFill>
                          <a:latin typeface="PingFang SC Semibold" panose="020B0400000000000000" charset="-122"/>
                          <a:ea typeface="PingFang SC Semibold" panose="020B0400000000000000" charset="-122"/>
                          <a:cs typeface="PingFang SC Semibold" panose="020B0400000000000000" charset="-122"/>
                        </a:rPr>
                        <a:t>否；仅作医学背景与 mesh 可信度</a:t>
                      </a:r>
                      <a:endParaRPr sz="1050" b="1">
                        <a:solidFill>
                          <a:srgbClr val="213040"/>
                        </a:solidFill>
                        <a:latin typeface="PingFang SC Semibold" panose="020B0400000000000000" charset="-122"/>
                        <a:ea typeface="PingFang SC Semibold" panose="020B0400000000000000" charset="-122"/>
                        <a:cs typeface="PingFang SC Semibold" panose="020B0400000000000000" charset="-122"/>
                      </a:endParaRPr>
                    </a:p>
                  </a:txBody>
                  <a:tcPr marL="76200" marR="76200" marT="38100" marB="38100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13040"/>
                          </a:solidFill>
                          <a:latin typeface="PingFang SC Semibold" panose="020B0400000000000000" charset="-122"/>
                          <a:ea typeface="PingFang SC Semibold" panose="020B0400000000000000" charset="-122"/>
                          <a:cs typeface="PingFang SC Semibold" panose="020B0400000000000000" charset="-122"/>
                        </a:rPr>
                        <a:t>初期否，后续 WSS 多任务辅助</a:t>
                      </a:r>
                      <a:endParaRPr sz="1050" b="1">
                        <a:solidFill>
                          <a:srgbClr val="213040"/>
                        </a:solidFill>
                        <a:latin typeface="PingFang SC Semibold" panose="020B0400000000000000" charset="-122"/>
                        <a:ea typeface="PingFang SC Semibold" panose="020B0400000000000000" charset="-122"/>
                        <a:cs typeface="PingFang SC Semibold" panose="020B0400000000000000" charset="-122"/>
                      </a:endParaRPr>
                    </a:p>
                  </a:txBody>
                  <a:tcPr marL="76200" marR="76200" marT="38100" marB="38100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13040"/>
                          </a:solidFill>
                          <a:latin typeface="PingFang SC Semibold" panose="020B0400000000000000" charset="-122"/>
                          <a:ea typeface="PingFang SC Semibold" panose="020B0400000000000000" charset="-122"/>
                          <a:cs typeface="PingFang SC Semibold" panose="020B0400000000000000" charset="-122"/>
                        </a:rPr>
                        <a:t>是，尤其 wall WSS 及 WSS 分量</a:t>
                      </a:r>
                      <a:endParaRPr sz="1050" b="1">
                        <a:solidFill>
                          <a:srgbClr val="213040"/>
                        </a:solidFill>
                        <a:latin typeface="PingFang SC Semibold" panose="020B0400000000000000" charset="-122"/>
                        <a:ea typeface="PingFang SC Semibold" panose="020B0400000000000000" charset="-122"/>
                        <a:cs typeface="PingFang SC Semibold" panose="020B0400000000000000" charset="-122"/>
                      </a:endParaRPr>
                    </a:p>
                  </a:txBody>
                  <a:tcPr marL="76200" marR="76200" marT="38100" marB="38100" anchor="ctr">
                    <a:solidFill>
                      <a:srgbClr val="EAF1F8"/>
                    </a:solidFill>
                  </a:tcPr>
                </a:tc>
              </a:tr>
              <a:tr h="70612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E6E9E"/>
                          </a:solidFill>
                          <a:latin typeface="PingFang SC Semibold" panose="020B0400000000000000" charset="-122"/>
                          <a:ea typeface="PingFang SC Semibold" panose="020B0400000000000000" charset="-122"/>
                        </a:rPr>
                        <a:t>主要指标</a:t>
                      </a:r>
                      <a:endParaRPr sz="1050" b="1">
                        <a:solidFill>
                          <a:srgbClr val="2E6E9E"/>
                        </a:solidFill>
                        <a:latin typeface="PingFang SC Semibold" panose="020B0400000000000000" charset="-122"/>
                        <a:ea typeface="PingFang SC Semibold" panose="020B0400000000000000" charset="-122"/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13040"/>
                          </a:solidFill>
                          <a:latin typeface="PingFang SC Semibold" panose="020B0400000000000000" charset="-122"/>
                          <a:ea typeface="PingFang SC Semibold" panose="020B0400000000000000" charset="-122"/>
                          <a:cs typeface="PingFang SC Semibold" panose="020B0400000000000000" charset="-122"/>
                        </a:rPr>
                        <a:t>velocity/pressure NMAE、FR/PD R²</a:t>
                      </a:r>
                      <a:endParaRPr sz="1050" b="1">
                        <a:solidFill>
                          <a:srgbClr val="213040"/>
                        </a:solidFill>
                        <a:latin typeface="PingFang SC Semibold" panose="020B0400000000000000" charset="-122"/>
                        <a:ea typeface="PingFang SC Semibold" panose="020B0400000000000000" charset="-122"/>
                        <a:cs typeface="PingFang SC Semibold" panose="020B0400000000000000" charset="-122"/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13040"/>
                          </a:solidFill>
                          <a:latin typeface="PingFang SC Semibold" panose="020B0400000000000000" charset="-122"/>
                          <a:ea typeface="PingFang SC Semibold" panose="020B0400000000000000" charset="-122"/>
                          <a:cs typeface="PingFang SC Semibold" panose="020B0400000000000000" charset="-122"/>
                        </a:rPr>
                        <a:t>interior RMSE|v|、R2_p、区域速度误差</a:t>
                      </a:r>
                      <a:endParaRPr sz="1050" b="1">
                        <a:solidFill>
                          <a:srgbClr val="213040"/>
                        </a:solidFill>
                        <a:latin typeface="PingFang SC Semibold" panose="020B0400000000000000" charset="-122"/>
                        <a:ea typeface="PingFang SC Semibold" panose="020B0400000000000000" charset="-122"/>
                        <a:cs typeface="PingFang SC Semibold" panose="020B0400000000000000" charset="-122"/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13040"/>
                          </a:solidFill>
                          <a:latin typeface="PingFang SC Semibold" panose="020B0400000000000000" charset="-122"/>
                          <a:ea typeface="PingFang SC Semibold" panose="020B0400000000000000" charset="-122"/>
                          <a:cs typeface="PingFang SC Semibold" panose="020B0400000000000000" charset="-122"/>
                        </a:rPr>
                        <a:t>wss_r2_wss、wss_x/y/z、r2_p、Pa p95、top-k</a:t>
                      </a:r>
                      <a:endParaRPr sz="1050" b="1">
                        <a:solidFill>
                          <a:srgbClr val="213040"/>
                        </a:solidFill>
                        <a:latin typeface="PingFang SC Semibold" panose="020B0400000000000000" charset="-122"/>
                        <a:ea typeface="PingFang SC Semibold" panose="020B0400000000000000" charset="-122"/>
                        <a:cs typeface="PingFang SC Semibold" panose="020B0400000000000000" charset="-122"/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706755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E6E9E"/>
                          </a:solidFill>
                          <a:latin typeface="PingFang SC Semibold" panose="020B0400000000000000" charset="-122"/>
                          <a:ea typeface="PingFang SC Semibold" panose="020B0400000000000000" charset="-122"/>
                        </a:rPr>
                        <a:t>最佳结果</a:t>
                      </a:r>
                      <a:endParaRPr sz="1050" b="1">
                        <a:solidFill>
                          <a:srgbClr val="2E6E9E"/>
                        </a:solidFill>
                        <a:latin typeface="PingFang SC Semibold" panose="020B0400000000000000" charset="-122"/>
                        <a:ea typeface="PingFang SC Semibold" panose="020B0400000000000000" charset="-122"/>
                      </a:endParaRPr>
                    </a:p>
                  </a:txBody>
                  <a:tcPr marL="76200" marR="76200" marT="38100" marB="38100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13040"/>
                          </a:solidFill>
                          <a:latin typeface="PingFang SC Semibold" panose="020B0400000000000000" charset="-122"/>
                          <a:ea typeface="PingFang SC Semibold" panose="020B0400000000000000" charset="-122"/>
                          <a:cs typeface="PingFang SC Semibold" panose="020B0400000000000000" charset="-122"/>
                        </a:rPr>
                        <a:t>velocity 7.79%、pressure 6.63%</a:t>
                      </a:r>
                      <a:endParaRPr sz="1050" b="1">
                        <a:solidFill>
                          <a:srgbClr val="213040"/>
                        </a:solidFill>
                        <a:latin typeface="PingFang SC Semibold" panose="020B0400000000000000" charset="-122"/>
                        <a:ea typeface="PingFang SC Semibold" panose="020B0400000000000000" charset="-122"/>
                        <a:cs typeface="PingFang SC Semibold" panose="020B0400000000000000" charset="-122"/>
                      </a:endParaRPr>
                    </a:p>
                  </a:txBody>
                  <a:tcPr marL="76200" marR="76200" marT="38100" marB="38100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13040"/>
                          </a:solidFill>
                          <a:latin typeface="PingFang SC Semibold" panose="020B0400000000000000" charset="-122"/>
                          <a:ea typeface="PingFang SC Semibold" panose="020B0400000000000000" charset="-122"/>
                          <a:cs typeface="PingFang SC Semibold" panose="020B0400000000000000" charset="-122"/>
                        </a:rPr>
                        <a:t>A-Opt-05：r2_vel_mag≈0.58，R2_p≈0.92</a:t>
                      </a:r>
                      <a:endParaRPr sz="1050" b="1">
                        <a:solidFill>
                          <a:srgbClr val="213040"/>
                        </a:solidFill>
                        <a:latin typeface="PingFang SC Semibold" panose="020B0400000000000000" charset="-122"/>
                        <a:ea typeface="PingFang SC Semibold" panose="020B0400000000000000" charset="-122"/>
                        <a:cs typeface="PingFang SC Semibold" panose="020B0400000000000000" charset="-122"/>
                      </a:endParaRPr>
                    </a:p>
                  </a:txBody>
                  <a:tcPr marL="76200" marR="76200" marT="38100" marB="38100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13040"/>
                          </a:solidFill>
                          <a:latin typeface="PingFang SC Semibold" panose="020B0400000000000000" charset="-122"/>
                          <a:ea typeface="PingFang SC Semibold" panose="020B0400000000000000" charset="-122"/>
                          <a:cs typeface="PingFang SC Semibold" panose="020B0400000000000000" charset="-122"/>
                        </a:rPr>
                        <a:t>post5463 WSS 0.425±0.012；G5 Pa p95 0.559</a:t>
                      </a:r>
                      <a:endParaRPr sz="1050" b="1">
                        <a:solidFill>
                          <a:srgbClr val="213040"/>
                        </a:solidFill>
                        <a:latin typeface="PingFang SC Semibold" panose="020B0400000000000000" charset="-122"/>
                        <a:ea typeface="PingFang SC Semibold" panose="020B0400000000000000" charset="-122"/>
                        <a:cs typeface="PingFang SC Semibold" panose="020B0400000000000000" charset="-122"/>
                      </a:endParaRPr>
                    </a:p>
                  </a:txBody>
                  <a:tcPr marL="76200" marR="76200" marT="38100" marB="38100" anchor="ctr">
                    <a:solidFill>
                      <a:srgbClr val="EAF1F8"/>
                    </a:solidFill>
                  </a:tcPr>
                </a:tc>
              </a:tr>
              <a:tr h="706755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E6E9E"/>
                          </a:solidFill>
                          <a:latin typeface="PingFang SC Semibold" panose="020B0400000000000000" charset="-122"/>
                          <a:ea typeface="PingFang SC Semibold" panose="020B0400000000000000" charset="-122"/>
                          <a:cs typeface="PingFang SC Semibold" panose="020B0400000000000000" charset="-122"/>
                        </a:rPr>
                        <a:t>临床 surrogate</a:t>
                      </a:r>
                      <a:endParaRPr sz="1050" b="1">
                        <a:solidFill>
                          <a:srgbClr val="2E6E9E"/>
                        </a:solidFill>
                        <a:latin typeface="PingFang SC Semibold" panose="020B0400000000000000" charset="-122"/>
                        <a:ea typeface="PingFang SC Semibold" panose="020B0400000000000000" charset="-122"/>
                        <a:cs typeface="PingFang SC Semibold" panose="020B0400000000000000" charset="-122"/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13040"/>
                          </a:solidFill>
                          <a:latin typeface="PingFang SC Semibold" panose="020B0400000000000000" charset="-122"/>
                          <a:ea typeface="PingFang SC Semibold" panose="020B0400000000000000" charset="-122"/>
                          <a:cs typeface="PingFang SC Semibold" panose="020B0400000000000000" charset="-122"/>
                        </a:rPr>
                        <a:t>FR R²=0.9624，PD R²=0.9355</a:t>
                      </a:r>
                      <a:endParaRPr sz="1050" b="1">
                        <a:solidFill>
                          <a:srgbClr val="213040"/>
                        </a:solidFill>
                        <a:latin typeface="PingFang SC Semibold" panose="020B0400000000000000" charset="-122"/>
                        <a:ea typeface="PingFang SC Semibold" panose="020B0400000000000000" charset="-122"/>
                        <a:cs typeface="PingFang SC Semibold" panose="020B0400000000000000" charset="-122"/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13040"/>
                          </a:solidFill>
                          <a:latin typeface="PingFang SC Semibold" panose="020B0400000000000000" charset="-122"/>
                          <a:ea typeface="PingFang SC Semibold" panose="020B0400000000000000" charset="-122"/>
                          <a:cs typeface="PingFang SC Semibold" panose="020B0400000000000000" charset="-122"/>
                        </a:rPr>
                        <a:t>V1 仍在场重建阶段</a:t>
                      </a:r>
                      <a:endParaRPr sz="1050" b="1">
                        <a:solidFill>
                          <a:srgbClr val="213040"/>
                        </a:solidFill>
                        <a:latin typeface="PingFang SC Semibold" panose="020B0400000000000000" charset="-122"/>
                        <a:ea typeface="PingFang SC Semibold" panose="020B0400000000000000" charset="-122"/>
                        <a:cs typeface="PingFang SC Semibold" panose="020B0400000000000000" charset="-122"/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13040"/>
                          </a:solidFill>
                          <a:latin typeface="PingFang SC Semibold" panose="020B0400000000000000" charset="-122"/>
                          <a:ea typeface="PingFang SC Semibold" panose="020B0400000000000000" charset="-122"/>
                          <a:cs typeface="PingFang SC Semibold" panose="020B0400000000000000" charset="-122"/>
                        </a:rPr>
                        <a:t>Pa p95、区域高 WSS、病例级 surrogate</a:t>
                      </a:r>
                      <a:endParaRPr sz="1050" b="1">
                        <a:solidFill>
                          <a:srgbClr val="213040"/>
                        </a:solidFill>
                        <a:latin typeface="PingFang SC Semibold" panose="020B0400000000000000" charset="-122"/>
                        <a:ea typeface="PingFang SC Semibold" panose="020B0400000000000000" charset="-122"/>
                        <a:cs typeface="PingFang SC Semibold" panose="020B0400000000000000" charset="-122"/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02920" y="6547104"/>
            <a:ext cx="7315200" cy="25603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A6B7B"/>
                </a:solidFill>
                <a:latin typeface="PingFang SC" panose="020B0400000000000000" charset="-122"/>
                <a:ea typeface="PingFang SC" panose="020B0400000000000000" charset="-122"/>
              </a:rPr>
              <a:t>脑血管 PINNs 点云论文 · 阅读与对照</a:t>
            </a:r>
            <a:endParaRPr sz="850" b="0">
              <a:solidFill>
                <a:srgbClr val="5A6B7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265615" y="6547104"/>
            <a:ext cx="2423160" cy="25603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A6B7B"/>
                </a:solidFill>
                <a:latin typeface="PingFang SC" panose="020B0400000000000000" charset="-122"/>
                <a:ea typeface="PingFang SC" panose="020B0400000000000000" charset="-122"/>
              </a:rPr>
              <a:t>2026-06-11  ·  科研汇报</a:t>
            </a:r>
            <a:endParaRPr sz="850" b="0">
              <a:solidFill>
                <a:srgbClr val="5A6B7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38100"/>
          </a:xfrm>
          <a:prstGeom prst="rect">
            <a:avLst/>
          </a:prstGeom>
          <a:solidFill>
            <a:srgbClr val="16A0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0584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6A0B8"/>
                </a:solidFill>
                <a:latin typeface="PingFang SC" panose="020B0400000000000000" charset="-122"/>
                <a:ea typeface="PingFang SC" panose="020B0400000000000000" charset="-122"/>
              </a:rPr>
              <a:t>05 · COMPARISON</a:t>
            </a:r>
            <a:endParaRPr sz="1150" b="1">
              <a:solidFill>
                <a:srgbClr val="16A0B8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0607040" cy="56692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</a:rPr>
              <a:t>对照（六）速度/压力能否带动 WSS 的内部证据</a:t>
            </a:r>
            <a:endParaRPr sz="23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1323015" y="310896"/>
            <a:ext cx="457200" cy="457200"/>
          </a:xfrm>
          <a:prstGeom prst="rect">
            <a:avLst/>
          </a:prstGeom>
          <a:solidFill>
            <a:srgbClr val="16A0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23015" y="310896"/>
            <a:ext cx="457200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</a:rPr>
              <a:t>14</a:t>
            </a:r>
            <a:endParaRPr sz="14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" y="1170432"/>
            <a:ext cx="1097280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A6B7B"/>
                </a:solidFill>
                <a:latin typeface="PingFang SC" panose="020B0400000000000000" charset="-122"/>
                <a:ea typeface="PingFang SC" panose="020B0400000000000000" charset="-122"/>
              </a:rPr>
              <a:t>六条内部实验线 —— 速度/压力表现 vs WSS 表现</a:t>
            </a:r>
            <a:endParaRPr sz="1200" b="0">
              <a:solidFill>
                <a:srgbClr val="5A6B7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572895"/>
          <a:ext cx="11131550" cy="383984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92045"/>
                <a:gridCol w="3035935"/>
                <a:gridCol w="2759710"/>
                <a:gridCol w="2943860"/>
              </a:tblGrid>
              <a:tr h="467995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ingFang SC Semibold" panose="020B0400000000000000" charset="-122"/>
                          <a:ea typeface="PingFang SC Semibold" panose="020B0400000000000000" charset="-122"/>
                        </a:rPr>
                        <a:t>路线</a:t>
                      </a:r>
                      <a:endParaRPr sz="1200" b="1">
                        <a:solidFill>
                          <a:srgbClr val="FFFFFF"/>
                        </a:solidFill>
                        <a:latin typeface="PingFang SC Semibold" panose="020B0400000000000000" charset="-122"/>
                        <a:ea typeface="PingFang SC Semibold" panose="020B0400000000000000" charset="-122"/>
                      </a:endParaRPr>
                    </a:p>
                  </a:txBody>
                  <a:tcPr marL="76200" marR="76200" marT="38100" marB="38100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ingFang SC Semibold" panose="020B0400000000000000" charset="-122"/>
                          <a:ea typeface="PingFang SC Semibold" panose="020B0400000000000000" charset="-122"/>
                          <a:cs typeface="PingFang SC Semibold" panose="020B0400000000000000" charset="-122"/>
                        </a:rPr>
                        <a:t>速度/压力表现</a:t>
                      </a:r>
                      <a:endParaRPr sz="1200" b="1">
                        <a:solidFill>
                          <a:srgbClr val="FFFFFF"/>
                        </a:solidFill>
                        <a:latin typeface="PingFang SC Semibold" panose="020B0400000000000000" charset="-122"/>
                        <a:ea typeface="PingFang SC Semibold" panose="020B0400000000000000" charset="-122"/>
                        <a:cs typeface="PingFang SC Semibold" panose="020B0400000000000000" charset="-122"/>
                      </a:endParaRPr>
                    </a:p>
                  </a:txBody>
                  <a:tcPr marL="76200" marR="76200" marT="38100" marB="38100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ingFang SC Semibold" panose="020B0400000000000000" charset="-122"/>
                          <a:ea typeface="PingFang SC Semibold" panose="020B0400000000000000" charset="-122"/>
                          <a:cs typeface="PingFang SC Semibold" panose="020B0400000000000000" charset="-122"/>
                        </a:rPr>
                        <a:t>WSS 表现</a:t>
                      </a:r>
                      <a:endParaRPr sz="1200" b="1">
                        <a:solidFill>
                          <a:srgbClr val="FFFFFF"/>
                        </a:solidFill>
                        <a:latin typeface="PingFang SC Semibold" panose="020B0400000000000000" charset="-122"/>
                        <a:ea typeface="PingFang SC Semibold" panose="020B0400000000000000" charset="-122"/>
                        <a:cs typeface="PingFang SC Semibold" panose="020B0400000000000000" charset="-122"/>
                      </a:endParaRPr>
                    </a:p>
                  </a:txBody>
                  <a:tcPr marL="76200" marR="76200" marT="38100" marB="38100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ingFang SC Semibold" panose="020B0400000000000000" charset="-122"/>
                          <a:ea typeface="PingFang SC Semibold" panose="020B0400000000000000" charset="-122"/>
                        </a:rPr>
                        <a:t>对论文阅读的意义</a:t>
                      </a:r>
                      <a:endParaRPr sz="1200" b="1">
                        <a:solidFill>
                          <a:srgbClr val="FFFFFF"/>
                        </a:solidFill>
                        <a:latin typeface="PingFang SC Semibold" panose="020B0400000000000000" charset="-122"/>
                        <a:ea typeface="PingFang SC Semibold" panose="020B0400000000000000" charset="-122"/>
                      </a:endParaRPr>
                    </a:p>
                  </a:txBody>
                  <a:tcPr marL="76200" marR="76200" marT="38100" marB="38100" anchor="ctr">
                    <a:solidFill>
                      <a:srgbClr val="1F4E79"/>
                    </a:solidFill>
                  </a:tcPr>
                </a:tc>
              </a:tr>
              <a:tr h="561975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E6E9E"/>
                          </a:solidFill>
                          <a:latin typeface="PingFang SC Semibold" panose="020B0400000000000000" charset="-122"/>
                          <a:ea typeface="PingFang SC Semibold" panose="020B0400000000000000" charset="-122"/>
                          <a:cs typeface="PingFang SC Semibold" panose="020B0400000000000000" charset="-122"/>
                        </a:rPr>
                        <a:t>V1 速度/压力主线</a:t>
                      </a:r>
                      <a:endParaRPr sz="1050" b="1">
                        <a:solidFill>
                          <a:srgbClr val="2E6E9E"/>
                        </a:solidFill>
                        <a:latin typeface="PingFang SC Semibold" panose="020B0400000000000000" charset="-122"/>
                        <a:ea typeface="PingFang SC Semibold" panose="020B0400000000000000" charset="-122"/>
                        <a:cs typeface="PingFang SC Semibold" panose="020B0400000000000000" charset="-122"/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13040"/>
                          </a:solidFill>
                          <a:latin typeface="PingFang SC Semibold" panose="020B0400000000000000" charset="-122"/>
                          <a:ea typeface="PingFang SC Semibold" panose="020B0400000000000000" charset="-122"/>
                          <a:cs typeface="PingFang SC Semibold" panose="020B0400000000000000" charset="-122"/>
                        </a:rPr>
                        <a:t>压力 R2_p≈0.92，速度中等信号</a:t>
                      </a:r>
                      <a:endParaRPr sz="1050" b="1">
                        <a:solidFill>
                          <a:srgbClr val="213040"/>
                        </a:solidFill>
                        <a:latin typeface="PingFang SC Semibold" panose="020B0400000000000000" charset="-122"/>
                        <a:ea typeface="PingFang SC Semibold" panose="020B0400000000000000" charset="-122"/>
                        <a:cs typeface="PingFang SC Semibold" panose="020B0400000000000000" charset="-122"/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13040"/>
                          </a:solidFill>
                          <a:latin typeface="PingFang SC Semibold" panose="020B0400000000000000" charset="-122"/>
                          <a:ea typeface="PingFang SC Semibold" panose="020B0400000000000000" charset="-122"/>
                          <a:cs typeface="PingFang SC Semibold" panose="020B0400000000000000" charset="-122"/>
                        </a:rPr>
                        <a:t>原始主线非 WSS，不保证端到端</a:t>
                      </a:r>
                      <a:endParaRPr sz="1050" b="1">
                        <a:solidFill>
                          <a:srgbClr val="213040"/>
                        </a:solidFill>
                        <a:latin typeface="PingFang SC Semibold" panose="020B0400000000000000" charset="-122"/>
                        <a:ea typeface="PingFang SC Semibold" panose="020B0400000000000000" charset="-122"/>
                        <a:cs typeface="PingFang SC Semibold" panose="020B0400000000000000" charset="-122"/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13040"/>
                          </a:solidFill>
                          <a:latin typeface="PingFang SC Semibold" panose="020B0400000000000000" charset="-122"/>
                          <a:ea typeface="PingFang SC Semibold" panose="020B0400000000000000" charset="-122"/>
                        </a:rPr>
                        <a:t>我们已做过论文式场预测主线</a:t>
                      </a:r>
                      <a:endParaRPr sz="1050" b="1">
                        <a:solidFill>
                          <a:srgbClr val="213040"/>
                        </a:solidFill>
                        <a:latin typeface="PingFang SC Semibold" panose="020B0400000000000000" charset="-122"/>
                        <a:ea typeface="PingFang SC Semibold" panose="020B0400000000000000" charset="-122"/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561975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E6E9E"/>
                          </a:solidFill>
                          <a:latin typeface="PingFang SC Semibold" panose="020B0400000000000000" charset="-122"/>
                          <a:ea typeface="PingFang SC Semibold" panose="020B0400000000000000" charset="-122"/>
                          <a:cs typeface="PingFang SC Semibold" panose="020B0400000000000000" charset="-122"/>
                        </a:rPr>
                        <a:t>V1 WSS 多任务</a:t>
                      </a:r>
                      <a:endParaRPr sz="1050" b="1">
                        <a:solidFill>
                          <a:srgbClr val="2E6E9E"/>
                        </a:solidFill>
                        <a:latin typeface="PingFang SC Semibold" panose="020B0400000000000000" charset="-122"/>
                        <a:ea typeface="PingFang SC Semibold" panose="020B0400000000000000" charset="-122"/>
                        <a:cs typeface="PingFang SC Semibold" panose="020B0400000000000000" charset="-122"/>
                      </a:endParaRPr>
                    </a:p>
                  </a:txBody>
                  <a:tcPr marL="76200" marR="76200" marT="38100" marB="38100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13040"/>
                          </a:solidFill>
                          <a:latin typeface="PingFang SC Semibold" panose="020B0400000000000000" charset="-122"/>
                          <a:ea typeface="PingFang SC Semibold" panose="020B0400000000000000" charset="-122"/>
                          <a:cs typeface="PingFang SC Semibold" panose="020B0400000000000000" charset="-122"/>
                        </a:rPr>
                        <a:t>vel_mag≈0.584，R2_p≈0.922</a:t>
                      </a:r>
                      <a:endParaRPr sz="1050" b="1">
                        <a:solidFill>
                          <a:srgbClr val="213040"/>
                        </a:solidFill>
                        <a:latin typeface="PingFang SC Semibold" panose="020B0400000000000000" charset="-122"/>
                        <a:ea typeface="PingFang SC Semibold" panose="020B0400000000000000" charset="-122"/>
                        <a:cs typeface="PingFang SC Semibold" panose="020B0400000000000000" charset="-122"/>
                      </a:endParaRPr>
                    </a:p>
                  </a:txBody>
                  <a:tcPr marL="76200" marR="76200" marT="38100" marB="38100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13040"/>
                          </a:solidFill>
                          <a:latin typeface="PingFang SC Semibold" panose="020B0400000000000000" charset="-122"/>
                          <a:ea typeface="PingFang SC Semibold" panose="020B0400000000000000" charset="-122"/>
                          <a:cs typeface="PingFang SC Semibold" panose="020B0400000000000000" charset="-122"/>
                        </a:rPr>
                        <a:t>壁面 WSS R²≈0.463</a:t>
                      </a:r>
                      <a:endParaRPr sz="1050" b="1">
                        <a:solidFill>
                          <a:srgbClr val="213040"/>
                        </a:solidFill>
                        <a:latin typeface="PingFang SC Semibold" panose="020B0400000000000000" charset="-122"/>
                        <a:ea typeface="PingFang SC Semibold" panose="020B0400000000000000" charset="-122"/>
                        <a:cs typeface="PingFang SC Semibold" panose="020B0400000000000000" charset="-122"/>
                      </a:endParaRPr>
                    </a:p>
                  </a:txBody>
                  <a:tcPr marL="76200" marR="76200" marT="38100" marB="38100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13040"/>
                          </a:solidFill>
                          <a:latin typeface="PingFang SC Semibold" panose="020B0400000000000000" charset="-122"/>
                          <a:ea typeface="PingFang SC Semibold" panose="020B0400000000000000" charset="-122"/>
                          <a:cs typeface="PingFang SC Semibold" panose="020B0400000000000000" charset="-122"/>
                        </a:rPr>
                        <a:t>场监督+WSS 头有正信号，但依赖 V1 表示</a:t>
                      </a:r>
                      <a:endParaRPr sz="1050" b="1">
                        <a:solidFill>
                          <a:srgbClr val="213040"/>
                        </a:solidFill>
                        <a:latin typeface="PingFang SC Semibold" panose="020B0400000000000000" charset="-122"/>
                        <a:ea typeface="PingFang SC Semibold" panose="020B0400000000000000" charset="-122"/>
                        <a:cs typeface="PingFang SC Semibold" panose="020B0400000000000000" charset="-122"/>
                      </a:endParaRPr>
                    </a:p>
                  </a:txBody>
                  <a:tcPr marL="76200" marR="76200" marT="38100" marB="38100" anchor="ctr">
                    <a:solidFill>
                      <a:srgbClr val="EAF1F8"/>
                    </a:solidFill>
                  </a:tcPr>
                </a:tc>
              </a:tr>
              <a:tr h="561975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E6E9E"/>
                          </a:solidFill>
                          <a:latin typeface="PingFang SC Semibold" panose="020B0400000000000000" charset="-122"/>
                          <a:ea typeface="PingFang SC Semibold" panose="020B0400000000000000" charset="-122"/>
                          <a:cs typeface="PingFang SC Semibold" panose="020B0400000000000000" charset="-122"/>
                        </a:rPr>
                        <a:t>V2P-WSSP-02 全速度+WSS</a:t>
                      </a:r>
                      <a:endParaRPr sz="1050" b="1">
                        <a:solidFill>
                          <a:srgbClr val="2E6E9E"/>
                        </a:solidFill>
                        <a:latin typeface="PingFang SC Semibold" panose="020B0400000000000000" charset="-122"/>
                        <a:ea typeface="PingFang SC Semibold" panose="020B0400000000000000" charset="-122"/>
                        <a:cs typeface="PingFang SC Semibold" panose="020B0400000000000000" charset="-122"/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13040"/>
                          </a:solidFill>
                          <a:latin typeface="PingFang SC Semibold" panose="020B0400000000000000" charset="-122"/>
                          <a:ea typeface="PingFang SC Semibold" panose="020B0400000000000000" charset="-122"/>
                          <a:cs typeface="PingFang SC Semibold" panose="020B0400000000000000" charset="-122"/>
                        </a:rPr>
                        <a:t>vel_mag≈0.635，但 r2_p≈0.004 崩</a:t>
                      </a:r>
                      <a:endParaRPr sz="1050" b="1">
                        <a:solidFill>
                          <a:srgbClr val="213040"/>
                        </a:solidFill>
                        <a:latin typeface="PingFang SC Semibold" panose="020B0400000000000000" charset="-122"/>
                        <a:ea typeface="PingFang SC Semibold" panose="020B0400000000000000" charset="-122"/>
                        <a:cs typeface="PingFang SC Semibold" panose="020B0400000000000000" charset="-122"/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13040"/>
                          </a:solidFill>
                          <a:latin typeface="PingFang SC Semibold" panose="020B0400000000000000" charset="-122"/>
                          <a:ea typeface="PingFang SC Semibold" panose="020B0400000000000000" charset="-122"/>
                        </a:rPr>
                        <a:t>wss_r2_wss≈−0.018</a:t>
                      </a:r>
                      <a:endParaRPr sz="1050" b="1">
                        <a:solidFill>
                          <a:srgbClr val="213040"/>
                        </a:solidFill>
                        <a:latin typeface="PingFang SC Semibold" panose="020B0400000000000000" charset="-122"/>
                        <a:ea typeface="PingFang SC Semibold" panose="020B0400000000000000" charset="-122"/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13040"/>
                          </a:solidFill>
                          <a:latin typeface="PingFang SC Semibold" panose="020B0400000000000000" charset="-122"/>
                          <a:ea typeface="PingFang SC Semibold" panose="020B0400000000000000" charset="-122"/>
                          <a:cs typeface="PingFang SC Semibold" panose="020B0400000000000000" charset="-122"/>
                        </a:rPr>
                        <a:t>速度好≠WSS 好，多任务权重冲突</a:t>
                      </a:r>
                      <a:endParaRPr sz="1050" b="1">
                        <a:solidFill>
                          <a:srgbClr val="213040"/>
                        </a:solidFill>
                        <a:latin typeface="PingFang SC Semibold" panose="020B0400000000000000" charset="-122"/>
                        <a:ea typeface="PingFang SC Semibold" panose="020B0400000000000000" charset="-122"/>
                        <a:cs typeface="PingFang SC Semibold" panose="020B0400000000000000" charset="-122"/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561975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E6E9E"/>
                          </a:solidFill>
                          <a:latin typeface="PingFang SC Semibold" panose="020B0400000000000000" charset="-122"/>
                          <a:ea typeface="PingFang SC Semibold" panose="020B0400000000000000" charset="-122"/>
                        </a:rPr>
                        <a:t>V3P-Probe-VWSS-01</a:t>
                      </a:r>
                      <a:endParaRPr sz="1050" b="1">
                        <a:solidFill>
                          <a:srgbClr val="2E6E9E"/>
                        </a:solidFill>
                        <a:latin typeface="PingFang SC Semibold" panose="020B0400000000000000" charset="-122"/>
                        <a:ea typeface="PingFang SC Semibold" panose="020B0400000000000000" charset="-122"/>
                      </a:endParaRPr>
                    </a:p>
                  </a:txBody>
                  <a:tcPr marL="76200" marR="76200" marT="38100" marB="38100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13040"/>
                          </a:solidFill>
                          <a:latin typeface="PingFang SC Semibold" panose="020B0400000000000000" charset="-122"/>
                          <a:ea typeface="PingFang SC Semibold" panose="020B0400000000000000" charset="-122"/>
                          <a:cs typeface="PingFang SC Semibold" panose="020B0400000000000000" charset="-122"/>
                        </a:rPr>
                        <a:t>vel_mag=0.074 &lt; 单目标 0.294</a:t>
                      </a:r>
                      <a:endParaRPr sz="1050" b="1">
                        <a:solidFill>
                          <a:srgbClr val="213040"/>
                        </a:solidFill>
                        <a:latin typeface="PingFang SC Semibold" panose="020B0400000000000000" charset="-122"/>
                        <a:ea typeface="PingFang SC Semibold" panose="020B0400000000000000" charset="-122"/>
                        <a:cs typeface="PingFang SC Semibold" panose="020B0400000000000000" charset="-122"/>
                      </a:endParaRPr>
                    </a:p>
                  </a:txBody>
                  <a:tcPr marL="76200" marR="76200" marT="38100" marB="38100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13040"/>
                          </a:solidFill>
                          <a:latin typeface="PingFang SC Semibold" panose="020B0400000000000000" charset="-122"/>
                          <a:ea typeface="PingFang SC Semibold" panose="020B0400000000000000" charset="-122"/>
                          <a:cs typeface="PingFang SC Semibold" panose="020B0400000000000000" charset="-122"/>
                        </a:rPr>
                        <a:t>wss=0.343 &lt; 单目标 0.397</a:t>
                      </a:r>
                      <a:endParaRPr sz="1050" b="1">
                        <a:solidFill>
                          <a:srgbClr val="213040"/>
                        </a:solidFill>
                        <a:latin typeface="PingFang SC Semibold" panose="020B0400000000000000" charset="-122"/>
                        <a:ea typeface="PingFang SC Semibold" panose="020B0400000000000000" charset="-122"/>
                        <a:cs typeface="PingFang SC Semibold" panose="020B0400000000000000" charset="-122"/>
                      </a:endParaRPr>
                    </a:p>
                  </a:txBody>
                  <a:tcPr marL="76200" marR="76200" marT="38100" marB="38100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13040"/>
                          </a:solidFill>
                          <a:latin typeface="PingFang SC Semibold" panose="020B0400000000000000" charset="-122"/>
                          <a:ea typeface="PingFang SC Semibold" panose="020B0400000000000000" charset="-122"/>
                          <a:cs typeface="PingFang SC Semibold" panose="020B0400000000000000" charset="-122"/>
                        </a:rPr>
                        <a:t>速度上下文反而压低 WSS</a:t>
                      </a:r>
                      <a:endParaRPr sz="1050" b="1">
                        <a:solidFill>
                          <a:srgbClr val="213040"/>
                        </a:solidFill>
                        <a:latin typeface="PingFang SC Semibold" panose="020B0400000000000000" charset="-122"/>
                        <a:ea typeface="PingFang SC Semibold" panose="020B0400000000000000" charset="-122"/>
                        <a:cs typeface="PingFang SC Semibold" panose="020B0400000000000000" charset="-122"/>
                      </a:endParaRPr>
                    </a:p>
                  </a:txBody>
                  <a:tcPr marL="76200" marR="76200" marT="38100" marB="38100" anchor="ctr">
                    <a:solidFill>
                      <a:srgbClr val="EAF1F8"/>
                    </a:solidFill>
                  </a:tcPr>
                </a:tc>
              </a:tr>
              <a:tr h="561975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E6E9E"/>
                          </a:solidFill>
                          <a:latin typeface="PingFang SC Semibold" panose="020B0400000000000000" charset="-122"/>
                          <a:ea typeface="PingFang SC Semibold" panose="020B0400000000000000" charset="-122"/>
                        </a:rPr>
                        <a:t>V3P-F-30a VelSup</a:t>
                      </a:r>
                      <a:endParaRPr sz="1050" b="1">
                        <a:solidFill>
                          <a:srgbClr val="2E6E9E"/>
                        </a:solidFill>
                        <a:latin typeface="PingFang SC Semibold" panose="020B0400000000000000" charset="-122"/>
                        <a:ea typeface="PingFang SC Semibold" panose="020B0400000000000000" charset="-122"/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13040"/>
                          </a:solidFill>
                          <a:latin typeface="PingFang SC Semibold" panose="020B0400000000000000" charset="-122"/>
                          <a:ea typeface="PingFang SC Semibold" panose="020B0400000000000000" charset="-122"/>
                          <a:cs typeface="PingFang SC Semibold" panose="020B0400000000000000" charset="-122"/>
                        </a:rPr>
                        <a:t>速度场改善，vel_mag≈0.57</a:t>
                      </a:r>
                      <a:endParaRPr sz="1050" b="1">
                        <a:solidFill>
                          <a:srgbClr val="213040"/>
                        </a:solidFill>
                        <a:latin typeface="PingFang SC Semibold" panose="020B0400000000000000" charset="-122"/>
                        <a:ea typeface="PingFang SC Semibold" panose="020B0400000000000000" charset="-122"/>
                        <a:cs typeface="PingFang SC Semibold" panose="020B0400000000000000" charset="-122"/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13040"/>
                          </a:solidFill>
                          <a:latin typeface="PingFang SC Semibold" panose="020B0400000000000000" charset="-122"/>
                          <a:ea typeface="PingFang SC Semibold" panose="020B0400000000000000" charset="-122"/>
                          <a:cs typeface="PingFang SC Semibold" panose="020B0400000000000000" charset="-122"/>
                        </a:rPr>
                        <a:t>best_wss=0.364 &lt; 4957 的 0.399</a:t>
                      </a:r>
                      <a:endParaRPr sz="1050" b="1">
                        <a:solidFill>
                          <a:srgbClr val="213040"/>
                        </a:solidFill>
                        <a:latin typeface="PingFang SC Semibold" panose="020B0400000000000000" charset="-122"/>
                        <a:ea typeface="PingFang SC Semibold" panose="020B0400000000000000" charset="-122"/>
                        <a:cs typeface="PingFang SC Semibold" panose="020B0400000000000000" charset="-122"/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13040"/>
                          </a:solidFill>
                          <a:latin typeface="PingFang SC Semibold" panose="020B0400000000000000" charset="-122"/>
                          <a:ea typeface="PingFang SC Semibold" panose="020B0400000000000000" charset="-122"/>
                          <a:cs typeface="PingFang SC Semibold" panose="020B0400000000000000" charset="-122"/>
                        </a:rPr>
                        <a:t>再证速度监督与 WSS 有 trade-off</a:t>
                      </a:r>
                      <a:endParaRPr sz="1050" b="1">
                        <a:solidFill>
                          <a:srgbClr val="213040"/>
                        </a:solidFill>
                        <a:latin typeface="PingFang SC Semibold" panose="020B0400000000000000" charset="-122"/>
                        <a:ea typeface="PingFang SC Semibold" panose="020B0400000000000000" charset="-122"/>
                        <a:cs typeface="PingFang SC Semibold" panose="020B0400000000000000" charset="-122"/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561975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E6E9E"/>
                          </a:solidFill>
                          <a:latin typeface="PingFang SC Semibold" panose="020B0400000000000000" charset="-122"/>
                          <a:ea typeface="PingFang SC Semibold" panose="020B0400000000000000" charset="-122"/>
                        </a:rPr>
                        <a:t>V3P-F-PCv2-BLContext</a:t>
                      </a:r>
                      <a:endParaRPr sz="1050" b="1">
                        <a:solidFill>
                          <a:srgbClr val="2E6E9E"/>
                        </a:solidFill>
                        <a:latin typeface="PingFang SC Semibold" panose="020B0400000000000000" charset="-122"/>
                        <a:ea typeface="PingFang SC Semibold" panose="020B0400000000000000" charset="-122"/>
                      </a:endParaRPr>
                    </a:p>
                  </a:txBody>
                  <a:tcPr marL="76200" marR="76200" marT="38100" marB="38100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13040"/>
                          </a:solidFill>
                          <a:latin typeface="PingFang SC Semibold" panose="020B0400000000000000" charset="-122"/>
                          <a:ea typeface="PingFang SC Semibold" panose="020B0400000000000000" charset="-122"/>
                          <a:cs typeface="PingFang SC Semibold" panose="020B0400000000000000" charset="-122"/>
                        </a:rPr>
                        <a:t>压力/近壁上下文增强</a:t>
                      </a:r>
                      <a:endParaRPr sz="1050" b="1">
                        <a:solidFill>
                          <a:srgbClr val="213040"/>
                        </a:solidFill>
                        <a:latin typeface="PingFang SC Semibold" panose="020B0400000000000000" charset="-122"/>
                        <a:ea typeface="PingFang SC Semibold" panose="020B0400000000000000" charset="-122"/>
                        <a:cs typeface="PingFang SC Semibold" panose="020B0400000000000000" charset="-122"/>
                      </a:endParaRPr>
                    </a:p>
                  </a:txBody>
                  <a:tcPr marL="76200" marR="76200" marT="38100" marB="38100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13040"/>
                          </a:solidFill>
                          <a:latin typeface="PingFang SC Semibold" panose="020B0400000000000000" charset="-122"/>
                          <a:ea typeface="PingFang SC Semibold" panose="020B0400000000000000" charset="-122"/>
                          <a:cs typeface="PingFang SC Semibold" panose="020B0400000000000000" charset="-122"/>
                        </a:rPr>
                        <a:t>点级仍≈0.40，未超 PGradFeat</a:t>
                      </a:r>
                      <a:endParaRPr sz="1050" b="1">
                        <a:solidFill>
                          <a:srgbClr val="213040"/>
                        </a:solidFill>
                        <a:latin typeface="PingFang SC Semibold" panose="020B0400000000000000" charset="-122"/>
                        <a:ea typeface="PingFang SC Semibold" panose="020B0400000000000000" charset="-122"/>
                        <a:cs typeface="PingFang SC Semibold" panose="020B0400000000000000" charset="-122"/>
                      </a:endParaRPr>
                    </a:p>
                  </a:txBody>
                  <a:tcPr marL="76200" marR="76200" marT="38100" marB="38100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13040"/>
                          </a:solidFill>
                          <a:latin typeface="PingFang SC Semibold" panose="020B0400000000000000" charset="-122"/>
                          <a:ea typeface="PingFang SC Semibold" panose="020B0400000000000000" charset="-122"/>
                        </a:rPr>
                        <a:t>近壁上下文有用但不足以突破</a:t>
                      </a:r>
                      <a:endParaRPr sz="1050" b="1">
                        <a:solidFill>
                          <a:srgbClr val="213040"/>
                        </a:solidFill>
                        <a:latin typeface="PingFang SC Semibold" panose="020B0400000000000000" charset="-122"/>
                        <a:ea typeface="PingFang SC Semibold" panose="020B0400000000000000" charset="-122"/>
                      </a:endParaRPr>
                    </a:p>
                  </a:txBody>
                  <a:tcPr marL="76200" marR="76200" marT="38100" marB="38100" anchor="ctr">
                    <a:solidFill>
                      <a:srgbClr val="EAF1F8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02920" y="6547104"/>
            <a:ext cx="7315200" cy="25603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A6B7B"/>
                </a:solidFill>
                <a:latin typeface="PingFang SC" panose="020B0400000000000000" charset="-122"/>
                <a:ea typeface="PingFang SC" panose="020B0400000000000000" charset="-122"/>
              </a:rPr>
              <a:t>脑血管 PINNs 点云论文 · 阅读与对照</a:t>
            </a:r>
            <a:endParaRPr sz="850" b="0">
              <a:solidFill>
                <a:srgbClr val="5A6B7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265615" y="6547104"/>
            <a:ext cx="2423160" cy="25603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A6B7B"/>
                </a:solidFill>
                <a:latin typeface="PingFang SC" panose="020B0400000000000000" charset="-122"/>
                <a:ea typeface="PingFang SC" panose="020B0400000000000000" charset="-122"/>
              </a:rPr>
              <a:t>2026-06-11  ·  科研汇报</a:t>
            </a:r>
            <a:endParaRPr sz="850" b="0">
              <a:solidFill>
                <a:srgbClr val="5A6B7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38100"/>
          </a:xfrm>
          <a:prstGeom prst="rect">
            <a:avLst/>
          </a:prstGeom>
          <a:solidFill>
            <a:srgbClr val="16A0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0584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6A0B8"/>
                </a:solidFill>
                <a:latin typeface="PingFang SC" panose="020B0400000000000000" charset="-122"/>
                <a:ea typeface="PingFang SC" panose="020B0400000000000000" charset="-122"/>
              </a:rPr>
              <a:t>05 · COMPARISON</a:t>
            </a:r>
            <a:endParaRPr sz="1150" b="1">
              <a:solidFill>
                <a:srgbClr val="16A0B8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0607040" cy="56692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</a:rPr>
              <a:t>最重要的对比结论 &amp; 指标口径</a:t>
            </a:r>
            <a:endParaRPr sz="23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1323015" y="310896"/>
            <a:ext cx="457200" cy="457200"/>
          </a:xfrm>
          <a:prstGeom prst="rect">
            <a:avLst/>
          </a:prstGeom>
          <a:solidFill>
            <a:srgbClr val="16A0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23015" y="310896"/>
            <a:ext cx="457200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</a:rPr>
              <a:t>15</a:t>
            </a:r>
            <a:endParaRPr sz="14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548640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0E2A47"/>
                </a:solidFill>
                <a:latin typeface="PingFang SC" panose="020B0400000000000000" charset="-122"/>
                <a:ea typeface="PingFang SC" panose="020B0400000000000000" charset="-122"/>
              </a:rPr>
              <a:t>四个关键判断</a:t>
            </a:r>
            <a:endParaRPr sz="1400" b="1">
              <a:solidFill>
                <a:srgbClr val="0E2A47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48640" y="1572768"/>
            <a:ext cx="5486400" cy="960120"/>
          </a:xfrm>
          <a:prstGeom prst="rect">
            <a:avLst/>
          </a:prstGeom>
          <a:solidFill>
            <a:srgbClr val="F6F9FC"/>
          </a:solidFill>
          <a:ln w="9525">
            <a:solidFill>
              <a:srgbClr val="D7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572768"/>
            <a:ext cx="50800" cy="960120"/>
          </a:xfrm>
          <a:prstGeom prst="rect">
            <a:avLst/>
          </a:prstGeom>
          <a:solidFill>
            <a:srgbClr val="16A0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645920"/>
            <a:ext cx="5212080" cy="4114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0E2A47"/>
                </a:solidFill>
                <a:latin typeface="PingFang SC" panose="020B0400000000000000" charset="-122"/>
                <a:ea typeface="PingFang SC" panose="020B0400000000000000" charset="-122"/>
              </a:rPr>
              <a:t>Q  我们没做过速度/压力，才需要看这篇论文？</a:t>
            </a:r>
            <a:endParaRPr sz="1150" b="1">
              <a:solidFill>
                <a:srgbClr val="0E2A47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13232" y="2029968"/>
            <a:ext cx="521208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213040"/>
                </a:solidFill>
                <a:latin typeface="PingFang SC" panose="020B0400000000000000" charset="-122"/>
                <a:ea typeface="PingFang SC" panose="020B0400000000000000" charset="-122"/>
              </a:rPr>
              <a:t>A  不是。V1 最早就是速度/压力场重建，含三 seed、区域与效率评估。</a:t>
            </a:r>
            <a:endParaRPr sz="1050" b="0">
              <a:solidFill>
                <a:srgbClr val="213040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48640" y="2651760"/>
            <a:ext cx="5486400" cy="960120"/>
          </a:xfrm>
          <a:prstGeom prst="rect">
            <a:avLst/>
          </a:prstGeom>
          <a:solidFill>
            <a:srgbClr val="F6F9FC"/>
          </a:solidFill>
          <a:ln w="9525">
            <a:solidFill>
              <a:srgbClr val="D7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2651760"/>
            <a:ext cx="50800" cy="960120"/>
          </a:xfrm>
          <a:prstGeom prst="rect">
            <a:avLst/>
          </a:prstGeom>
          <a:solidFill>
            <a:srgbClr val="16A0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2724912"/>
            <a:ext cx="5212080" cy="4114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0E2A47"/>
                </a:solidFill>
                <a:latin typeface="PingFang SC" panose="020B0400000000000000" charset="-122"/>
                <a:ea typeface="PingFang SC" panose="020B0400000000000000" charset="-122"/>
              </a:rPr>
              <a:t>Q  论文是否证明我们该回到速度/压力主线？</a:t>
            </a:r>
            <a:endParaRPr sz="1150" b="1">
              <a:solidFill>
                <a:srgbClr val="0E2A47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13232" y="3108960"/>
            <a:ext cx="521208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213040"/>
                </a:solidFill>
                <a:latin typeface="PingFang SC" panose="020B0400000000000000" charset="-122"/>
                <a:ea typeface="PingFang SC" panose="020B0400000000000000" charset="-122"/>
              </a:rPr>
              <a:t>A  不能。论文未报告 WSS；我们内部实验显示速度监督常压低 WSS。</a:t>
            </a:r>
            <a:endParaRPr sz="1050" b="0">
              <a:solidFill>
                <a:srgbClr val="213040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48640" y="3730752"/>
            <a:ext cx="5486400" cy="960120"/>
          </a:xfrm>
          <a:prstGeom prst="rect">
            <a:avLst/>
          </a:prstGeom>
          <a:solidFill>
            <a:srgbClr val="F6F9FC"/>
          </a:solidFill>
          <a:ln w="9525">
            <a:solidFill>
              <a:srgbClr val="D7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3730752"/>
            <a:ext cx="50800" cy="960120"/>
          </a:xfrm>
          <a:prstGeom prst="rect">
            <a:avLst/>
          </a:prstGeom>
          <a:solidFill>
            <a:srgbClr val="16A0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" y="3803904"/>
            <a:ext cx="5212080" cy="4114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0E2A47"/>
                </a:solidFill>
                <a:latin typeface="PingFang SC" panose="020B0400000000000000" charset="-122"/>
                <a:ea typeface="PingFang SC" panose="020B0400000000000000" charset="-122"/>
              </a:rPr>
              <a:t>Q  这篇论文最该借鉴什么？</a:t>
            </a:r>
            <a:endParaRPr sz="1150" b="1">
              <a:solidFill>
                <a:srgbClr val="0E2A47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13232" y="4187952"/>
            <a:ext cx="521208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213040"/>
                </a:solidFill>
                <a:latin typeface="PingFang SC" panose="020B0400000000000000" charset="-122"/>
                <a:ea typeface="PingFang SC" panose="020B0400000000000000" charset="-122"/>
              </a:rPr>
              <a:t>A  有限数据点云预处理 + PINNs 物理约束 + FR/PD 式临床 surrogate 叙事。</a:t>
            </a:r>
            <a:endParaRPr sz="1050" b="0">
              <a:solidFill>
                <a:srgbClr val="213040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48640" y="4809744"/>
            <a:ext cx="5486400" cy="960120"/>
          </a:xfrm>
          <a:prstGeom prst="rect">
            <a:avLst/>
          </a:prstGeom>
          <a:solidFill>
            <a:srgbClr val="F6F9FC"/>
          </a:solidFill>
          <a:ln w="9525">
            <a:solidFill>
              <a:srgbClr val="D7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4809744"/>
            <a:ext cx="50800" cy="960120"/>
          </a:xfrm>
          <a:prstGeom prst="rect">
            <a:avLst/>
          </a:prstGeom>
          <a:solidFill>
            <a:srgbClr val="16A0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3232" y="4882896"/>
            <a:ext cx="5212080" cy="4114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0E2A47"/>
                </a:solidFill>
                <a:latin typeface="PingFang SC" panose="020B0400000000000000" charset="-122"/>
                <a:ea typeface="PingFang SC" panose="020B0400000000000000" charset="-122"/>
              </a:rPr>
              <a:t>Q  我们当前最该坚持什么？</a:t>
            </a:r>
            <a:endParaRPr sz="1150" b="1">
              <a:solidFill>
                <a:srgbClr val="0E2A47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13232" y="5266944"/>
            <a:ext cx="521208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213040"/>
                </a:solidFill>
                <a:latin typeface="PingFang SC" panose="020B0400000000000000" charset="-122"/>
                <a:ea typeface="PingFang SC" panose="020B0400000000000000" charset="-122"/>
              </a:rPr>
              <a:t>A  继续 G4 壁面表示换轨 + I 系 oracle-first；物理约束作审计后候选。</a:t>
            </a:r>
            <a:endParaRPr sz="1050" b="0">
              <a:solidFill>
                <a:srgbClr val="213040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309360" y="1188720"/>
            <a:ext cx="548640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0E2A47"/>
                </a:solidFill>
                <a:latin typeface="PingFang SC" panose="020B0400000000000000" charset="-122"/>
                <a:ea typeface="PingFang SC" panose="020B0400000000000000" charset="-122"/>
              </a:rPr>
              <a:t>与 Liao 2025 的指标是否可直接比较</a:t>
            </a:r>
            <a:endParaRPr sz="1400" b="1">
              <a:solidFill>
                <a:srgbClr val="0E2A47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6309360" y="1572768"/>
          <a:ext cx="5349240" cy="33101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15618"/>
                <a:gridCol w="1426464"/>
                <a:gridCol w="2407158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对照目标</a:t>
                      </a:r>
                      <a:endParaRPr sz="1050" b="1">
                        <a:solidFill>
                          <a:srgbClr val="FFFFFF"/>
                        </a:solidFill>
                        <a:latin typeface="PingFang SC" panose="020B0400000000000000" charset="-122"/>
                        <a:ea typeface="PingFang SC" panose="020B0400000000000000" charset="-122"/>
                      </a:endParaRPr>
                    </a:p>
                  </a:txBody>
                  <a:tcPr marL="76200" marR="76200" marT="38100" marB="38100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Liao 报告</a:t>
                      </a:r>
                      <a:endParaRPr sz="1050" b="1">
                        <a:solidFill>
                          <a:srgbClr val="FFFFFF"/>
                        </a:solidFill>
                        <a:latin typeface="PingFang SC" panose="020B0400000000000000" charset="-122"/>
                        <a:ea typeface="PingFang SC" panose="020B0400000000000000" charset="-122"/>
                      </a:endParaRPr>
                    </a:p>
                  </a:txBody>
                  <a:tcPr marL="76200" marR="76200" marT="38100" marB="38100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可否直接比较</a:t>
                      </a:r>
                      <a:endParaRPr sz="1050" b="1">
                        <a:solidFill>
                          <a:srgbClr val="FFFFFF"/>
                        </a:solidFill>
                        <a:latin typeface="PingFang SC" panose="020B0400000000000000" charset="-122"/>
                        <a:ea typeface="PingFang SC" panose="020B0400000000000000" charset="-122"/>
                      </a:endParaRPr>
                    </a:p>
                  </a:txBody>
                  <a:tcPr marL="76200" marR="76200" marT="38100" marB="38100" anchor="ctr">
                    <a:solidFill>
                      <a:srgbClr val="1F4E79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E2A47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速度场</a:t>
                      </a:r>
                      <a:endParaRPr sz="1000" b="0">
                        <a:solidFill>
                          <a:srgbClr val="0E2A47"/>
                        </a:solidFill>
                        <a:latin typeface="PingFang SC" panose="020B0400000000000000" charset="-122"/>
                        <a:ea typeface="PingFang SC" panose="020B0400000000000000" charset="-122"/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1304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NMAE 7.79%</a:t>
                      </a:r>
                      <a:endParaRPr sz="1000" b="0">
                        <a:solidFill>
                          <a:srgbClr val="213040"/>
                        </a:solidFill>
                        <a:latin typeface="PingFang SC" panose="020B0400000000000000" charset="-122"/>
                        <a:ea typeface="PingFang SC" panose="020B0400000000000000" charset="-122"/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D63A3A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✗ NMAE vs z-score R²/RMSE</a:t>
                      </a:r>
                      <a:endParaRPr sz="1000" b="0">
                        <a:solidFill>
                          <a:srgbClr val="D63A3A"/>
                        </a:solidFill>
                        <a:latin typeface="PingFang SC" panose="020B0400000000000000" charset="-122"/>
                        <a:ea typeface="PingFang SC" panose="020B0400000000000000" charset="-122"/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E2A47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压力场</a:t>
                      </a:r>
                      <a:endParaRPr sz="1000" b="0">
                        <a:solidFill>
                          <a:srgbClr val="0E2A47"/>
                        </a:solidFill>
                        <a:latin typeface="PingFang SC" panose="020B0400000000000000" charset="-122"/>
                        <a:ea typeface="PingFang SC" panose="020B0400000000000000" charset="-122"/>
                      </a:endParaRPr>
                    </a:p>
                  </a:txBody>
                  <a:tcPr marL="76200" marR="76200" marT="38100" marB="38100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1304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NMAE 6.63%</a:t>
                      </a:r>
                      <a:endParaRPr sz="1000" b="0">
                        <a:solidFill>
                          <a:srgbClr val="213040"/>
                        </a:solidFill>
                        <a:latin typeface="PingFang SC" panose="020B0400000000000000" charset="-122"/>
                        <a:ea typeface="PingFang SC" panose="020B0400000000000000" charset="-122"/>
                      </a:endParaRPr>
                    </a:p>
                  </a:txBody>
                  <a:tcPr marL="76200" marR="76200" marT="38100" marB="38100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D63A3A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✗ 仅可做指标类别对照</a:t>
                      </a:r>
                      <a:endParaRPr sz="1000" b="0">
                        <a:solidFill>
                          <a:srgbClr val="D63A3A"/>
                        </a:solidFill>
                        <a:latin typeface="PingFang SC" panose="020B0400000000000000" charset="-122"/>
                        <a:ea typeface="PingFang SC" panose="020B0400000000000000" charset="-122"/>
                      </a:endParaRPr>
                    </a:p>
                  </a:txBody>
                  <a:tcPr marL="76200" marR="76200" marT="38100" marB="38100" anchor="ctr">
                    <a:solidFill>
                      <a:srgbClr val="EAF1F8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E2A47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WSS</a:t>
                      </a:r>
                      <a:endParaRPr sz="1000" b="0">
                        <a:solidFill>
                          <a:srgbClr val="0E2A47"/>
                        </a:solidFill>
                        <a:latin typeface="PingFang SC" panose="020B0400000000000000" charset="-122"/>
                        <a:ea typeface="PingFang SC" panose="020B0400000000000000" charset="-122"/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1304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未直接报告</a:t>
                      </a:r>
                      <a:endParaRPr sz="1000" b="0">
                        <a:solidFill>
                          <a:srgbClr val="213040"/>
                        </a:solidFill>
                        <a:latin typeface="PingFang SC" panose="020B0400000000000000" charset="-122"/>
                        <a:ea typeface="PingFang SC" panose="020B0400000000000000" charset="-122"/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D63A3A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★ 我们的核心差异点</a:t>
                      </a:r>
                      <a:endParaRPr sz="1000" b="0">
                        <a:solidFill>
                          <a:srgbClr val="D63A3A"/>
                        </a:solidFill>
                        <a:latin typeface="PingFang SC" panose="020B0400000000000000" charset="-122"/>
                        <a:ea typeface="PingFang SC" panose="020B0400000000000000" charset="-122"/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E2A47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临床 surrogate</a:t>
                      </a:r>
                      <a:endParaRPr sz="1000" b="0">
                        <a:solidFill>
                          <a:srgbClr val="0E2A47"/>
                        </a:solidFill>
                        <a:latin typeface="PingFang SC" panose="020B0400000000000000" charset="-122"/>
                        <a:ea typeface="PingFang SC" panose="020B0400000000000000" charset="-122"/>
                      </a:endParaRPr>
                    </a:p>
                  </a:txBody>
                  <a:tcPr marL="76200" marR="76200" marT="38100" marB="38100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1304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FR/PD R²</a:t>
                      </a:r>
                      <a:endParaRPr sz="1000" b="0">
                        <a:solidFill>
                          <a:srgbClr val="213040"/>
                        </a:solidFill>
                        <a:latin typeface="PingFang SC" panose="020B0400000000000000" charset="-122"/>
                        <a:ea typeface="PingFang SC" panose="020B0400000000000000" charset="-122"/>
                      </a:endParaRPr>
                    </a:p>
                  </a:txBody>
                  <a:tcPr marL="76200" marR="76200" marT="38100" marB="38100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D63A3A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△ 叙事类比，不硬比数值</a:t>
                      </a:r>
                      <a:endParaRPr sz="1000" b="0">
                        <a:solidFill>
                          <a:srgbClr val="D63A3A"/>
                        </a:solidFill>
                        <a:latin typeface="PingFang SC" panose="020B0400000000000000" charset="-122"/>
                        <a:ea typeface="PingFang SC" panose="020B0400000000000000" charset="-122"/>
                      </a:endParaRPr>
                    </a:p>
                  </a:txBody>
                  <a:tcPr marL="76200" marR="76200" marT="38100" marB="38100" anchor="ctr">
                    <a:solidFill>
                      <a:srgbClr val="EAF1F8"/>
                    </a:solidFill>
                  </a:tcPr>
                </a:tc>
              </a:tr>
            </a:tbl>
          </a:graphicData>
        </a:graphic>
      </p:graphicFrame>
      <p:sp>
        <p:nvSpPr>
          <p:cNvPr id="27" name="Rectangle 26"/>
          <p:cNvSpPr/>
          <p:nvPr/>
        </p:nvSpPr>
        <p:spPr>
          <a:xfrm>
            <a:off x="6309360" y="4754880"/>
            <a:ext cx="5349240" cy="155448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0" y="4864608"/>
            <a:ext cx="5029200" cy="13716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1">
                <a:solidFill>
                  <a:srgbClr val="9EE8F4"/>
                </a:solidFill>
                <a:latin typeface="PingFang SC" panose="020B0400000000000000" charset="-122"/>
                <a:ea typeface="PingFang SC" panose="020B0400000000000000" charset="-122"/>
              </a:rPr>
              <a:t>汇报口径建议（三层报告）</a:t>
            </a:r>
            <a:endParaRPr sz="1250" b="1">
              <a:solidFill>
                <a:srgbClr val="9EE8F4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</a:rPr>
              <a:t>① 误差：RMSE / MAE（与原变量同量纲）</a:t>
            </a:r>
            <a:endParaRPr sz="1100" b="0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</a:rPr>
              <a:t>② 拟合度：R²（速度 / 压力 / WSS 分量）</a:t>
            </a:r>
            <a:endParaRPr sz="1100" b="0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</a:rPr>
              <a:t>③ 区域 / 临床 surrogate：Pa p95、top-k 高 WSS</a:t>
            </a:r>
            <a:endParaRPr sz="1100" b="0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0">
                <a:solidFill>
                  <a:srgbClr val="C2D3E0"/>
                </a:solidFill>
                <a:latin typeface="PingFang SC" panose="020B0400000000000000" charset="-122"/>
                <a:ea typeface="PingFang SC" panose="020B0400000000000000" charset="-122"/>
              </a:rPr>
              <a:t>注：表中是 RMSE 非 raw MSE，口头勿混称「均方误差」</a:t>
            </a:r>
            <a:endParaRPr sz="950" b="0">
              <a:solidFill>
                <a:srgbClr val="C2D3E0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02920" y="6547104"/>
            <a:ext cx="7315200" cy="25603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A6B7B"/>
                </a:solidFill>
                <a:latin typeface="PingFang SC" panose="020B0400000000000000" charset="-122"/>
                <a:ea typeface="PingFang SC" panose="020B0400000000000000" charset="-122"/>
              </a:rPr>
              <a:t>脑血管 PINNs 点云论文 · 阅读与对照</a:t>
            </a:r>
            <a:endParaRPr sz="850" b="0">
              <a:solidFill>
                <a:srgbClr val="5A6B7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9265615" y="6547104"/>
            <a:ext cx="2423160" cy="25603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A6B7B"/>
                </a:solidFill>
                <a:latin typeface="PingFang SC" panose="020B0400000000000000" charset="-122"/>
                <a:ea typeface="PingFang SC" panose="020B0400000000000000" charset="-122"/>
              </a:rPr>
              <a:t>2026-06-11  ·  科研汇报</a:t>
            </a:r>
            <a:endParaRPr sz="850" b="0">
              <a:solidFill>
                <a:srgbClr val="5A6B7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38100"/>
          </a:xfrm>
          <a:prstGeom prst="rect">
            <a:avLst/>
          </a:prstGeom>
          <a:solidFill>
            <a:srgbClr val="16A0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0584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6A0B8"/>
                </a:solidFill>
                <a:latin typeface="PingFang SC" panose="020B0400000000000000" charset="-122"/>
                <a:ea typeface="PingFang SC" panose="020B0400000000000000" charset="-122"/>
              </a:rPr>
              <a:t>06 · TAKEAWAYS</a:t>
            </a:r>
            <a:endParaRPr sz="1150" b="1">
              <a:solidFill>
                <a:srgbClr val="16A0B8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0607040" cy="56692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</a:rPr>
              <a:t>对我们有用的四点启发</a:t>
            </a:r>
            <a:endParaRPr sz="23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1323015" y="310896"/>
            <a:ext cx="457200" cy="457200"/>
          </a:xfrm>
          <a:prstGeom prst="rect">
            <a:avLst/>
          </a:prstGeom>
          <a:solidFill>
            <a:srgbClr val="16A0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23015" y="310896"/>
            <a:ext cx="457200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</a:rPr>
              <a:t>16</a:t>
            </a:r>
            <a:endParaRPr sz="14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48640" y="1371600"/>
            <a:ext cx="5440680" cy="2121408"/>
          </a:xfrm>
          <a:prstGeom prst="rect">
            <a:avLst/>
          </a:prstGeom>
          <a:solidFill>
            <a:srgbClr val="F6F9FC"/>
          </a:solidFill>
          <a:ln w="9525">
            <a:solidFill>
              <a:srgbClr val="D7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371600"/>
            <a:ext cx="5440680" cy="548640"/>
          </a:xfrm>
          <a:prstGeom prst="rect">
            <a:avLst/>
          </a:prstGeom>
          <a:solidFill>
            <a:srgbClr val="16A0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371600"/>
            <a:ext cx="5120640" cy="5486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</a:rPr>
              <a:t>①  物理约束 = 直接约束输出场</a:t>
            </a:r>
            <a:endParaRPr sz="14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2057400"/>
            <a:ext cx="4983480" cy="13716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13040"/>
                </a:solidFill>
                <a:latin typeface="PingFang SC" panose="020B0400000000000000" charset="-122"/>
                <a:ea typeface="PingFang SC" panose="020B0400000000000000" charset="-122"/>
              </a:rPr>
              <a:t>PINNs 不是把物理量 concat 到输入，而是让预测场满足连续性 / 动量方程 + no-slip。对我们 I18 PDE 残差、G2 物理残差、G4 壁面算子有参考价值。</a:t>
            </a:r>
            <a:endParaRPr sz="1200" b="0">
              <a:solidFill>
                <a:srgbClr val="213040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199631" y="1371600"/>
            <a:ext cx="5440680" cy="2121408"/>
          </a:xfrm>
          <a:prstGeom prst="rect">
            <a:avLst/>
          </a:prstGeom>
          <a:solidFill>
            <a:srgbClr val="F6F9FC"/>
          </a:solidFill>
          <a:ln w="9525">
            <a:solidFill>
              <a:srgbClr val="D7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99631" y="1371600"/>
            <a:ext cx="5440680" cy="548640"/>
          </a:xfrm>
          <a:prstGeom prst="rect">
            <a:avLst/>
          </a:prstGeom>
          <a:solidFill>
            <a:srgbClr val="2E6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82511" y="1371600"/>
            <a:ext cx="5120640" cy="5486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</a:rPr>
              <a:t>②  点云均匀性是可记录变量</a:t>
            </a:r>
            <a:endParaRPr sz="14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28231" y="2057400"/>
            <a:ext cx="4983480" cy="13716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13040"/>
                </a:solidFill>
                <a:latin typeface="PingFang SC" panose="020B0400000000000000" charset="-122"/>
                <a:ea typeface="PingFang SC" panose="020B0400000000000000" charset="-122"/>
              </a:rPr>
              <a:t>论文没有只换模型，而是强调预处理。建议补统计：每 case 壁面/近壁/内点数、采样后高 WSS top-k 覆盖率、(s,θ) occupancy、2D↔3D 反映射峰值是否被平滑。</a:t>
            </a:r>
            <a:endParaRPr sz="1200" b="0">
              <a:solidFill>
                <a:srgbClr val="213040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548640" y="3703320"/>
            <a:ext cx="5440680" cy="2121408"/>
          </a:xfrm>
          <a:prstGeom prst="rect">
            <a:avLst/>
          </a:prstGeom>
          <a:solidFill>
            <a:srgbClr val="F6F9FC"/>
          </a:solidFill>
          <a:ln w="9525">
            <a:solidFill>
              <a:srgbClr val="D7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3703320"/>
            <a:ext cx="5440680" cy="5486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703320"/>
            <a:ext cx="5120640" cy="5486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</a:rPr>
              <a:t>③  支持「病例级 / 临床指标」叙事</a:t>
            </a:r>
            <a:endParaRPr sz="14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77240" y="4389120"/>
            <a:ext cx="4983480" cy="13716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13040"/>
                </a:solidFill>
                <a:latin typeface="PingFang SC" panose="020B0400000000000000" charset="-122"/>
                <a:ea typeface="PingFang SC" panose="020B0400000000000000" charset="-122"/>
              </a:rPr>
              <a:t>论文不止步点级 NMAE，还算 FR/PD 与 CFD 一致。与我们 G5 病例级 Pa p95、区域 surrogate 一致：点级不完美，仍能稳定捕捉高风险区。</a:t>
            </a:r>
            <a:endParaRPr sz="1200" b="0">
              <a:solidFill>
                <a:srgbClr val="213040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6199631" y="3703320"/>
            <a:ext cx="5440680" cy="2121408"/>
          </a:xfrm>
          <a:prstGeom prst="rect">
            <a:avLst/>
          </a:prstGeom>
          <a:solidFill>
            <a:srgbClr val="F6F9FC"/>
          </a:solidFill>
          <a:ln w="9525">
            <a:solidFill>
              <a:srgbClr val="D7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99631" y="3703320"/>
            <a:ext cx="5440680" cy="54864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82511" y="3703320"/>
            <a:ext cx="5120640" cy="5486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</a:rPr>
              <a:t>④  间接支持 G4 2D 壁面换轨</a:t>
            </a:r>
            <a:endParaRPr sz="14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428231" y="4389120"/>
            <a:ext cx="4983480" cy="13716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13040"/>
                </a:solidFill>
                <a:latin typeface="PingFang SC" panose="020B0400000000000000" charset="-122"/>
                <a:ea typeface="PingFang SC" panose="020B0400000000000000" charset="-122"/>
              </a:rPr>
              <a:t>论文用均匀化说明：数据表示显著影响训练稳定性。我们 G4 逻辑——WSS 是壁面场，在 (s,θ) 域更低秩，F0 POD 0.672 证 target-side 天花板更高。</a:t>
            </a:r>
            <a:endParaRPr sz="1200" b="0">
              <a:solidFill>
                <a:srgbClr val="213040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02920" y="6547104"/>
            <a:ext cx="7315200" cy="25603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A6B7B"/>
                </a:solidFill>
                <a:latin typeface="PingFang SC" panose="020B0400000000000000" charset="-122"/>
                <a:ea typeface="PingFang SC" panose="020B0400000000000000" charset="-122"/>
              </a:rPr>
              <a:t>脑血管 PINNs 点云论文 · 阅读与对照</a:t>
            </a:r>
            <a:endParaRPr sz="850" b="0">
              <a:solidFill>
                <a:srgbClr val="5A6B7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9265615" y="6547104"/>
            <a:ext cx="2423160" cy="25603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A6B7B"/>
                </a:solidFill>
                <a:latin typeface="PingFang SC" panose="020B0400000000000000" charset="-122"/>
                <a:ea typeface="PingFang SC" panose="020B0400000000000000" charset="-122"/>
              </a:rPr>
              <a:t>2026-06-11  ·  科研汇报</a:t>
            </a:r>
            <a:endParaRPr sz="850" b="0">
              <a:solidFill>
                <a:srgbClr val="5A6B7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38100"/>
          </a:xfrm>
          <a:prstGeom prst="rect">
            <a:avLst/>
          </a:prstGeom>
          <a:solidFill>
            <a:srgbClr val="16A0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0584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6A0B8"/>
                </a:solidFill>
                <a:latin typeface="PingFang SC" panose="020B0400000000000000" charset="-122"/>
                <a:ea typeface="PingFang SC" panose="020B0400000000000000" charset="-122"/>
              </a:rPr>
              <a:t>06 · TAKEAWAYS</a:t>
            </a:r>
            <a:endParaRPr sz="1150" b="1">
              <a:solidFill>
                <a:srgbClr val="16A0B8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0607040" cy="56692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</a:rPr>
              <a:t>不能从论文直接搬过来的三点</a:t>
            </a:r>
            <a:endParaRPr sz="23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1323015" y="310896"/>
            <a:ext cx="457200" cy="457200"/>
          </a:xfrm>
          <a:prstGeom prst="rect">
            <a:avLst/>
          </a:prstGeom>
          <a:solidFill>
            <a:srgbClr val="16A0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23015" y="310896"/>
            <a:ext cx="457200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</a:rPr>
              <a:t>17</a:t>
            </a:r>
            <a:endParaRPr sz="14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48640" y="1371600"/>
            <a:ext cx="11091672" cy="1417320"/>
          </a:xfrm>
          <a:prstGeom prst="rect">
            <a:avLst/>
          </a:prstGeom>
          <a:solidFill>
            <a:srgbClr val="FDF1F1"/>
          </a:solidFill>
          <a:ln w="9525">
            <a:solidFill>
              <a:srgbClr val="E9C4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371600"/>
            <a:ext cx="640080" cy="1417320"/>
          </a:xfrm>
          <a:prstGeom prst="rect">
            <a:avLst/>
          </a:prstGeom>
          <a:solidFill>
            <a:srgbClr val="D6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371600"/>
            <a:ext cx="640080" cy="14173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</a:rPr>
              <a:t>✗</a:t>
            </a:r>
            <a:endParaRPr sz="26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371600" y="1481328"/>
            <a:ext cx="1005840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D63A3A"/>
                </a:solidFill>
                <a:latin typeface="PingFang SC" panose="020B0400000000000000" charset="-122"/>
                <a:ea typeface="PingFang SC" panose="020B0400000000000000" charset="-122"/>
              </a:rPr>
              <a:t>1．不能把 NMAE 直接对标我们的 WSS R²</a:t>
            </a:r>
            <a:endParaRPr sz="1400" b="1">
              <a:solidFill>
                <a:srgbClr val="D63A3A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371600" y="1874520"/>
            <a:ext cx="10149840" cy="8229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213040"/>
                </a:solidFill>
                <a:latin typeface="PingFang SC" panose="020B0400000000000000" charset="-122"/>
                <a:ea typeface="PingFang SC" panose="020B0400000000000000" charset="-122"/>
              </a:rPr>
              <a:t>7.79% velocity / 6.63% pressure NMAE 是速度/压力指标，不是 WSS。</a:t>
            </a:r>
            <a:endParaRPr sz="1150" b="0">
              <a:solidFill>
                <a:srgbClr val="213040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E2A47"/>
                </a:solidFill>
                <a:latin typeface="PingFang SC" panose="020B0400000000000000" charset="-122"/>
                <a:ea typeface="PingFang SC" panose="020B0400000000000000" charset="-122"/>
              </a:rPr>
              <a:t>WSS = μ · ∂uₜ/∂n |wall，比速度本身更高频、更敏感；场像 CFD ≠ WSS 点级准。</a:t>
            </a:r>
            <a:endParaRPr sz="1150" b="0">
              <a:solidFill>
                <a:srgbClr val="0E2A47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48640" y="2944368"/>
            <a:ext cx="11091672" cy="1417320"/>
          </a:xfrm>
          <a:prstGeom prst="rect">
            <a:avLst/>
          </a:prstGeom>
          <a:solidFill>
            <a:srgbClr val="FDF1F1"/>
          </a:solidFill>
          <a:ln w="9525">
            <a:solidFill>
              <a:srgbClr val="E9C4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2944368"/>
            <a:ext cx="640080" cy="1417320"/>
          </a:xfrm>
          <a:prstGeom prst="rect">
            <a:avLst/>
          </a:prstGeom>
          <a:solidFill>
            <a:srgbClr val="D6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944368"/>
            <a:ext cx="640080" cy="14173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</a:rPr>
              <a:t>✗</a:t>
            </a:r>
            <a:endParaRPr sz="26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371600" y="3054096"/>
            <a:ext cx="1005840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D63A3A"/>
                </a:solidFill>
                <a:latin typeface="PingFang SC" panose="020B0400000000000000" charset="-122"/>
                <a:ea typeface="PingFang SC" panose="020B0400000000000000" charset="-122"/>
              </a:rPr>
              <a:t>2．不能简单照搬「均匀重采样」</a:t>
            </a:r>
            <a:endParaRPr sz="1400" b="1">
              <a:solidFill>
                <a:srgbClr val="D63A3A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371600" y="3447288"/>
            <a:ext cx="10149840" cy="8229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213040"/>
                </a:solidFill>
                <a:latin typeface="PingFang SC" panose="020B0400000000000000" charset="-122"/>
                <a:ea typeface="PingFang SC" panose="020B0400000000000000" charset="-122"/>
              </a:rPr>
              <a:t>对速度/压力或许有助；对 WSS，壁面与近壁梯度才是关键信息。</a:t>
            </a:r>
            <a:endParaRPr sz="1150" b="0">
              <a:solidFill>
                <a:srgbClr val="213040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E2A47"/>
                </a:solidFill>
                <a:latin typeface="PingFang SC" panose="020B0400000000000000" charset="-122"/>
                <a:ea typeface="PingFang SC" panose="020B0400000000000000" charset="-122"/>
              </a:rPr>
              <a:t>过度均匀化会稀释壁面点、平滑高 WSS 峰、损边界层、降热点定位。借鉴须单独查 top-k 与近壁梯度保真。</a:t>
            </a:r>
            <a:endParaRPr sz="1150" b="0">
              <a:solidFill>
                <a:srgbClr val="0E2A47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48640" y="4517136"/>
            <a:ext cx="11091672" cy="1417320"/>
          </a:xfrm>
          <a:prstGeom prst="rect">
            <a:avLst/>
          </a:prstGeom>
          <a:solidFill>
            <a:srgbClr val="FDF1F1"/>
          </a:solidFill>
          <a:ln w="9525">
            <a:solidFill>
              <a:srgbClr val="E9C4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4517136"/>
            <a:ext cx="640080" cy="1417320"/>
          </a:xfrm>
          <a:prstGeom prst="rect">
            <a:avLst/>
          </a:prstGeom>
          <a:solidFill>
            <a:srgbClr val="D6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517136"/>
            <a:ext cx="640080" cy="14173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</a:rPr>
              <a:t>✗</a:t>
            </a:r>
            <a:endParaRPr sz="26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371600" y="4626864"/>
            <a:ext cx="1005840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D63A3A"/>
                </a:solidFill>
                <a:latin typeface="PingFang SC" panose="020B0400000000000000" charset="-122"/>
                <a:ea typeface="PingFang SC" panose="020B0400000000000000" charset="-122"/>
              </a:rPr>
              <a:t>3．不能直接把 PINNs loss 加到现有 WSS head</a:t>
            </a:r>
            <a:endParaRPr sz="1400" b="1">
              <a:solidFill>
                <a:srgbClr val="D63A3A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371600" y="5020056"/>
            <a:ext cx="10149840" cy="8229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213040"/>
                </a:solidFill>
                <a:latin typeface="PingFang SC" panose="020B0400000000000000" charset="-122"/>
                <a:ea typeface="PingFang SC" panose="020B0400000000000000" charset="-122"/>
              </a:rPr>
              <a:t>论文 PINNs 对 Vx/Vy/Vz/P 求导算 N-S 残差；我们只预测 WSS 时无完整速度场，套不了同样 PDE loss。</a:t>
            </a:r>
            <a:endParaRPr sz="1150" b="0">
              <a:solidFill>
                <a:srgbClr val="213040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E2A47"/>
                </a:solidFill>
                <a:latin typeface="PingFang SC" panose="020B0400000000000000" charset="-122"/>
                <a:ea typeface="PingFang SC" panose="020B0400000000000000" charset="-122"/>
              </a:rPr>
              <a:t>可行：先预测速度/压力再由算子得 WSS；或 G4 壁面局部物理一致性；或残差学习只学物理基线不能解释的部分。</a:t>
            </a:r>
            <a:endParaRPr sz="1150" b="0">
              <a:solidFill>
                <a:srgbClr val="0E2A47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02920" y="6547104"/>
            <a:ext cx="7315200" cy="25603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A6B7B"/>
                </a:solidFill>
                <a:latin typeface="PingFang SC" panose="020B0400000000000000" charset="-122"/>
                <a:ea typeface="PingFang SC" panose="020B0400000000000000" charset="-122"/>
              </a:rPr>
              <a:t>脑血管 PINNs 点云论文 · 阅读与对照</a:t>
            </a:r>
            <a:endParaRPr sz="850" b="0">
              <a:solidFill>
                <a:srgbClr val="5A6B7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9265615" y="6547104"/>
            <a:ext cx="2423160" cy="25603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A6B7B"/>
                </a:solidFill>
                <a:latin typeface="PingFang SC" panose="020B0400000000000000" charset="-122"/>
                <a:ea typeface="PingFang SC" panose="020B0400000000000000" charset="-122"/>
              </a:rPr>
              <a:t>2026-06-11  ·  科研汇报</a:t>
            </a:r>
            <a:endParaRPr sz="850" b="0">
              <a:solidFill>
                <a:srgbClr val="5A6B7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38100"/>
          </a:xfrm>
          <a:prstGeom prst="rect">
            <a:avLst/>
          </a:prstGeom>
          <a:solidFill>
            <a:srgbClr val="16A0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0584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6A0B8"/>
                </a:solidFill>
                <a:latin typeface="PingFang SC" panose="020B0400000000000000" charset="-122"/>
                <a:ea typeface="PingFang SC" panose="020B0400000000000000" charset="-122"/>
              </a:rPr>
              <a:t>07 · QUESTIONS</a:t>
            </a:r>
            <a:endParaRPr sz="1150" b="1">
              <a:solidFill>
                <a:srgbClr val="16A0B8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459677"/>
            <a:ext cx="10607040" cy="379095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</a:rPr>
              <a:t>问题清单（一）</a:t>
            </a:r>
            <a:endParaRPr sz="23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1323015" y="310896"/>
            <a:ext cx="457200" cy="457200"/>
          </a:xfrm>
          <a:prstGeom prst="rect">
            <a:avLst/>
          </a:prstGeom>
          <a:solidFill>
            <a:srgbClr val="16A0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23015" y="310896"/>
            <a:ext cx="457200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</a:rPr>
              <a:t>18</a:t>
            </a:r>
            <a:endParaRPr sz="14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" y="1170432"/>
            <a:ext cx="1097280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A6B7B"/>
                </a:solidFill>
                <a:latin typeface="PingFang SC" panose="020B0400000000000000" charset="-122"/>
                <a:ea typeface="PingFang SC" panose="020B0400000000000000" charset="-122"/>
              </a:rPr>
              <a:t>聚焦 WSS、物理残差、采样与训练稳定性 —— 这些正是我们当前瓶颈最相关的追问点。</a:t>
            </a:r>
            <a:endParaRPr sz="1200" b="0">
              <a:solidFill>
                <a:srgbClr val="5A6B7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48640" y="1627632"/>
            <a:ext cx="5440680" cy="1261872"/>
          </a:xfrm>
          <a:prstGeom prst="rect">
            <a:avLst/>
          </a:prstGeom>
          <a:solidFill>
            <a:srgbClr val="F6F9FC"/>
          </a:solidFill>
          <a:ln w="9525">
            <a:solidFill>
              <a:srgbClr val="D7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37360"/>
            <a:ext cx="457200" cy="457200"/>
          </a:xfrm>
          <a:prstGeom prst="rect">
            <a:avLst/>
          </a:prstGeom>
          <a:solidFill>
            <a:srgbClr val="16A0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737360"/>
            <a:ext cx="457200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</a:rPr>
              <a:t>1</a:t>
            </a:r>
            <a:endParaRPr sz="16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234440" y="1719072"/>
            <a:ext cx="4617720" cy="4114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0E2A47"/>
                </a:solidFill>
                <a:latin typeface="PingFang SC" panose="020B0400000000000000" charset="-122"/>
                <a:ea typeface="PingFang SC" panose="020B0400000000000000" charset="-122"/>
              </a:rPr>
              <a:t>WSS / OSI 是否评估过？</a:t>
            </a:r>
            <a:endParaRPr sz="1250" b="1">
              <a:solidFill>
                <a:srgbClr val="0E2A47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234440" y="2103120"/>
            <a:ext cx="4663440" cy="7315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213040"/>
                </a:solidFill>
                <a:latin typeface="PingFang SC" panose="020B0400000000000000" charset="-122"/>
                <a:ea typeface="PingFang SC" panose="020B0400000000000000" charset="-122"/>
              </a:rPr>
              <a:t>论文有没有从预测速度场进一步计算 WSS？误差与速度/压力相比如何？速度 NMAE 低能否保证 WSS 也低？</a:t>
            </a:r>
            <a:endParaRPr sz="1000" b="0">
              <a:solidFill>
                <a:srgbClr val="213040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199631" y="1627632"/>
            <a:ext cx="5440680" cy="1261872"/>
          </a:xfrm>
          <a:prstGeom prst="rect">
            <a:avLst/>
          </a:prstGeom>
          <a:solidFill>
            <a:srgbClr val="F6F9FC"/>
          </a:solidFill>
          <a:ln w="9525">
            <a:solidFill>
              <a:srgbClr val="D7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59" y="1737360"/>
            <a:ext cx="457200" cy="457200"/>
          </a:xfrm>
          <a:prstGeom prst="rect">
            <a:avLst/>
          </a:prstGeom>
          <a:solidFill>
            <a:srgbClr val="16A0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59" y="1737360"/>
            <a:ext cx="457200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</a:rPr>
              <a:t>2</a:t>
            </a:r>
            <a:endParaRPr sz="16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885431" y="1719072"/>
            <a:ext cx="4617720" cy="4114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0E2A47"/>
                </a:solidFill>
                <a:latin typeface="PingFang SC" panose="020B0400000000000000" charset="-122"/>
                <a:ea typeface="PingFang SC" panose="020B0400000000000000" charset="-122"/>
              </a:rPr>
              <a:t>重采样后壁面点如何保留？</a:t>
            </a:r>
            <a:endParaRPr sz="1250" b="1">
              <a:solidFill>
                <a:srgbClr val="0E2A47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885431" y="2103120"/>
            <a:ext cx="4663440" cy="7315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213040"/>
                </a:solidFill>
                <a:latin typeface="PingFang SC" panose="020B0400000000000000" charset="-122"/>
                <a:ea typeface="PingFang SC" panose="020B0400000000000000" charset="-122"/>
              </a:rPr>
              <a:t>10,000 点后 wall mask 怎么确定？voxel 内随机点落在壁面附近时如何保证标注正确？</a:t>
            </a:r>
            <a:endParaRPr sz="1000" b="0">
              <a:solidFill>
                <a:srgbClr val="213040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548640" y="3044952"/>
            <a:ext cx="5440680" cy="1261872"/>
          </a:xfrm>
          <a:prstGeom prst="rect">
            <a:avLst/>
          </a:prstGeom>
          <a:solidFill>
            <a:srgbClr val="F6F9FC"/>
          </a:solidFill>
          <a:ln w="9525">
            <a:solidFill>
              <a:srgbClr val="D7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" y="3154680"/>
            <a:ext cx="457200" cy="457200"/>
          </a:xfrm>
          <a:prstGeom prst="rect">
            <a:avLst/>
          </a:prstGeom>
          <a:solidFill>
            <a:srgbClr val="16A0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3154680"/>
            <a:ext cx="457200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</a:rPr>
              <a:t>3</a:t>
            </a:r>
            <a:endParaRPr sz="16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234440" y="3136392"/>
            <a:ext cx="4617720" cy="4114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0E2A47"/>
                </a:solidFill>
                <a:latin typeface="PingFang SC" panose="020B0400000000000000" charset="-122"/>
                <a:ea typeface="PingFang SC" panose="020B0400000000000000" charset="-122"/>
              </a:rPr>
              <a:t>voxel 插值是否平滑高 WSS 区？</a:t>
            </a:r>
            <a:endParaRPr sz="1250" b="1">
              <a:solidFill>
                <a:srgbClr val="0E2A47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234440" y="3520440"/>
            <a:ext cx="4663440" cy="7315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213040"/>
                </a:solidFill>
                <a:latin typeface="PingFang SC" panose="020B0400000000000000" charset="-122"/>
                <a:ea typeface="PingFang SC" panose="020B0400000000000000" charset="-122"/>
              </a:rPr>
              <a:t>对 WSS 这种壁面梯度量，距离加权插值是否会系统性平滑峰值与热点？</a:t>
            </a:r>
            <a:endParaRPr sz="1000" b="0">
              <a:solidFill>
                <a:srgbClr val="213040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6199631" y="3044952"/>
            <a:ext cx="5440680" cy="1261872"/>
          </a:xfrm>
          <a:prstGeom prst="rect">
            <a:avLst/>
          </a:prstGeom>
          <a:solidFill>
            <a:srgbClr val="F6F9FC"/>
          </a:solidFill>
          <a:ln w="9525">
            <a:solidFill>
              <a:srgbClr val="D7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09359" y="3154680"/>
            <a:ext cx="457200" cy="457200"/>
          </a:xfrm>
          <a:prstGeom prst="rect">
            <a:avLst/>
          </a:prstGeom>
          <a:solidFill>
            <a:srgbClr val="16A0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59" y="3154680"/>
            <a:ext cx="457200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</a:rPr>
              <a:t>4</a:t>
            </a:r>
            <a:endParaRPr sz="16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885431" y="3136392"/>
            <a:ext cx="4617720" cy="4114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0E2A47"/>
                </a:solidFill>
                <a:latin typeface="PingFang SC" panose="020B0400000000000000" charset="-122"/>
                <a:ea typeface="PingFang SC" panose="020B0400000000000000" charset="-122"/>
              </a:rPr>
              <a:t>物理残差在哪些点上算？</a:t>
            </a:r>
            <a:endParaRPr sz="1250" b="1">
              <a:solidFill>
                <a:srgbClr val="0E2A47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885431" y="3520440"/>
            <a:ext cx="4663440" cy="7315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213040"/>
                </a:solidFill>
                <a:latin typeface="PingFang SC" panose="020B0400000000000000" charset="-122"/>
                <a:ea typeface="PingFang SC" panose="020B0400000000000000" charset="-122"/>
              </a:rPr>
              <a:t>是重采样的 10,000 训练点，还是额外 collocation points？空间分辨率是否受采样影响？</a:t>
            </a:r>
            <a:endParaRPr sz="1000" b="0">
              <a:solidFill>
                <a:srgbClr val="213040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548640" y="4462272"/>
            <a:ext cx="5440680" cy="1261872"/>
          </a:xfrm>
          <a:prstGeom prst="rect">
            <a:avLst/>
          </a:prstGeom>
          <a:solidFill>
            <a:srgbClr val="F6F9FC"/>
          </a:solidFill>
          <a:ln w="9525">
            <a:solidFill>
              <a:srgbClr val="D7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58368" y="4572000"/>
            <a:ext cx="457200" cy="457200"/>
          </a:xfrm>
          <a:prstGeom prst="rect">
            <a:avLst/>
          </a:prstGeom>
          <a:solidFill>
            <a:srgbClr val="16A0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4572000"/>
            <a:ext cx="457200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</a:rPr>
              <a:t>5</a:t>
            </a:r>
            <a:endParaRPr sz="16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234440" y="4553712"/>
            <a:ext cx="4617720" cy="4114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0E2A47"/>
                </a:solidFill>
                <a:latin typeface="PingFang SC" panose="020B0400000000000000" charset="-122"/>
                <a:ea typeface="PingFang SC" panose="020B0400000000000000" charset="-122"/>
              </a:rPr>
              <a:t>动态权重 ω 是否稳定？</a:t>
            </a:r>
            <a:endParaRPr sz="1250" b="1">
              <a:solidFill>
                <a:srgbClr val="0E2A47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234440" y="4937760"/>
            <a:ext cx="4663440" cy="7315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213040"/>
                </a:solidFill>
                <a:latin typeface="PingFang SC" panose="020B0400000000000000" charset="-122"/>
                <a:ea typeface="PingFang SC" panose="020B0400000000000000" charset="-122"/>
              </a:rPr>
              <a:t>data loss 与 physics loss 是否出现冲突？ω 每 10 epoch 更新是否平稳收敛？</a:t>
            </a:r>
            <a:endParaRPr sz="1000" b="0">
              <a:solidFill>
                <a:srgbClr val="213040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6199631" y="4462272"/>
            <a:ext cx="5440680" cy="1261872"/>
          </a:xfrm>
          <a:prstGeom prst="rect">
            <a:avLst/>
          </a:prstGeom>
          <a:solidFill>
            <a:srgbClr val="F6F9FC"/>
          </a:solidFill>
          <a:ln w="9525">
            <a:solidFill>
              <a:srgbClr val="D7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309359" y="4572000"/>
            <a:ext cx="457200" cy="457200"/>
          </a:xfrm>
          <a:prstGeom prst="rect">
            <a:avLst/>
          </a:prstGeom>
          <a:solidFill>
            <a:srgbClr val="16A0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09359" y="4572000"/>
            <a:ext cx="457200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</a:rPr>
              <a:t>6</a:t>
            </a:r>
            <a:endParaRPr sz="16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885431" y="4553712"/>
            <a:ext cx="4617720" cy="4114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0E2A47"/>
                </a:solidFill>
                <a:latin typeface="PingFang SC" panose="020B0400000000000000" charset="-122"/>
                <a:ea typeface="PingFang SC" panose="020B0400000000000000" charset="-122"/>
              </a:rPr>
              <a:t>15000 epoch 如何选 checkpoint？</a:t>
            </a:r>
            <a:endParaRPr sz="1250" b="1">
              <a:solidFill>
                <a:srgbClr val="0E2A47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885431" y="4937760"/>
            <a:ext cx="4663440" cy="7315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213040"/>
                </a:solidFill>
                <a:latin typeface="PingFang SC" panose="020B0400000000000000" charset="-122"/>
                <a:ea typeface="PingFang SC" panose="020B0400000000000000" charset="-122"/>
              </a:rPr>
              <a:t>best checkpoint 怎么选？是否观察过 early peak 或过拟合？（与我们 best_wss 早峰后退化相关）</a:t>
            </a:r>
            <a:endParaRPr sz="1000" b="0">
              <a:solidFill>
                <a:srgbClr val="213040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502920" y="6547104"/>
            <a:ext cx="7315200" cy="25603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A6B7B"/>
                </a:solidFill>
                <a:latin typeface="PingFang SC" panose="020B0400000000000000" charset="-122"/>
                <a:ea typeface="PingFang SC" panose="020B0400000000000000" charset="-122"/>
              </a:rPr>
              <a:t>脑血管 PINNs 点云论文 · 阅读与对照</a:t>
            </a:r>
            <a:endParaRPr sz="850" b="0">
              <a:solidFill>
                <a:srgbClr val="5A6B7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9265615" y="6547104"/>
            <a:ext cx="2423160" cy="25603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A6B7B"/>
                </a:solidFill>
                <a:latin typeface="PingFang SC" panose="020B0400000000000000" charset="-122"/>
                <a:ea typeface="PingFang SC" panose="020B0400000000000000" charset="-122"/>
              </a:rPr>
              <a:t>2026-06-11  ·  科研汇报</a:t>
            </a:r>
            <a:endParaRPr sz="850" b="0">
              <a:solidFill>
                <a:srgbClr val="5A6B7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38100"/>
          </a:xfrm>
          <a:prstGeom prst="rect">
            <a:avLst/>
          </a:prstGeom>
          <a:solidFill>
            <a:srgbClr val="16A0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0584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6A0B8"/>
                </a:solidFill>
                <a:latin typeface="PingFang SC" panose="020B0400000000000000" charset="-122"/>
                <a:ea typeface="PingFang SC" panose="020B0400000000000000" charset="-122"/>
              </a:rPr>
              <a:t>07 · QUESTIONS</a:t>
            </a:r>
            <a:endParaRPr sz="1150" b="1">
              <a:solidFill>
                <a:srgbClr val="16A0B8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459677"/>
            <a:ext cx="10607040" cy="379095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</a:rPr>
              <a:t>问题清单（二）</a:t>
            </a:r>
            <a:endParaRPr sz="23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1323015" y="310896"/>
            <a:ext cx="457200" cy="457200"/>
          </a:xfrm>
          <a:prstGeom prst="rect">
            <a:avLst/>
          </a:prstGeom>
          <a:solidFill>
            <a:srgbClr val="16A0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23015" y="310896"/>
            <a:ext cx="457200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</a:rPr>
              <a:t>19</a:t>
            </a:r>
            <a:endParaRPr sz="14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48640" y="1371600"/>
            <a:ext cx="11091672" cy="731520"/>
          </a:xfrm>
          <a:prstGeom prst="rect">
            <a:avLst/>
          </a:prstGeom>
          <a:solidFill>
            <a:srgbClr val="F6F9FC"/>
          </a:solidFill>
          <a:ln w="9525">
            <a:solidFill>
              <a:srgbClr val="D7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371600"/>
            <a:ext cx="566928" cy="731520"/>
          </a:xfrm>
          <a:prstGeom prst="rect">
            <a:avLst/>
          </a:prstGeom>
          <a:solidFill>
            <a:srgbClr val="2E6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371600"/>
            <a:ext cx="566928" cy="7315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</a:rPr>
              <a:t>7</a:t>
            </a:r>
            <a:endParaRPr sz="18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280160" y="1444752"/>
            <a:ext cx="1014984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0E2A47"/>
                </a:solidFill>
                <a:latin typeface="PingFang SC" panose="020B0400000000000000" charset="-122"/>
                <a:ea typeface="PingFang SC" panose="020B0400000000000000" charset="-122"/>
              </a:rPr>
              <a:t>PointNet++ 为何没提升？</a:t>
            </a:r>
            <a:endParaRPr sz="1250" b="1">
              <a:solidFill>
                <a:srgbClr val="0E2A47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280160" y="1764792"/>
            <a:ext cx="1014984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213040"/>
                </a:solidFill>
                <a:latin typeface="PingFang SC" panose="020B0400000000000000" charset="-122"/>
                <a:ea typeface="PingFang SC" panose="020B0400000000000000" charset="-122"/>
              </a:rPr>
              <a:t>Supplementary Table 4 中 PointNet++ 无提升——是样本太少、点分布问题，还是局部结构不适合？</a:t>
            </a:r>
            <a:endParaRPr sz="1050" b="0">
              <a:solidFill>
                <a:srgbClr val="213040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48640" y="2212848"/>
            <a:ext cx="11091672" cy="731520"/>
          </a:xfrm>
          <a:prstGeom prst="rect">
            <a:avLst/>
          </a:prstGeom>
          <a:solidFill>
            <a:srgbClr val="F6F9FC"/>
          </a:solidFill>
          <a:ln w="9525">
            <a:solidFill>
              <a:srgbClr val="D7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2212848"/>
            <a:ext cx="566928" cy="731520"/>
          </a:xfrm>
          <a:prstGeom prst="rect">
            <a:avLst/>
          </a:prstGeom>
          <a:solidFill>
            <a:srgbClr val="2E6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212848"/>
            <a:ext cx="566928" cy="7315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</a:rPr>
              <a:t>8</a:t>
            </a:r>
            <a:endParaRPr sz="18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280160" y="2286000"/>
            <a:ext cx="1014984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0E2A47"/>
                </a:solidFill>
                <a:latin typeface="PingFang SC" panose="020B0400000000000000" charset="-122"/>
                <a:ea typeface="PingFang SC" panose="020B0400000000000000" charset="-122"/>
              </a:rPr>
              <a:t>FR/PD 偏差临床上够吗？</a:t>
            </a:r>
            <a:endParaRPr sz="1250" b="1">
              <a:solidFill>
                <a:srgbClr val="0E2A47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280160" y="2606040"/>
            <a:ext cx="1014984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213040"/>
                </a:solidFill>
                <a:latin typeface="PingFang SC" panose="020B0400000000000000" charset="-122"/>
                <a:ea typeface="PingFang SC" panose="020B0400000000000000" charset="-122"/>
              </a:rPr>
              <a:t>FR/PD 最大偏差到 20%/60%，临床是否足够？是否有阈值分类实验？</a:t>
            </a:r>
            <a:endParaRPr sz="1050" b="0">
              <a:solidFill>
                <a:srgbClr val="213040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48640" y="3054096"/>
            <a:ext cx="11091672" cy="731520"/>
          </a:xfrm>
          <a:prstGeom prst="rect">
            <a:avLst/>
          </a:prstGeom>
          <a:solidFill>
            <a:srgbClr val="F6F9FC"/>
          </a:solidFill>
          <a:ln w="9525">
            <a:solidFill>
              <a:srgbClr val="D7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054096"/>
            <a:ext cx="566928" cy="731520"/>
          </a:xfrm>
          <a:prstGeom prst="rect">
            <a:avLst/>
          </a:prstGeom>
          <a:solidFill>
            <a:srgbClr val="2E6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054096"/>
            <a:ext cx="566928" cy="7315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</a:rPr>
              <a:t>9</a:t>
            </a:r>
            <a:endParaRPr sz="18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280160" y="3127248"/>
            <a:ext cx="1014984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0E2A47"/>
                </a:solidFill>
                <a:latin typeface="PingFang SC" panose="020B0400000000000000" charset="-122"/>
                <a:ea typeface="PingFang SC" panose="020B0400000000000000" charset="-122"/>
              </a:rPr>
              <a:t>换患者特异入口/多中心？</a:t>
            </a:r>
            <a:endParaRPr sz="1250" b="1">
              <a:solidFill>
                <a:srgbClr val="0E2A47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280160" y="3447288"/>
            <a:ext cx="10149840" cy="18669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213040"/>
                </a:solidFill>
                <a:latin typeface="PingFang SC" panose="020B0400000000000000" charset="-122"/>
                <a:ea typeface="PingFang SC" panose="020B0400000000000000" charset="-122"/>
              </a:rPr>
              <a:t>若用 Doppler/4D-flow 的患者特异入口流量、或多中心 CFD protocol，模型是否需重训？学到的是几何→标准化场还是→真实场？</a:t>
            </a:r>
            <a:endParaRPr sz="1050" b="0">
              <a:solidFill>
                <a:srgbClr val="213040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548640" y="3895344"/>
            <a:ext cx="11091672" cy="731520"/>
          </a:xfrm>
          <a:prstGeom prst="rect">
            <a:avLst/>
          </a:prstGeom>
          <a:solidFill>
            <a:srgbClr val="F6F9FC"/>
          </a:solidFill>
          <a:ln w="9525">
            <a:solidFill>
              <a:srgbClr val="D7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3895344"/>
            <a:ext cx="566928" cy="731520"/>
          </a:xfrm>
          <a:prstGeom prst="rect">
            <a:avLst/>
          </a:prstGeom>
          <a:solidFill>
            <a:srgbClr val="2E6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3895344"/>
            <a:ext cx="566928" cy="7315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</a:rPr>
              <a:t>10</a:t>
            </a:r>
            <a:endParaRPr sz="18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280160" y="3968496"/>
            <a:ext cx="1014984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0E2A47"/>
                </a:solidFill>
                <a:latin typeface="PingFang SC" panose="020B0400000000000000" charset="-122"/>
                <a:ea typeface="PingFang SC" panose="020B0400000000000000" charset="-122"/>
              </a:rPr>
              <a:t>是否试过壁面展开/中心线坐标？</a:t>
            </a:r>
            <a:endParaRPr sz="1250" b="1">
              <a:solidFill>
                <a:srgbClr val="0E2A47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280160" y="4288536"/>
            <a:ext cx="10149840" cy="18669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213040"/>
                </a:solidFill>
                <a:latin typeface="PingFang SC" panose="020B0400000000000000" charset="-122"/>
                <a:ea typeface="PingFang SC" panose="020B0400000000000000" charset="-122"/>
              </a:rPr>
              <a:t>是否尝试过壁面展开、中心线坐标、局部血管坐标系或 (s,θ) 表示？</a:t>
            </a:r>
            <a:endParaRPr sz="1050" b="0">
              <a:solidFill>
                <a:srgbClr val="213040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548640" y="4800600"/>
            <a:ext cx="11091672" cy="141732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" y="4800600"/>
            <a:ext cx="566928" cy="1417320"/>
          </a:xfrm>
          <a:prstGeom prst="rect">
            <a:avLst/>
          </a:prstGeom>
          <a:solidFill>
            <a:srgbClr val="16A0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4800600"/>
            <a:ext cx="566928" cy="14173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</a:rPr>
              <a:t>11</a:t>
            </a:r>
            <a:endParaRPr sz="18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280160" y="4910328"/>
            <a:ext cx="1014984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9EE8F4"/>
                </a:solidFill>
                <a:latin typeface="PingFang SC" panose="020B0400000000000000" charset="-122"/>
                <a:ea typeface="PingFang SC" panose="020B0400000000000000" charset="-122"/>
              </a:rPr>
              <a:t>答辩 / 论文里的「好看云图」到底怎么画？（重点追问）</a:t>
            </a:r>
            <a:endParaRPr sz="1300" b="1">
              <a:solidFill>
                <a:srgbClr val="9EE8F4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280160" y="5303520"/>
            <a:ext cx="10241280" cy="4191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</a:rPr>
              <a:t>正文 CFD 参考图是原生 Fluent 全网格 ，还是画在 10,000 重采样点上？预测是否插值回壁面/体网格后才出图？</a:t>
            </a:r>
            <a:endParaRPr sz="1050" b="0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</a:rPr>
              <a:t>并排对比（左全网格 / 右 1万点插值）时，如何避免插值平滑造成「视觉假一致」？是否提供过同点集点云对比？</a:t>
            </a:r>
            <a:endParaRPr sz="1050" b="0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502920" y="6547104"/>
            <a:ext cx="7315200" cy="25603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A6B7B"/>
                </a:solidFill>
                <a:latin typeface="PingFang SC" panose="020B0400000000000000" charset="-122"/>
                <a:ea typeface="PingFang SC" panose="020B0400000000000000" charset="-122"/>
              </a:rPr>
              <a:t>脑血管 PINNs 点云论文 · 阅读与对照</a:t>
            </a:r>
            <a:endParaRPr sz="850" b="0">
              <a:solidFill>
                <a:srgbClr val="5A6B7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9265615" y="6547104"/>
            <a:ext cx="2423160" cy="25603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A6B7B"/>
                </a:solidFill>
                <a:latin typeface="PingFang SC" panose="020B0400000000000000" charset="-122"/>
                <a:ea typeface="PingFang SC" panose="020B0400000000000000" charset="-122"/>
              </a:rPr>
              <a:t>2026-06-11  ·  科研汇报</a:t>
            </a:r>
            <a:endParaRPr sz="850" b="0">
              <a:solidFill>
                <a:srgbClr val="5A6B7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38100"/>
          </a:xfrm>
          <a:prstGeom prst="rect">
            <a:avLst/>
          </a:prstGeom>
          <a:solidFill>
            <a:srgbClr val="16A0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0584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6A0B8"/>
                </a:solidFill>
                <a:latin typeface="PingFang SC" panose="020B0400000000000000" charset="-122"/>
                <a:ea typeface="PingFang SC" panose="020B0400000000000000" charset="-122"/>
              </a:rPr>
              <a:t>07 · QUESTIONS</a:t>
            </a:r>
            <a:endParaRPr sz="1150" b="1">
              <a:solidFill>
                <a:srgbClr val="16A0B8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459677"/>
            <a:ext cx="10607040" cy="379095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</a:rPr>
              <a:t>1 万采样点 vs Fluent 全网格的云图对比</a:t>
            </a:r>
            <a:endParaRPr sz="23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1323015" y="310896"/>
            <a:ext cx="457200" cy="457200"/>
          </a:xfrm>
          <a:prstGeom prst="rect">
            <a:avLst/>
          </a:prstGeom>
          <a:solidFill>
            <a:srgbClr val="16A0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23015" y="310896"/>
            <a:ext cx="457200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</a:rPr>
              <a:t>20</a:t>
            </a:r>
            <a:endParaRPr sz="14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10972800" cy="488315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213040"/>
                </a:solidFill>
                <a:latin typeface="PingFang SC" panose="020B0400000000000000" charset="-122"/>
                <a:ea typeface="PingFang SC" panose="020B0400000000000000" charset="-122"/>
              </a:rPr>
              <a:t>背景矛盾：CFD 每例 ~50 万 mesh elements，预处理后只保留 10,000 均匀点；预测也只在这 1 万点有值。</a:t>
            </a:r>
            <a:endParaRPr sz="1200" b="0">
              <a:solidFill>
                <a:srgbClr val="213040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endParaRPr sz="1200" b="0">
              <a:solidFill>
                <a:srgbClr val="213040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2240280"/>
          <a:ext cx="11091670" cy="27889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66667"/>
                <a:gridCol w="5775002"/>
                <a:gridCol w="2750001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环节</a:t>
                      </a:r>
                      <a:endParaRPr sz="1150" b="1">
                        <a:solidFill>
                          <a:srgbClr val="FFFFFF"/>
                        </a:solidFill>
                        <a:latin typeface="PingFang SC" panose="020B0400000000000000" charset="-122"/>
                        <a:ea typeface="PingFang SC" panose="020B0400000000000000" charset="-122"/>
                      </a:endParaRPr>
                    </a:p>
                  </a:txBody>
                  <a:tcPr marL="76200" marR="76200" marT="38100" marB="38100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做法</a:t>
                      </a:r>
                      <a:endParaRPr sz="1150" b="1">
                        <a:solidFill>
                          <a:srgbClr val="FFFFFF"/>
                        </a:solidFill>
                        <a:latin typeface="PingFang SC" panose="020B0400000000000000" charset="-122"/>
                        <a:ea typeface="PingFang SC" panose="020B0400000000000000" charset="-122"/>
                      </a:endParaRPr>
                    </a:p>
                  </a:txBody>
                  <a:tcPr marL="76200" marR="76200" marT="38100" marB="38100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是否插值</a:t>
                      </a:r>
                      <a:endParaRPr sz="1150" b="1">
                        <a:solidFill>
                          <a:srgbClr val="FFFFFF"/>
                        </a:solidFill>
                        <a:latin typeface="PingFang SC" panose="020B0400000000000000" charset="-122"/>
                        <a:ea typeface="PingFang SC" panose="020B0400000000000000" charset="-122"/>
                      </a:endParaRPr>
                    </a:p>
                  </a:txBody>
                  <a:tcPr marL="76200" marR="76200" marT="38100" marB="38100" anchor="ctr">
                    <a:solidFill>
                      <a:srgbClr val="1F4E79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E2A47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数值指标（NMAE 等）</a:t>
                      </a:r>
                      <a:endParaRPr sz="1100" b="0">
                        <a:solidFill>
                          <a:srgbClr val="0E2A47"/>
                        </a:solidFill>
                        <a:latin typeface="PingFang SC" panose="020B0400000000000000" charset="-122"/>
                        <a:ea typeface="PingFang SC" panose="020B0400000000000000" charset="-122"/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1304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在同一套 10,000 点上算：真值由体素内距离加权插值得到，预测在同坐标输出</a:t>
                      </a:r>
                      <a:endParaRPr sz="1100" b="0">
                        <a:solidFill>
                          <a:srgbClr val="213040"/>
                        </a:solidFill>
                        <a:latin typeface="PingFang SC" panose="020B0400000000000000" charset="-122"/>
                        <a:ea typeface="PingFang SC" panose="020B0400000000000000" charset="-122"/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D63A3A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真值侧已插值；同点逐点对比，不回全网格</a:t>
                      </a:r>
                      <a:endParaRPr sz="1100" b="0">
                        <a:solidFill>
                          <a:srgbClr val="D63A3A"/>
                        </a:solidFill>
                        <a:latin typeface="PingFang SC" panose="020B0400000000000000" charset="-122"/>
                        <a:ea typeface="PingFang SC" panose="020B0400000000000000" charset="-122"/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E2A47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CFD 参考云图（正统真值）</a:t>
                      </a:r>
                      <a:endParaRPr sz="1100" b="0">
                        <a:solidFill>
                          <a:srgbClr val="0E2A47"/>
                        </a:solidFill>
                        <a:latin typeface="PingFang SC" panose="020B0400000000000000" charset="-122"/>
                        <a:ea typeface="PingFang SC" panose="020B0400000000000000" charset="-122"/>
                      </a:endParaRPr>
                    </a:p>
                  </a:txBody>
                  <a:tcPr marL="76200" marR="76200" marT="38100" marB="38100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1304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Fluent 读 .cas + .dat，在原生壁面/体网格上 Contour</a:t>
                      </a:r>
                      <a:endParaRPr sz="1100" b="0">
                        <a:solidFill>
                          <a:srgbClr val="213040"/>
                        </a:solidFill>
                        <a:latin typeface="PingFang SC" panose="020B0400000000000000" charset="-122"/>
                        <a:ea typeface="PingFang SC" panose="020B0400000000000000" charset="-122"/>
                      </a:endParaRPr>
                    </a:p>
                  </a:txBody>
                  <a:tcPr marL="76200" marR="76200" marT="38100" marB="38100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D63A3A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不经过 1 万点，展示全网格 CFD 解</a:t>
                      </a:r>
                      <a:endParaRPr sz="1100" b="0">
                        <a:solidFill>
                          <a:srgbClr val="D63A3A"/>
                        </a:solidFill>
                        <a:latin typeface="PingFang SC" panose="020B0400000000000000" charset="-122"/>
                        <a:ea typeface="PingFang SC" panose="020B0400000000000000" charset="-122"/>
                      </a:endParaRPr>
                    </a:p>
                  </a:txBody>
                  <a:tcPr marL="76200" marR="76200" marT="38100" marB="38100" anchor="ctr">
                    <a:solidFill>
                      <a:srgbClr val="EAF1F8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E2A47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GNN 预测云图（要好看）</a:t>
                      </a:r>
                      <a:endParaRPr sz="1100" b="0">
                        <a:solidFill>
                          <a:srgbClr val="0E2A47"/>
                        </a:solidFill>
                        <a:latin typeface="PingFang SC" panose="020B0400000000000000" charset="-122"/>
                        <a:ea typeface="PingFang SC" panose="020B0400000000000000" charset="-122"/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1304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1 万离散点不够光滑，通常需再映射/插值到连续表面后 Contour</a:t>
                      </a:r>
                      <a:endParaRPr sz="1100" b="0">
                        <a:solidFill>
                          <a:srgbClr val="213040"/>
                        </a:solidFill>
                        <a:latin typeface="PingFang SC" panose="020B0400000000000000" charset="-122"/>
                        <a:ea typeface="PingFang SC" panose="020B0400000000000000" charset="-122"/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D63A3A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需要插值</a:t>
                      </a:r>
                      <a:endParaRPr sz="1100" b="0">
                        <a:solidFill>
                          <a:srgbClr val="D63A3A"/>
                        </a:solidFill>
                        <a:latin typeface="PingFang SC" panose="020B0400000000000000" charset="-122"/>
                        <a:ea typeface="PingFang SC" panose="020B0400000000000000" charset="-122"/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548640" y="5212080"/>
            <a:ext cx="11091672" cy="1005840"/>
          </a:xfrm>
          <a:prstGeom prst="rect">
            <a:avLst/>
          </a:prstGeom>
          <a:solidFill>
            <a:srgbClr val="FDF3E6"/>
          </a:solidFill>
          <a:ln w="12700">
            <a:solidFill>
              <a:srgbClr val="C982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321808"/>
            <a:ext cx="10698480" cy="8229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C9821B"/>
                </a:solidFill>
                <a:latin typeface="PingFang SC" panose="020B0400000000000000" charset="-122"/>
                <a:ea typeface="PingFang SC" panose="020B0400000000000000" charset="-122"/>
              </a:rPr>
              <a:t>追问要点：</a:t>
            </a:r>
            <a:r>
              <a:rPr sz="1200" b="0">
                <a:solidFill>
                  <a:srgbClr val="213040"/>
                </a:solidFill>
                <a:latin typeface="PingFang SC" panose="020B0400000000000000" charset="-122"/>
                <a:ea typeface="PingFang SC" panose="020B0400000000000000" charset="-122"/>
              </a:rPr>
              <a:t>预测图是点云直接画还是插值回网格？用 Fluent / VTK / ParaView？体腔截面是原生网格还是插值后切面？</a:t>
            </a:r>
            <a:endParaRPr sz="1200" b="0">
              <a:solidFill>
                <a:srgbClr val="213040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0E2A47"/>
                </a:solidFill>
                <a:latin typeface="PingFang SC" panose="020B0400000000000000" charset="-122"/>
                <a:ea typeface="PingFang SC" panose="020B0400000000000000" charset="-122"/>
              </a:rPr>
              <a:t>对 WSS——1 万点上的速度梯度 + 插值到面片，误差会不会比速度/压力更敏感？</a:t>
            </a:r>
            <a:endParaRPr sz="1200" b="0">
              <a:solidFill>
                <a:srgbClr val="0E2A47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6547104"/>
            <a:ext cx="7315200" cy="25603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A6B7B"/>
                </a:solidFill>
                <a:latin typeface="PingFang SC" panose="020B0400000000000000" charset="-122"/>
                <a:ea typeface="PingFang SC" panose="020B0400000000000000" charset="-122"/>
              </a:rPr>
              <a:t>脑血管 PINNs 点云论文 · 阅读与对照</a:t>
            </a:r>
            <a:endParaRPr sz="850" b="0">
              <a:solidFill>
                <a:srgbClr val="5A6B7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265615" y="6547104"/>
            <a:ext cx="2423160" cy="25603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A6B7B"/>
                </a:solidFill>
                <a:latin typeface="PingFang SC" panose="020B0400000000000000" charset="-122"/>
                <a:ea typeface="PingFang SC" panose="020B0400000000000000" charset="-122"/>
              </a:rPr>
              <a:t>2026-06-11  ·  科研汇报</a:t>
            </a:r>
            <a:endParaRPr sz="850" b="0">
              <a:solidFill>
                <a:srgbClr val="5A6B7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12191695" cy="50800"/>
          </a:xfrm>
          <a:prstGeom prst="rect">
            <a:avLst/>
          </a:prstGeom>
          <a:solidFill>
            <a:srgbClr val="16A0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</a:rPr>
              <a:t>结论</a:t>
            </a:r>
            <a:endParaRPr sz="30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7" name="Oval 6"/>
          <p:cNvSpPr/>
          <p:nvPr/>
        </p:nvSpPr>
        <p:spPr>
          <a:xfrm>
            <a:off x="685800" y="2267712"/>
            <a:ext cx="118872" cy="118872"/>
          </a:xfrm>
          <a:prstGeom prst="ellipse">
            <a:avLst/>
          </a:prstGeom>
          <a:solidFill>
            <a:srgbClr val="16A0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063750"/>
            <a:ext cx="10515600" cy="5029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</a:rPr>
              <a:t>它解决的是速度/压力场，不是直接解决 WSS——与我们 V1 初始路线相似，但与当前 V3 瓶颈不同；</a:t>
            </a:r>
            <a:endParaRPr sz="1250" b="0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9" name="Oval 8"/>
          <p:cNvSpPr/>
          <p:nvPr/>
        </p:nvSpPr>
        <p:spPr>
          <a:xfrm>
            <a:off x="685800" y="2834640"/>
            <a:ext cx="118872" cy="118872"/>
          </a:xfrm>
          <a:prstGeom prst="ellipse">
            <a:avLst/>
          </a:prstGeom>
          <a:solidFill>
            <a:srgbClr val="16A0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795143"/>
            <a:ext cx="10515600" cy="21717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</a:rPr>
              <a:t>「精度</a:t>
            </a:r>
            <a:r>
              <a:rPr lang="zh-CN" sz="1250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</a:rPr>
              <a:t>标准</a:t>
            </a:r>
            <a:r>
              <a:rPr sz="1250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</a:rPr>
              <a:t>」主要来自 NMAE，不是用的点级 WSS R²；</a:t>
            </a:r>
            <a:endParaRPr sz="1250" b="0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685800" y="3401567"/>
            <a:ext cx="118872" cy="118872"/>
          </a:xfrm>
          <a:prstGeom prst="ellipse">
            <a:avLst/>
          </a:prstGeom>
          <a:solidFill>
            <a:srgbClr val="16A0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362070"/>
            <a:ext cx="10515600" cy="21717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</a:rPr>
              <a:t>已验证「加速度监督 / 速度差分 / 近壁速度上下文」不能稳定提高 WSS；</a:t>
            </a:r>
            <a:endParaRPr sz="1250" b="0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685800" y="3968496"/>
            <a:ext cx="118872" cy="118872"/>
          </a:xfrm>
          <a:prstGeom prst="ellipse">
            <a:avLst/>
          </a:prstGeom>
          <a:solidFill>
            <a:srgbClr val="16A0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928999"/>
            <a:ext cx="10515600" cy="21717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</a:rPr>
              <a:t>支持我们的 G4 / G5 / I18 方向，但不能替代我们自己的 WSS 实验证据；</a:t>
            </a:r>
            <a:endParaRPr sz="1250" b="0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685800" y="4535424"/>
            <a:ext cx="118872" cy="118872"/>
          </a:xfrm>
          <a:prstGeom prst="ellipse">
            <a:avLst/>
          </a:prstGeom>
          <a:solidFill>
            <a:srgbClr val="16A0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353052"/>
            <a:ext cx="10515600" cy="5029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</a:rPr>
              <a:t>最值得学习的是——有限数据下，数据表达与物理约束必须一起设计。</a:t>
            </a:r>
            <a:endParaRPr sz="1250" b="0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9736</Words>
  <Application>WPS 演示</Application>
  <PresentationFormat>On-screen Show (4:3)</PresentationFormat>
  <Paragraphs>977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41" baseType="lpstr">
      <vt:lpstr>Arial</vt:lpstr>
      <vt:lpstr>宋体</vt:lpstr>
      <vt:lpstr>Wingdings</vt:lpstr>
      <vt:lpstr>Arial</vt:lpstr>
      <vt:lpstr>PingFang SC</vt:lpstr>
      <vt:lpstr>Consolas</vt:lpstr>
      <vt:lpstr>Thonburi</vt:lpstr>
      <vt:lpstr>Calibri</vt:lpstr>
      <vt:lpstr>Helvetica Neue</vt:lpstr>
      <vt:lpstr>微软雅黑</vt:lpstr>
      <vt:lpstr>汉仪旗黑</vt:lpstr>
      <vt:lpstr>宋体</vt:lpstr>
      <vt:lpstr>Arial Unicode MS</vt:lpstr>
      <vt:lpstr>汉仪书宋二KW</vt:lpstr>
      <vt:lpstr>Consolas</vt:lpstr>
      <vt:lpstr>苹方-简</vt:lpstr>
      <vt:lpstr>儷宋 Pro</vt:lpstr>
      <vt:lpstr>Apple Color Emoji</vt:lpstr>
      <vt:lpstr>PingFang SC Semibold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小阳</cp:lastModifiedBy>
  <cp:revision>2</cp:revision>
  <dcterms:created xsi:type="dcterms:W3CDTF">2026-06-11T12:44:17Z</dcterms:created>
  <dcterms:modified xsi:type="dcterms:W3CDTF">2026-06-11T12:44:17Z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2052-12.1.25895.25895</vt:lpwstr>
  </property>
  <property fmtid="{D5CDD505-2E9C-101B-9397-08002B2CF9AE}" pid="3" name="ICV">
    <vt:lpwstr>78AD14E777F2237AA1AD2A6AF880B741_42</vt:lpwstr>
  </property>
</Properties>
</file>