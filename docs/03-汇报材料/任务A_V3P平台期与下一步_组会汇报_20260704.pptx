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594360"/>
            <a:ext cx="905256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Noto Sans CJK SC"/>
              </a:rPr>
              <a:t>任务 A：AG 脑血管 WSS 场重建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7955279" cy="3657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1ECF7"/>
                </a:solidFill>
                <a:latin typeface="Noto Sans CJK SC"/>
              </a:rPr>
              <a:t>V3P 平台期证据、外部 baseline 与下一步换范式路线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4956048"/>
            <a:ext cx="2057400" cy="1078992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093208"/>
            <a:ext cx="172821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当前 WSS 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367528"/>
            <a:ext cx="172821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CA6826"/>
                </a:solidFill>
                <a:latin typeface="Noto Sans CJK SC"/>
              </a:rPr>
              <a:t>0.42–0.45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797296"/>
            <a:ext cx="172821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I6-diag 0.429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4956048"/>
            <a:ext cx="2057400" cy="1078992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5093208"/>
            <a:ext cx="172821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压力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5367528"/>
            <a:ext cx="172821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C6191"/>
                </a:solidFill>
                <a:latin typeface="Noto Sans CJK SC"/>
              </a:rPr>
              <a:t>0.93–0.96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5797296"/>
            <a:ext cx="172821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V3P 主线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8" y="4956048"/>
            <a:ext cx="2057400" cy="1078992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5093208"/>
            <a:ext cx="172821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工程目标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5367528"/>
            <a:ext cx="172821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AF3636"/>
                </a:solidFill>
                <a:latin typeface="Noto Sans CJK SC"/>
              </a:rPr>
              <a:t>0.85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797296"/>
            <a:ext cx="172821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WSS 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035040"/>
            <a:ext cx="306324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E1ECF7"/>
                </a:solidFill>
                <a:latin typeface="Noto Sans CJK SC"/>
              </a:rPr>
              <a:t>导师组会 · 15–20 min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问题与指标定义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主指标固定为 V3P test wss_r2_wss（best_wss）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242316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63039"/>
            <a:ext cx="209397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主指标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37360"/>
            <a:ext cx="209397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CA6826"/>
                </a:solidFill>
                <a:latin typeface="Noto Sans CJK SC"/>
              </a:rPr>
              <a:t>WSS 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67128"/>
            <a:ext cx="209397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test wss_r2_wss · best_wss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25880"/>
            <a:ext cx="242316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463039"/>
            <a:ext cx="209397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副指标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737360"/>
            <a:ext cx="209397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C6191"/>
                </a:solidFill>
                <a:latin typeface="Noto Sans CJK SC"/>
              </a:rPr>
              <a:t>p 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167128"/>
            <a:ext cx="209397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test r2_p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42316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463039"/>
            <a:ext cx="209397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工程目标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1737360"/>
            <a:ext cx="209397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AF3636"/>
                </a:solidFill>
                <a:latin typeface="Noto Sans CJK SC"/>
              </a:rPr>
              <a:t>≈0.85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167128"/>
            <a:ext cx="209397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M-E 替代 CFD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325880"/>
            <a:ext cx="242316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1463039"/>
            <a:ext cx="209397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当前平台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1737360"/>
            <a:ext cx="209397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CA6826"/>
                </a:solidFill>
                <a:latin typeface="Noto Sans CJK SC"/>
              </a:rPr>
              <a:t>≈0.43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2167128"/>
            <a:ext cx="209397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距目标约 0.42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880360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4181C"/>
                </a:solidFill>
                <a:latin typeface="Noto Sans CJK SC"/>
              </a:defRPr>
            </a:pPr>
            <a:r>
              <a:t>输入：壁面/近壁点云，几何特征，入口/出口边界条件。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4181C"/>
                </a:solidFill>
                <a:latin typeface="Noto Sans CJK SC"/>
              </a:defRPr>
            </a:pPr>
            <a:r>
              <a:t>输出：壁面 WSS 与压力场；V3P 重点优化 WSS。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4181C"/>
                </a:solidFill>
                <a:latin typeface="Noto Sans CJK SC"/>
              </a:defRPr>
            </a:pPr>
            <a:r>
              <a:t>评价：pooled test R²，同时检查 L3/CHEN/fast 子集。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4181C"/>
                </a:solidFill>
                <a:latin typeface="Noto Sans CJK SC"/>
              </a:defRPr>
            </a:pPr>
            <a:r>
              <a:t>纪律：不同 split、不同点集、不同目标不做同榜排名。</a:t>
            </a:r>
          </a:p>
        </p:txBody>
      </p:sp>
      <p:pic>
        <p:nvPicPr>
          <p:cNvPr id="24" name="Picture 23" descr="split_ag_v1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065831"/>
            <a:ext cx="5212080" cy="23265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数据与口径纪律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先统一 split，后谈指标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03</a:t>
            </a:r>
          </a:p>
        </p:txBody>
      </p:sp>
      <p:pic>
        <p:nvPicPr>
          <p:cNvPr id="7" name="Picture 6" descr="split_ag_v1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20011"/>
            <a:ext cx="5212080" cy="232653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89320" y="1417320"/>
          <a:ext cx="5440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/>
                <a:gridCol w="1360170"/>
                <a:gridCol w="1360170"/>
                <a:gridCol w="136017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SC"/>
                        </a:rPr>
                        <a:t>对象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SC"/>
                        </a:rPr>
                        <a:t>split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SC"/>
                        </a:rPr>
                        <a:t>输入/域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SC"/>
                        </a:rPr>
                        <a:t>汇报口径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V3P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split_AG_v1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AG-only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81 活跃例，57/8/16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V3D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split_data_new_v3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AAA+AG+ILO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禁止与 V3P 同表对比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CROWN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split_AG_v1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仅 xyz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全点 NMAE 主指标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PointNetCFD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split_AG_v1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点云 VP/WSS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81C"/>
                          </a:solidFill>
                          <a:latin typeface="Noto Sans CJK SC"/>
                        </a:rPr>
                        <a:t>归一化 RMSE/R²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40690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617080"/>
                </a:solidFill>
                <a:latin typeface="Noto Sans CJK SC"/>
              </a:defRPr>
            </a:pPr>
            <a:r>
              <a:t>V3P 主表只看 `split_AG_v1`。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617080"/>
                </a:solidFill>
                <a:latin typeface="Noto Sans CJK SC"/>
              </a:defRPr>
            </a:pPr>
            <a:r>
              <a:t>CROWN 的 wall/interior 是体点云诊断，不等同 V3P 壁面点。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617080"/>
                </a:solidFill>
                <a:latin typeface="Noto Sans CJK SC"/>
              </a:defRPr>
            </a:pPr>
            <a:r>
              <a:t>外部 baseline 只说明输入与归纳偏置边界。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方法演进时间线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从场重建到 WSS 直接监督，再到外部方法边界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04</a:t>
            </a:r>
          </a:p>
        </p:txBody>
      </p:sp>
      <p:pic>
        <p:nvPicPr>
          <p:cNvPr id="7" name="Picture 6" descr="timeline_v1_v2_v3p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2998"/>
            <a:ext cx="10881360" cy="30834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6235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617080"/>
                </a:solidFill>
                <a:latin typeface="Noto Sans CJK SC"/>
              </a:defRPr>
            </a:pPr>
            <a:r>
              <a:t>V1 证明压力可学；V2 排除简单 WSS 多任务；V3P 建立当前最强主线；external baseline 排除“仅 xyz(+PINN)”替代方案。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V1：场重建成功，但不是 WSS 终点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A-Opt-05 是场重建母版；压力 R²≈0.92+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05</a:t>
            </a:r>
          </a:p>
        </p:txBody>
      </p:sp>
      <p:pic>
        <p:nvPicPr>
          <p:cNvPr id="7" name="Picture 6" descr="rout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4496"/>
            <a:ext cx="5989320" cy="311468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95160" y="1554480"/>
          <a:ext cx="4343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447800"/>
                <a:gridCol w="14478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CJK SC"/>
                        </a:rPr>
                        <a:t>实验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CJK SC"/>
                        </a:rPr>
                        <a:t>速度/WSS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CJK SC"/>
                        </a:rPr>
                        <a:t>压力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A-Opt-05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RMSE_|v| 1.0399±0.0082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R²_p 0.9234±0.0005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A-Opt-07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RMSE_|v| 1.0433±0.0120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R²_p 0.9224±0.0035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A-Opt-05-wss-multi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壁面 WSS R² 0.463±0.004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R²_p 0.922±0.003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86600" y="3931920"/>
            <a:ext cx="39776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14181C"/>
                </a:solidFill>
                <a:latin typeface="Noto Sans CJK SC"/>
              </a:defRPr>
            </a:pPr>
            <a:r>
              <a:t>压力和低频场量可稳定学习。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14181C"/>
                </a:solidFill>
                <a:latin typeface="Noto Sans CJK SC"/>
              </a:defRPr>
            </a:pPr>
            <a:r>
              <a:t>WSS 依赖近壁速度梯度，不能只用场 RMSE 代替。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14181C"/>
                </a:solidFill>
                <a:latin typeface="Noto Sans CJK SC"/>
              </a:defRPr>
            </a:pPr>
            <a:r>
              <a:t>后续路线必须把 WSS 作为主目标或结构算子。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V2：WSS 多任务全线 No-Go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WSS loss 易劫持梯度，简单重加权不能解决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417320"/>
          <a:ext cx="65836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Noto Sans CJK SC"/>
                        </a:rPr>
                        <a:t>实验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Noto Sans CJK SC"/>
                        </a:rPr>
                        <a:t>配置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Noto Sans CJK SC"/>
                        </a:rPr>
                        <a:t>WSS R²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Noto Sans CJK SC"/>
                        </a:rPr>
                        <a:t>判读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WSSP-01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p+WSS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wall.r2_wss≈0.44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单 seed，速度未训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WSSP-02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全场+WSS 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-0.018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p R²=0.004，崩溃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WSSP-03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轻量 WSS 0.01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-0.017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压力略修复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WSSP-05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p+WSS 三 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-0.025/-0.022/-0.016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No-Go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WSSP-06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Huber WSS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-0.016/-0.015/-0.013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未稳定优于 MSE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35240" y="141732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14181C"/>
                </a:solidFill>
                <a:latin typeface="Noto Sans CJK SC"/>
              </a:defRPr>
            </a:pPr>
            <a:r>
              <a:t>WSS loss 尺度远大于 data loss 时，压力被拖垮。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14181C"/>
                </a:solidFill>
                <a:latin typeface="Noto Sans CJK SC"/>
              </a:defRPr>
            </a:pPr>
            <a:r>
              <a:t>降低 WSS 权重可缓解压力，但 WSS R² 不转正。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14181C"/>
                </a:solidFill>
                <a:latin typeface="Noto Sans CJK SC"/>
              </a:defRPr>
            </a:pPr>
            <a:r>
              <a:t>V2 结论推动 V3P 采用 wall-rich + AsymW + best_wss 选优。</a:t>
            </a:r>
          </a:p>
        </p:txBody>
      </p:sp>
      <p:pic>
        <p:nvPicPr>
          <p:cNvPr id="9" name="Picture 8" descr="fig_A5_regional_bar_rmse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4194219"/>
            <a:ext cx="3291840" cy="16242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V3P 架构：PointNeXt 双域 + AsymW-a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wall-rich 采样、几何+BC、p/WSS 双输出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920240" cy="822960"/>
          </a:xfrm>
          <a:prstGeom prst="roundRect">
            <a:avLst/>
          </a:prstGeom>
          <a:solidFill>
            <a:srgbClr val="2C6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773936" cy="5943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</a:rPr>
              <a:t>壁面/近壁点
wall13000+near2000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920240" cy="822960"/>
          </a:xfrm>
          <a:prstGeom prst="roundRect">
            <a:avLst/>
          </a:prstGeom>
          <a:solidFill>
            <a:srgbClr val="2C6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227832"/>
            <a:ext cx="1773936" cy="5943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</a:rPr>
              <a:t>几何 + BC
coord/t/branch/radius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331720"/>
            <a:ext cx="2057400" cy="1051560"/>
          </a:xfrm>
          <a:prstGeom prst="roundRect">
            <a:avLst/>
          </a:prstGeom>
          <a:solidFill>
            <a:srgbClr val="25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2496312"/>
            <a:ext cx="1911095" cy="822959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</a:rPr>
              <a:t>PointNeXt
双域局部池化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691640"/>
            <a:ext cx="2011680" cy="868680"/>
          </a:xfrm>
          <a:prstGeom prst="roundRect">
            <a:avLst/>
          </a:prstGeom>
          <a:solidFill>
            <a:srgbClr val="2C6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856232"/>
            <a:ext cx="1865376" cy="6400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</a:rPr>
              <a:t>Pressure head
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971800"/>
            <a:ext cx="2011680" cy="868680"/>
          </a:xfrm>
          <a:prstGeom prst="round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3136392"/>
            <a:ext cx="1865376" cy="6400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</a:rPr>
              <a:t>WSS head
AsymW-a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691640"/>
            <a:ext cx="2057400" cy="868680"/>
          </a:xfrm>
          <a:prstGeom prst="roundRect">
            <a:avLst/>
          </a:prstGeom>
          <a:solidFill>
            <a:srgbClr val="2C6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1856232"/>
            <a:ext cx="1911095" cy="6400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</a:rPr>
              <a:t>副指标
r2_p≈0.93–0.96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971800"/>
            <a:ext cx="2057400" cy="868680"/>
          </a:xfrm>
          <a:prstGeom prst="round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7112" y="3136392"/>
            <a:ext cx="1911095" cy="6400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</a:rPr>
              <a:t>主指标
wss_r2_wss≈0.43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2240280"/>
            <a:ext cx="640080" cy="502920"/>
          </a:xfrm>
          <a:prstGeom prst="line">
            <a:avLst/>
          </a:prstGeom>
          <a:ln>
            <a:solidFill>
              <a:srgbClr val="A0A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743200" y="2852928"/>
            <a:ext cx="640080" cy="621792"/>
          </a:xfrm>
          <a:prstGeom prst="line">
            <a:avLst/>
          </a:prstGeom>
          <a:ln>
            <a:solidFill>
              <a:srgbClr val="A0A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440680" y="2148840"/>
            <a:ext cx="640080" cy="640080"/>
          </a:xfrm>
          <a:prstGeom prst="line">
            <a:avLst/>
          </a:prstGeom>
          <a:ln>
            <a:solidFill>
              <a:srgbClr val="A0A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40680" y="2788920"/>
            <a:ext cx="640080" cy="640080"/>
          </a:xfrm>
          <a:prstGeom prst="line">
            <a:avLst/>
          </a:prstGeom>
          <a:ln>
            <a:solidFill>
              <a:srgbClr val="A0A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92440" y="2148840"/>
            <a:ext cx="731520" cy="0"/>
          </a:xfrm>
          <a:prstGeom prst="line">
            <a:avLst/>
          </a:prstGeom>
          <a:ln>
            <a:solidFill>
              <a:srgbClr val="A0A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92440" y="3429000"/>
            <a:ext cx="731520" cy="0"/>
          </a:xfrm>
          <a:prstGeom prst="line">
            <a:avLst/>
          </a:prstGeom>
          <a:ln>
            <a:solidFill>
              <a:srgbClr val="A0A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51560" y="48006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617080"/>
                </a:solidFill>
                <a:latin typeface="Noto Sans CJK SC"/>
              </a:defRPr>
            </a:pPr>
            <a:r>
              <a:t>AsymW-a 使用非对称 WSS 权重，优先保护主分量；best_wss 选优避免 best_model 与 WSS 主目标错位。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617080"/>
                </a:solidFill>
                <a:latin typeface="Noto Sans CJK SC"/>
              </a:defRPr>
            </a:pPr>
            <a:r>
              <a:t>压力长期保持高 R²，核心难点集中在壁面剪切尤其横向/周向信息。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母版确立：AsymW-a 抬升到平台带宽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4957/4999/5000 → post5463/I6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08</a:t>
            </a:r>
          </a:p>
        </p:txBody>
      </p:sp>
      <p:pic>
        <p:nvPicPr>
          <p:cNvPr id="7" name="Picture 6" descr="v3p_asymw_seed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86177"/>
            <a:ext cx="5029200" cy="2216964"/>
          </a:xfrm>
          <a:prstGeom prst="rect">
            <a:avLst/>
          </a:prstGeom>
        </p:spPr>
      </p:pic>
      <p:pic>
        <p:nvPicPr>
          <p:cNvPr id="8" name="Picture 7" descr="v3p_platform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02527"/>
            <a:ext cx="5257800" cy="2384264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5166360"/>
          <a:ext cx="1033272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217170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CJK SC"/>
                        </a:rPr>
                        <a:t>锚点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CJK SC"/>
                        </a:rPr>
                        <a:t>WSS R²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CJK SC"/>
                        </a:rPr>
                        <a:t>p R²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CJK SC"/>
                        </a:rPr>
                        <a:t>判读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4181C"/>
                          </a:solidFill>
                          <a:latin typeface="Noto Sans CJK SC"/>
                        </a:rPr>
                        <a:t>AsymW-a 3 seed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4181C"/>
                          </a:solidFill>
                          <a:latin typeface="Noto Sans CJK SC"/>
                        </a:rPr>
                        <a:t>0.394±0.005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4181C"/>
                          </a:solidFill>
                          <a:latin typeface="Noto Sans CJK SC"/>
                        </a:rPr>
                        <a:t>~0.93–0.96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4181C"/>
                          </a:solidFill>
                          <a:latin typeface="Noto Sans CJK SC"/>
                        </a:rPr>
                        <a:t>升 PW 母版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4181C"/>
                          </a:solidFill>
                          <a:latin typeface="Noto Sans CJK SC"/>
                        </a:rPr>
                        <a:t>post5463 band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4181C"/>
                          </a:solidFill>
                          <a:latin typeface="Noto Sans CJK SC"/>
                        </a:rPr>
                        <a:t>0.425±0.012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4181C"/>
                          </a:solidFill>
                          <a:latin typeface="Noto Sans CJK SC"/>
                        </a:rPr>
                        <a:t>~0.93–0.96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4181C"/>
                          </a:solidFill>
                          <a:latin typeface="Noto Sans CJK SC"/>
                        </a:rPr>
                        <a:t>平台参考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4181C"/>
                          </a:solidFill>
                          <a:latin typeface="Noto Sans CJK SC"/>
                        </a:rPr>
                        <a:t>I6-diag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4181C"/>
                          </a:solidFill>
                          <a:latin typeface="Noto Sans CJK SC"/>
                        </a:rPr>
                        <a:t>0.429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4181C"/>
                          </a:solidFill>
                          <a:latin typeface="Noto Sans CJK SC"/>
                        </a:rPr>
                        <a:t>0.930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4181C"/>
                          </a:solidFill>
                          <a:latin typeface="Noto Sans CJK SC"/>
                        </a:rPr>
                        <a:t>200ep 诊断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平台期关键实验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I6-diag / I6-a / G58 / J4 / J5 / K1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09</a:t>
            </a:r>
          </a:p>
        </p:txBody>
      </p:sp>
      <p:pic>
        <p:nvPicPr>
          <p:cNvPr id="7" name="Picture 6" descr="v3p_platform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11576"/>
            <a:ext cx="6629400" cy="300624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1508760"/>
          <a:ext cx="3474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Noto Sans CJK SC"/>
                        </a:rPr>
                        <a:t>实验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Noto Sans CJK SC"/>
                        </a:rPr>
                        <a:t>WSS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Noto Sans CJK SC"/>
                        </a:rPr>
                        <a:t>p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Noto Sans CJK SC"/>
                        </a:rPr>
                        <a:t>判读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I6-diag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0.429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0.930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平台参考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I6-a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0.446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0.941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单点最高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J5 +6 AAA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0.433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0.951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弱 No-Go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K1 Branch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0.400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0.925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No-Go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26679" y="416052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617080"/>
                </a:solidFill>
                <a:latin typeface="Noto Sans CJK SC"/>
              </a:defRPr>
            </a:pPr>
            <a:r>
              <a:t>Go 门槛：I6-diag +0.03 = 0.459。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617080"/>
                </a:solidFill>
                <a:latin typeface="Noto Sans CJK SC"/>
              </a:defRPr>
            </a:pPr>
            <a:r>
              <a:t>I6-a 未扩 seed，不能写成稳定突破。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617080"/>
                </a:solidFill>
                <a:latin typeface="Noto Sans CJK SC"/>
              </a:defRPr>
            </a:pPr>
            <a:r>
              <a:t>压力提升不自动带来 WSS 突破。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系统性探索与 No-Go 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路径 A–G、M-E 探针、J/K 平台期探针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10</a:t>
            </a:r>
          </a:p>
        </p:txBody>
      </p:sp>
      <p:pic>
        <p:nvPicPr>
          <p:cNvPr id="7" name="Picture 6" descr="nog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66350"/>
            <a:ext cx="6492240" cy="30509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417320"/>
            <a:ext cx="3611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14181C"/>
                </a:solidFill>
                <a:latin typeface="Noto Sans CJK SC"/>
              </a:defRPr>
            </a:pPr>
            <a:r>
              <a:t>路径 A/B：表示和近壁几何约 0.37–0.41。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14181C"/>
                </a:solidFill>
                <a:latin typeface="Noto Sans CJK SC"/>
              </a:defRPr>
            </a:pPr>
            <a:r>
              <a:t>路径 F：loss/特征探针多数 No-Go；PGradFeat 三 seed 0.399±0.010。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14181C"/>
                </a:solidFill>
                <a:latin typeface="Noto Sans CJK SC"/>
              </a:defRPr>
            </a:pPr>
            <a:r>
              <a:t>路径 G57：0.392–0.420；G58 SSL 0.435–0.440 仍未过线。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14181C"/>
                </a:solidFill>
                <a:latin typeface="Noto Sans CJK SC"/>
              </a:defRPr>
            </a:pPr>
            <a:r>
              <a:t>M-E WSS-only/PWeak/E-J：0.401–0.411，压力或迁移性不足。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4892040"/>
            <a:ext cx="33832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AF3636"/>
                </a:solidFill>
                <a:latin typeface="Noto Sans CJK SC"/>
              </a:rPr>
              <a:t>判读：继续旧范式横扫的边际收益很低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数据探针：扩池不能直接破平台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J4 +1 / J5 +6 AAA / L3 子集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11</a:t>
            </a:r>
          </a:p>
        </p:txBody>
      </p:sp>
      <p:pic>
        <p:nvPicPr>
          <p:cNvPr id="7" name="Picture 6" descr="j5_l3_sub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90920"/>
            <a:ext cx="6126480" cy="277323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17320"/>
          <a:ext cx="41605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130"/>
                <a:gridCol w="1040130"/>
                <a:gridCol w="1040130"/>
                <a:gridCol w="104013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Noto Sans CJK SC"/>
                        </a:rPr>
                        <a:t>对象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Noto Sans CJK SC"/>
                        </a:rPr>
                        <a:t>指标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Noto Sans CJK SC"/>
                        </a:rPr>
                        <a:t>Δ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Noto Sans CJK SC"/>
                        </a:rPr>
                        <a:t>判读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J4 +1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0.423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-0.006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No-Go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J5 +6 AAA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0.433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+0.004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弱 No-Go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L3 fast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0.054→0.198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+0.145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改善但绝对低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L3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-0.825→-0.241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+0.584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4181C"/>
                          </a:solidFill>
                          <a:latin typeface="Noto Sans CJK SC"/>
                        </a:rPr>
                        <a:t>仍为负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42519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617080"/>
                </a:solidFill>
                <a:latin typeface="Noto Sans CJK SC"/>
              </a:defRPr>
            </a:pPr>
            <a:r>
              <a:t>J5 说明主动选数有局部信号，但全 test band 未破 0.45。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617080"/>
                </a:solidFill>
                <a:latin typeface="Noto Sans CJK SC"/>
              </a:defRPr>
            </a:pPr>
            <a:r>
              <a:t>因此 J6 GPU 不自动开启，Batch-2 只保留采购/记录价值。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结构探针：K1 oracle Go，GPU No-Go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branch/topology 信号存在，但手工 concat 不足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58521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Noto Sans CJK SC"/>
                        </a:rPr>
                        <a:t>探针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Noto Sans CJK SC"/>
                        </a:rPr>
                        <a:t>关键数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Noto Sans CJK SC"/>
                        </a:rPr>
                        <a:t>判读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Noto Sans CJK SC"/>
                        </a:rPr>
                        <a:t>说明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K1 CPU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branch error explained 0.683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Go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超过 0.30 阈值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K3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mode R² 0.170 &lt; abs 0.235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No-Go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非幅值标定主因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K5 CPU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BC explained -0.43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No-Go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BC/相位不解释误差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K1 GPU 5886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WSS 0.400 / p 0.925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No-Go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4181C"/>
                          </a:solidFill>
                          <a:latin typeface="Noto Sans CJK SC"/>
                        </a:rPr>
                        <a:t>未过 0.459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828800"/>
            <a:ext cx="1554480" cy="960120"/>
          </a:xfrm>
          <a:prstGeom prst="roundRect">
            <a:avLst/>
          </a:prstGeom>
          <a:solidFill>
            <a:srgbClr val="25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993392"/>
            <a:ext cx="13716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Noto Sans CJK SC"/>
              </a:rPr>
              <a:t>CPU oracle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304288"/>
            <a:ext cx="13716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SC"/>
              </a:rPr>
              <a:t>0.683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828800"/>
            <a:ext cx="1554480" cy="960120"/>
          </a:xfrm>
          <a:prstGeom prst="roundRect">
            <a:avLst/>
          </a:prstGeom>
          <a:solidFill>
            <a:srgbClr val="AF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1993392"/>
            <a:ext cx="13716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Noto Sans CJK SC"/>
              </a:rPr>
              <a:t>GPU probe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304288"/>
            <a:ext cx="13716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SC"/>
              </a:rPr>
              <a:t>0.400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15400" y="2304288"/>
            <a:ext cx="502920" cy="0"/>
          </a:xfrm>
          <a:prstGeom prst="line">
            <a:avLst/>
          </a:prstGeom>
          <a:ln>
            <a:solidFill>
              <a:srgbClr val="A0A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0" y="3520440"/>
            <a:ext cx="3611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4181C"/>
                </a:solidFill>
                <a:latin typeface="Noto Sans CJK SC"/>
              </a:defRPr>
            </a:pPr>
            <a:r>
              <a:t>下一步若继续补分支信息，应换 processor 或全局 token，而不是再加手工特征。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4181C"/>
                </a:solidFill>
                <a:latin typeface="Noto Sans CJK SC"/>
              </a:defRPr>
            </a:pPr>
            <a:r>
              <a:t>这直接指向 Transolver / physics-attention。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外部 baseline：CROWN 复现成功但 AG 不可用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非 PINN / PINN 均已完成 paper_full evaluate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13</a:t>
            </a:r>
          </a:p>
        </p:txBody>
      </p:sp>
      <p:pic>
        <p:nvPicPr>
          <p:cNvPr id="7" name="Picture 6" descr="external_p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32156"/>
            <a:ext cx="6126480" cy="303590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86600" y="1417320"/>
          <a:ext cx="4206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Noto Sans CJK SC"/>
                        </a:rPr>
                        <a:t>方法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Noto Sans CJK SC"/>
                        </a:rPr>
                        <a:t>NMAE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Noto Sans CJK SC"/>
                        </a:rPr>
                        <a:t>R²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Noto Sans CJK SC"/>
                        </a:rPr>
                        <a:t>判读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非 PINN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p NMAE 16.0%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p R² -2.07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No-Go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PINN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p NMAE 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p R² -0.63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改善但仍 No-Go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V3P 对照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-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p R² 0.930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主模型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9480" y="3840480"/>
            <a:ext cx="3794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80">
                <a:solidFill>
                  <a:srgbClr val="617080"/>
                </a:solidFill>
                <a:latin typeface="Noto Sans CJK SC"/>
              </a:defRPr>
            </a:pPr>
            <a:r>
              <a:t>CROWN 主指标是 NMAE；R² 是本项目补充诊断。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80">
                <a:solidFill>
                  <a:srgbClr val="617080"/>
                </a:solidFill>
                <a:latin typeface="Noto Sans CJK SC"/>
              </a:defRPr>
            </a:pPr>
            <a:r>
              <a:t>PINN 降低压力 NMAE约18%，但没有学到足够空间结构。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80">
                <a:solidFill>
                  <a:srgbClr val="617080"/>
                </a:solidFill>
                <a:latin typeface="Noto Sans CJK SC"/>
              </a:defRPr>
            </a:pPr>
            <a:r>
              <a:t>CROWN 无 WSS 输出，不能作为 WSS baseline。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外部 baseline：PointNetCFD 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压力 sanity baseline 可用，WSS 直预测不够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14</a:t>
            </a:r>
          </a:p>
        </p:txBody>
      </p:sp>
      <p:pic>
        <p:nvPicPr>
          <p:cNvPr id="7" name="Picture 6" descr="pointnetcfd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38661"/>
            <a:ext cx="6309360" cy="312347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1417320"/>
          <a:ext cx="4023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CJK SC"/>
                        </a:rPr>
                        <a:t>实验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CJK SC"/>
                        </a:rPr>
                        <a:t>RMSE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CJK SC"/>
                        </a:rPr>
                        <a:t>p R²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CJK SC"/>
                        </a:rPr>
                        <a:t>判读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original_vp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0.8477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0.8970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速度 R²&lt;0.1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wall_vp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0.7390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0.8910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w R² 0.471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geom_vp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0.6896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0.9025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VP sanity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geom_pwss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0.7524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0.9141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81C"/>
                          </a:solidFill>
                          <a:latin typeface="Noto Sans CJK SC"/>
                        </a:rPr>
                        <a:t>wss_x/y≈0.02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60920" y="4160520"/>
            <a:ext cx="3703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617080"/>
                </a:solidFill>
                <a:latin typeface="Noto Sans CJK SC"/>
              </a:defRPr>
            </a:pPr>
            <a:r>
              <a:t>加 wall/几何能显著改善速度，说明输入信息是关键缺口。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617080"/>
                </a:solidFill>
                <a:latin typeface="Noto Sans CJK SC"/>
              </a:defRPr>
            </a:pPr>
            <a:r>
              <a:t>但 WSS 直预测的横向分量仍接近 0。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定性可视化：merged-1146 同相位对照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GUO / ZHANG / CHEN · 收缩期上升段 · 仅作定性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15</a:t>
            </a:r>
          </a:p>
        </p:txBody>
      </p:sp>
      <p:pic>
        <p:nvPicPr>
          <p:cNvPr id="7" name="Picture 6" descr="fig_p_tripty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6960"/>
            <a:ext cx="5120640" cy="16923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097280"/>
            <a:ext cx="256032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80" b="1">
                <a:solidFill>
                  <a:srgbClr val="163049"/>
                </a:solidFill>
                <a:latin typeface="Noto Sans CJK SC"/>
              </a:rPr>
              <a:t>V3P p</a:t>
            </a:r>
          </a:p>
        </p:txBody>
      </p:sp>
      <p:pic>
        <p:nvPicPr>
          <p:cNvPr id="9" name="Picture 8" descr="fig_wss_tripty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04393"/>
            <a:ext cx="5120640" cy="17174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1097280"/>
            <a:ext cx="256032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80" b="1">
                <a:solidFill>
                  <a:srgbClr val="163049"/>
                </a:solidFill>
                <a:latin typeface="Noto Sans CJK SC"/>
              </a:rPr>
              <a:t>V3P WSS</a:t>
            </a:r>
          </a:p>
        </p:txBody>
      </p:sp>
      <p:pic>
        <p:nvPicPr>
          <p:cNvPr id="11" name="Picture 10" descr="fig_p_tripty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85840"/>
            <a:ext cx="5120640" cy="16923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3566160"/>
            <a:ext cx="256032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80" b="1">
                <a:solidFill>
                  <a:srgbClr val="163049"/>
                </a:solidFill>
                <a:latin typeface="Noto Sans CJK SC"/>
              </a:rPr>
              <a:t>CROWN PINN p</a:t>
            </a:r>
          </a:p>
        </p:txBody>
      </p:sp>
      <p:pic>
        <p:nvPicPr>
          <p:cNvPr id="13" name="Picture 12" descr="fig_vel_mag_tripty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886678"/>
            <a:ext cx="5120640" cy="16906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3566160"/>
            <a:ext cx="256032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80" b="1">
                <a:solidFill>
                  <a:srgbClr val="163049"/>
                </a:solidFill>
                <a:latin typeface="Noto Sans CJK SC"/>
              </a:rPr>
              <a:t>CROWN PINN |v|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24128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617080"/>
                </a:solidFill>
                <a:latin typeface="Noto Sans CJK SC"/>
              </a:rPr>
              <a:t>注：单帧壁面点对照不同于 CROWN paper_full 全点指标；V3P 与 CROWN 不做 WSS 同榜排名。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瓶颈判断：表示 / 信息 / 数据三重约束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平台期不是超参问题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16</a:t>
            </a:r>
          </a:p>
        </p:txBody>
      </p:sp>
      <p:pic>
        <p:nvPicPr>
          <p:cNvPr id="7" name="Picture 6" descr="bottleneck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2833"/>
            <a:ext cx="5897880" cy="282373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86600" y="1600200"/>
          <a:ext cx="40690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360"/>
                <a:gridCol w="1356360"/>
                <a:gridCol w="135636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Noto Sans CJK SC"/>
                        </a:rPr>
                        <a:t>瓶颈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Noto Sans CJK SC"/>
                        </a:rPr>
                        <a:t>证据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Noto Sans CJK SC"/>
                        </a:rPr>
                        <a:t>含义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表示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WSS=近壁微分算子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direct head 难学横向剪切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局部 kNN / 手工 concat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上游与分支条件不足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数据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AG-only 图内扩池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4181C"/>
                          </a:solidFill>
                          <a:latin typeface="Noto Sans CJK SC"/>
                        </a:rPr>
                        <a:t>J4/J5 未破平台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9480" y="4023360"/>
            <a:ext cx="3611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14181C"/>
                </a:solidFill>
                <a:latin typeface="Noto Sans CJK SC"/>
              </a:defRPr>
            </a:pPr>
            <a:r>
              <a:t>旧方向的 No-Go 不是坏消息，而是把后续投入从“继续微调”收束到“换假设”。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00">
                <a:solidFill>
                  <a:srgbClr val="14181C"/>
                </a:solidFill>
                <a:latin typeface="Noto Sans CJK SC"/>
              </a:defRPr>
            </a:pPr>
            <a:r>
              <a:t>新方向必须有 0 重训 oracle 和 L3 不退化门禁。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分轨结论：M-N vs M-E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论文/叙事可收口；工程替代 CFD 未达标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63040"/>
          <a:ext cx="105613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3520440"/>
                <a:gridCol w="352044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SC"/>
                        </a:rPr>
                        <a:t>轨道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SC"/>
                        </a:rPr>
                        <a:t>证据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SC"/>
                        </a:rPr>
                        <a:t>结论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81C"/>
                          </a:solidFill>
                          <a:latin typeface="Noto Sans CJK SC"/>
                        </a:rPr>
                        <a:t>M-N 论文/方法叙事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81C"/>
                          </a:solidFill>
                          <a:latin typeface="Noto Sans CJK SC"/>
                        </a:rPr>
                        <a:t>压力可用；病例级 Pa p95 Spearman 0.559；G5 区域 surrogate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81C"/>
                          </a:solidFill>
                          <a:latin typeface="Noto Sans CJK SC"/>
                        </a:rPr>
                        <a:t>可阶段性收口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81C"/>
                          </a:solidFill>
                          <a:latin typeface="Noto Sans CJK SC"/>
                        </a:rPr>
                        <a:t>M-E 工程替代 CFD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81C"/>
                          </a:solidFill>
                          <a:latin typeface="Noto Sans CJK SC"/>
                        </a:rPr>
                        <a:t>WSS R²≈0.43，距 0.85 差约 0.42；CHEN/L3 仍弱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81C"/>
                          </a:solidFill>
                          <a:latin typeface="Noto Sans CJK SC"/>
                        </a:rPr>
                        <a:t>不可宣称可用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81C"/>
                          </a:solidFill>
                          <a:latin typeface="Noto Sans CJK SC"/>
                        </a:rPr>
                        <a:t>共同要求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81C"/>
                          </a:solidFill>
                          <a:latin typeface="Noto Sans CJK SC"/>
                        </a:rPr>
                        <a:t>继续报告 best_wss、L3、横向/hotspot 与压力不退化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81C"/>
                          </a:solidFill>
                          <a:latin typeface="Noto Sans CJK SC"/>
                        </a:rPr>
                        <a:t>防止单指标误判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4160520"/>
            <a:ext cx="2560320" cy="1097280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297680"/>
            <a:ext cx="223113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M-N 可述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572000"/>
            <a:ext cx="223113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5845B"/>
                </a:solidFill>
                <a:latin typeface="Noto Sans CJK SC"/>
              </a:rPr>
              <a:t>0.559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001768"/>
            <a:ext cx="223113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Pa p95 Spearman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4160520"/>
            <a:ext cx="2560320" cy="1097280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0791" y="4297680"/>
            <a:ext cx="223113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M-E 当前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1" y="4572000"/>
            <a:ext cx="223113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CA6826"/>
                </a:solidFill>
                <a:latin typeface="Noto Sans CJK SC"/>
              </a:rPr>
              <a:t>0.429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1" y="5001768"/>
            <a:ext cx="223113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I6-diag WSS R²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160520"/>
            <a:ext cx="2560320" cy="1097280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4297680"/>
            <a:ext cx="223113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工程缺口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4572000"/>
            <a:ext cx="223113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AF3636"/>
                </a:solidFill>
                <a:latin typeface="Noto Sans CJK SC"/>
              </a:rPr>
              <a:t>~0.42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5001768"/>
            <a:ext cx="223113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0.85 - 0.43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下一步前沿方向（规划层 / 未跑实验）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只保留能改变旧范式隐含假设的方向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18</a:t>
            </a:r>
          </a:p>
        </p:txBody>
      </p:sp>
      <p:pic>
        <p:nvPicPr>
          <p:cNvPr id="7" name="Picture 6" descr="nex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15" y="1234440"/>
            <a:ext cx="10713368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AF3636"/>
                </a:solidFill>
                <a:latin typeface="Noto Sans CJK SC"/>
              </a:rPr>
              <a:t>不建议重跑：AsymW 微调、手工 branch concat、有限差分 vel_diff、盲目扩池、CROWN paper-original。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总结：三句话版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给导师组会的决策锚点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24612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554480"/>
            <a:ext cx="291693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1. 压力场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828800"/>
            <a:ext cx="291693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5845B"/>
                </a:solidFill>
                <a:latin typeface="Noto Sans CJK SC"/>
              </a:rPr>
              <a:t>可学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58568"/>
            <a:ext cx="291693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V3P p R² 0.93–0.96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24612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554480"/>
            <a:ext cx="291693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2. WSS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291693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CA6826"/>
                </a:solidFill>
                <a:latin typeface="Noto Sans CJK SC"/>
              </a:rPr>
              <a:t>平台期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258568"/>
            <a:ext cx="291693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0.42–0.45，未过 0.459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24612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54480"/>
            <a:ext cx="2916936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17080"/>
                </a:solidFill>
                <a:latin typeface="Noto Sans CJK SC"/>
              </a:rPr>
              <a:t>3. 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28800"/>
            <a:ext cx="2916936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C6191"/>
                </a:solidFill>
                <a:latin typeface="Noto Sans CJK SC"/>
              </a:rPr>
              <a:t>换范式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258568"/>
            <a:ext cx="291693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19" b="0">
                <a:solidFill>
                  <a:srgbClr val="617080"/>
                </a:solidFill>
                <a:latin typeface="Noto Sans CJK SC"/>
              </a:rPr>
              <a:t>可微 WSS / UQ /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3375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4181C"/>
                </a:solidFill>
                <a:latin typeface="Noto Sans CJK SC"/>
              </a:defRPr>
            </a:pPr>
            <a:r>
              <a:t>已完成 V1→V2→V3P 的路线演进，并用外部 baseline 验证输入信息与 inductive bias 的边界。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4181C"/>
                </a:solidFill>
                <a:latin typeface="Noto Sans CJK SC"/>
              </a:defRPr>
            </a:pPr>
            <a:r>
              <a:t>平台期判断有多条独立证据支撑：loss、表示、数据扩池、branch 特征与 PINN baseline 均没有稳定突破。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4181C"/>
                </a:solidFill>
                <a:latin typeface="Noto Sans CJK SC"/>
              </a:defRPr>
            </a:pPr>
            <a:r>
              <a:t>M-N 可以围绕压力与病例级 surrogate 叙事；M-E 必须进入可微 WSS、长程 processor 和主动选数闭环。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6868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3049"/>
                </a:solidFill>
                <a:latin typeface="Noto Sans CJK SC"/>
              </a:rPr>
              <a:t>备份：实验规模与证据索引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601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17080"/>
                </a:solidFill>
                <a:latin typeface="Noto Sans CJK SC"/>
              </a:rPr>
              <a:t>数字来自 xlsx / experiment_index.csv / 跟踪日志 / baseline 记录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960120" cy="54864"/>
          </a:xfrm>
          <a:prstGeom prst="rect">
            <a:avLst/>
          </a:prstGeom>
          <a:solidFill>
            <a:srgbClr val="CA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A0AAB5"/>
                </a:solidFill>
                <a:latin typeface="Noto Sans CJK SC"/>
              </a:rPr>
              <a:t>任务A · V3P平台期与下一步 · split_AG_v1 / best_wss口径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850" b="0">
                <a:solidFill>
                  <a:srgbClr val="A0AAB5"/>
                </a:solidFill>
                <a:latin typeface="Noto Sans CJK SC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984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</a:rPr>
                        <a:t>材料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</a:rPr>
                        <a:t>路径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</a:rPr>
                        <a:t>用途/规模</a:t>
                      </a:r>
                    </a:p>
                  </a:txBody>
                  <a:tcPr>
                    <a:solidFill>
                      <a:srgbClr val="2C6191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field run 汇总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outputs/field/experiment_index.csv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169 条 run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实验记录表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docs/00-规范与记录/实验记录表.xlsx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160+ 行，2026-07-04 零缺口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V3P 日志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V3_实验执行跟踪日志.md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顶部平台期/J/K/M-E 记录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CROWN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CROWN_非PINN与PINN复现汇报_合并.md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5751/5774, 5757/5806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PointNetCFD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docs/paper_reproduction/papers/pointnetcfd/梳理记录.md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四组矩阵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4376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下一步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WSS精度突破的前沿方向与见解_2026-07-04.md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181C"/>
                          </a:solidFill>
                          <a:latin typeface="Noto Sans CJK SC"/>
                        </a:rPr>
                        <a:t>规划层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892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617080"/>
                </a:solidFill>
                <a:latin typeface="Noto Sans CJK SC"/>
              </a:defRPr>
            </a:pPr>
            <a:r>
              <a:t>Q&amp;A 中若被问到某个 Job，可回到备份页说明：主表只讲 V3P 口径，外部 baseline 分表，规划方向不混作实验结论。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